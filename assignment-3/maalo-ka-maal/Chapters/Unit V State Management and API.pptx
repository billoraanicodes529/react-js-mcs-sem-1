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71" r:id="rId4"/>
    <p:sldId id="269" r:id="rId5"/>
    <p:sldId id="270" r:id="rId6"/>
    <p:sldId id="268" r:id="rId7"/>
    <p:sldId id="267" r:id="rId8"/>
    <p:sldId id="266" r:id="rId9"/>
    <p:sldId id="265" r:id="rId10"/>
    <p:sldId id="264" r:id="rId11"/>
    <p:sldId id="263" r:id="rId12"/>
    <p:sldId id="262" r:id="rId13"/>
    <p:sldId id="261" r:id="rId14"/>
    <p:sldId id="260" r:id="rId15"/>
    <p:sldId id="258" r:id="rId16"/>
    <p:sldId id="274" r:id="rId17"/>
    <p:sldId id="273" r:id="rId18"/>
    <p:sldId id="272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123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856DA-9806-46DF-8151-3748A37C5E1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D84B0-D88A-4278-A157-F35C61405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298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856DA-9806-46DF-8151-3748A37C5E1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D84B0-D88A-4278-A157-F35C61405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99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856DA-9806-46DF-8151-3748A37C5E1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D84B0-D88A-4278-A157-F35C61405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666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856DA-9806-46DF-8151-3748A37C5E1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D84B0-D88A-4278-A157-F35C61405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927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856DA-9806-46DF-8151-3748A37C5E1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D84B0-D88A-4278-A157-F35C61405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547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856DA-9806-46DF-8151-3748A37C5E1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D84B0-D88A-4278-A157-F35C61405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640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856DA-9806-46DF-8151-3748A37C5E1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D84B0-D88A-4278-A157-F35C61405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874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856DA-9806-46DF-8151-3748A37C5E1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D84B0-D88A-4278-A157-F35C61405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013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856DA-9806-46DF-8151-3748A37C5E1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D84B0-D88A-4278-A157-F35C61405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330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856DA-9806-46DF-8151-3748A37C5E1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D84B0-D88A-4278-A157-F35C61405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525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856DA-9806-46DF-8151-3748A37C5E1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D84B0-D88A-4278-A157-F35C61405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321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C856DA-9806-46DF-8151-3748A37C5E1C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FD84B0-D88A-4278-A157-F35C61405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330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Management and API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33600" y="3886200"/>
            <a:ext cx="6400800" cy="1752600"/>
          </a:xfrm>
        </p:spPr>
        <p:txBody>
          <a:bodyPr/>
          <a:lstStyle/>
          <a:p>
            <a:pPr algn="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Prof. 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Soleha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Sayyed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897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React</a:t>
            </a:r>
          </a:p>
          <a:p>
            <a:pPr>
              <a:spcAft>
                <a:spcPts val="700"/>
              </a:spcAft>
              <a:defRPr sz="20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means connecting a React application with external services or APIs.</a:t>
            </a:r>
          </a:p>
          <a:p>
            <a:pPr>
              <a:spcAft>
                <a:spcPts val="700"/>
              </a:spcAft>
              <a:defRPr sz="20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can communicate with REST APIs, databases through back-end services, authentication services and other applications.</a:t>
            </a:r>
          </a:p>
          <a:p>
            <a:pPr>
              <a:spcAft>
                <a:spcPts val="700"/>
              </a:spcAft>
              <a:defRPr sz="20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integration allows a React UI to send requests and display server data.</a:t>
            </a:r>
          </a:p>
          <a:p>
            <a:pPr marL="0" lvl="0" indent="0"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Basic flow</a:t>
            </a:r>
          </a:p>
          <a:p>
            <a:pPr marL="457200" indent="-457200">
              <a:spcAft>
                <a:spcPts val="700"/>
              </a:spcAft>
              <a:buFont typeface="+mj-lt"/>
              <a:buAutoNum type="arabicPeriod"/>
              <a:defRPr sz="20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performs an action or page loads</a:t>
            </a:r>
          </a:p>
          <a:p>
            <a:pPr marL="457200" indent="-457200">
              <a:spcAft>
                <a:spcPts val="700"/>
              </a:spcAft>
              <a:buFont typeface="+mj-lt"/>
              <a:buAutoNum type="arabicPeriod"/>
              <a:defRPr sz="2000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React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an API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request</a:t>
            </a:r>
          </a:p>
          <a:p>
            <a:pPr marL="457200" indent="-457200">
              <a:spcAft>
                <a:spcPts val="700"/>
              </a:spcAft>
              <a:buFont typeface="+mj-lt"/>
              <a:buAutoNum type="arabicPeriod"/>
              <a:defRPr sz="2000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Server processes the request</a:t>
            </a:r>
          </a:p>
          <a:p>
            <a:pPr marL="457200" indent="-457200">
              <a:spcAft>
                <a:spcPts val="700"/>
              </a:spcAft>
              <a:buFont typeface="+mj-lt"/>
              <a:buAutoNum type="arabicPeriod"/>
              <a:defRPr sz="2000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Server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a response</a:t>
            </a:r>
          </a:p>
          <a:p>
            <a:pPr marL="457200" indent="-457200">
              <a:spcAft>
                <a:spcPts val="700"/>
              </a:spcAft>
              <a:buFont typeface="+mj-lt"/>
              <a:buAutoNum type="arabicPeriod"/>
              <a:defRPr sz="2000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React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updates state and displays the data</a:t>
            </a:r>
          </a:p>
          <a:p>
            <a:pPr marL="0" indent="0">
              <a:spcAft>
                <a:spcPts val="700"/>
              </a:spcAft>
              <a:buNone/>
              <a:defRPr sz="2000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React → API → JSON response → State → UI</a:t>
            </a:r>
          </a:p>
          <a:p>
            <a:pPr marL="0" lv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004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Simple API Integration</a:t>
            </a:r>
          </a:p>
          <a:p>
            <a:pPr marL="0" indent="0">
              <a:spcAft>
                <a:spcPts val="700"/>
              </a:spcAft>
              <a:buNone/>
              <a:defRPr sz="2000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[users,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setUsers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useState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([]);</a:t>
            </a:r>
          </a:p>
          <a:p>
            <a:pPr marL="0" indent="0">
              <a:spcAft>
                <a:spcPts val="700"/>
              </a:spcAft>
              <a:buNone/>
              <a:defRPr sz="2000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useEffect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(() =&gt; {</a:t>
            </a:r>
          </a:p>
          <a:p>
            <a:pPr marL="0" indent="0">
              <a:spcAft>
                <a:spcPts val="700"/>
              </a:spcAft>
              <a:buNone/>
              <a:defRPr sz="20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fetch('https://example.com/users')</a:t>
            </a:r>
          </a:p>
          <a:p>
            <a:pPr marL="0" indent="0">
              <a:spcAft>
                <a:spcPts val="700"/>
              </a:spcAft>
              <a:buNone/>
              <a:defRPr sz="20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.then(res =&gt;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res.json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</a:t>
            </a:r>
          </a:p>
          <a:p>
            <a:pPr marL="0" indent="0">
              <a:spcAft>
                <a:spcPts val="700"/>
              </a:spcAft>
              <a:buNone/>
              <a:defRPr sz="20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.then(data =&gt;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setUsers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(data));</a:t>
            </a:r>
          </a:p>
          <a:p>
            <a:pPr marL="0" indent="0">
              <a:spcAft>
                <a:spcPts val="700"/>
              </a:spcAft>
              <a:buNone/>
              <a:defRPr sz="2000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}, []);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3508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 API in React</a:t>
            </a:r>
          </a:p>
          <a:p>
            <a:pPr marL="0" indent="0" fontAlgn="base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 API in React provides a way to share data globally across components without prop drilling. It allows creating a lightweight global state accessible by any component.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global state management without third-party libraries.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Avoids prop drilling in deeply nested components.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using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React.createContext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 for sharing themes, user info, or settings across the app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fontAlgn="base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 of Context API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 API prevents prop drilling by providing global state accessible anywhere, simplifying state management and improving performance.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Avoids passing props through multiple layers.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global variables for all components.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Boosts performance by reducing re-renders.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Easier and lighter than Redux.</a:t>
            </a:r>
          </a:p>
          <a:p>
            <a:pPr marL="0" indent="0" fontAlgn="base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3389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fontAlgn="base"/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</a:t>
            </a:r>
          </a:p>
          <a:p>
            <a:pPr fontAlgn="base"/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work with Context API we need </a:t>
            </a: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React.createContext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(). </a:t>
            </a:r>
            <a:endParaRPr lang="en-US" sz="2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two properties Provider and Consumer. </a:t>
            </a:r>
            <a:endParaRPr lang="en-US" sz="23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Provider acts as a parent it passes the state to its children whereas the Consumer uses the state that has been passed.</a:t>
            </a:r>
          </a:p>
          <a:p>
            <a:pPr fontAlgn="base"/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Provider: 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used to provide the context to components.</a:t>
            </a:r>
          </a:p>
          <a:p>
            <a:pPr fontAlgn="base"/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Consumer: 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used to consume the context value in child components.</a:t>
            </a:r>
          </a:p>
          <a:p>
            <a:pPr marL="0" indent="0">
              <a:buNone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 to Implement Context API in React</a:t>
            </a:r>
          </a:p>
          <a:p>
            <a:pPr marL="0" indent="0">
              <a:buNone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 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React application using the following command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npx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create-react-app 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context-</a:t>
            </a:r>
            <a:r>
              <a:rPr lang="en-US" sz="23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-demo</a:t>
            </a:r>
          </a:p>
          <a:p>
            <a:pPr marL="0" indent="0">
              <a:buNone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After creating your project folder(i.e. project), move to it by using the following command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cd 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context-</a:t>
            </a:r>
            <a:r>
              <a:rPr lang="en-US" sz="23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-demo</a:t>
            </a:r>
          </a:p>
          <a:p>
            <a:pPr marL="0" indent="0">
              <a:buNone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 </a:t>
            </a:r>
            <a:r>
              <a:rPr lang="en-US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will create two new files one is Context.js to create our context and another file named as WelcomePage.js for creating a component that will consume the context.</a:t>
            </a:r>
          </a:p>
        </p:txBody>
      </p:sp>
    </p:spTree>
    <p:extLst>
      <p:ext uri="{BB962C8B-B14F-4D97-AF65-F5344CB8AC3E}">
        <p14:creationId xmlns:p14="http://schemas.microsoft.com/office/powerpoint/2010/main" val="4194746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762000"/>
            <a:ext cx="2628900" cy="437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0" y="0"/>
            <a:ext cx="335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Structure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8944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685800"/>
            <a:ext cx="48006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App.js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React from 'react';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WelcomePage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'./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WelcomePage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UserProvider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'./Context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';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 = () =&gt; {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return (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UserProvider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&lt;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WelcomePage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UserProvider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);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 default App;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870466"/>
            <a:ext cx="43434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index.js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React from 'react';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ReactDOM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'react-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'./index.css';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App from './App';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ReactDOM.render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&lt;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React.StrictMode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&lt;App /&gt;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&lt;/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React.StrictMode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document.getElementById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('root')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848520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700" y="0"/>
            <a:ext cx="440690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Context.js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React, {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createContext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 from 'react';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UserContext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createContext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UserProvider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({ children }) =&gt; {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= { name: 'John Doe', id: 1 };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return (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UserContext.Provider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value={user}&gt;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{children}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&lt;/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UserContext.Provider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);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 default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UserProvider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19600" y="-12700"/>
            <a:ext cx="47244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React, {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useContext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 from 'react';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{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UserContext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 from './Context';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WelcomePage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() =&gt; {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 user } =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useContext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UserContext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return (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&lt;div&gt;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&lt;h1&gt;Welcome User:&lt;/h1&gt;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&lt;p&gt;Name: {user.name} id: {user.id}&lt;/p&gt;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&lt;/div&gt;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);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 default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WelcomePage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pic>
        <p:nvPicPr>
          <p:cNvPr id="2050" name="Picture 2" descr="Screenshot68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673" b="39394"/>
          <a:stretch/>
        </p:blipFill>
        <p:spPr bwMode="auto">
          <a:xfrm>
            <a:off x="5486400" y="5715000"/>
            <a:ext cx="2374900" cy="63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715000" y="5187890"/>
            <a:ext cx="1066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75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Context API over React Redux</a:t>
            </a:r>
          </a:p>
          <a:p>
            <a:pPr fontAlgn="base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 API is simpler, maintains one-way data flow, and allows multiple stores compared to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Redux’s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single store.</a:t>
            </a:r>
          </a:p>
          <a:p>
            <a:pPr fontAlgn="base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boilerplate and fewer files to update.</a:t>
            </a:r>
          </a:p>
          <a:p>
            <a:pPr fontAlgn="base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React’s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one-way data binding.</a:t>
            </a:r>
          </a:p>
          <a:p>
            <a:pPr fontAlgn="base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multiple contexts/stores.</a:t>
            </a:r>
          </a:p>
          <a:p>
            <a:pPr fontAlgn="base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Easier and lighter than Redux.</a:t>
            </a: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02553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 lnSpcReduction="10000"/>
          </a:bodyPr>
          <a:lstStyle/>
          <a:p>
            <a:pPr marL="0" indent="0" fontAlgn="base">
              <a:buNone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Redux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fontAlgn="base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Redux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state management library used in JavaScript applications.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all application data in a single central store, making the data flow predictable and easy to manage.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Redux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especially useful when we need to: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complex application state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 data between many components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and debug state changes easily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scalable and well-structured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marL="0" indent="0" fontAlgn="base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Principles of Redux</a:t>
            </a:r>
          </a:p>
          <a:p>
            <a:pPr fontAlgn="base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Source of Truth: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 entire application state is stored in a single store, making data consistent and easier to debug.</a:t>
            </a:r>
          </a:p>
          <a:p>
            <a:pPr fontAlgn="base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is Read-Only (Immutability):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State cannot be modified directly; instead, a new state object is created for every change.</a:t>
            </a:r>
          </a:p>
          <a:p>
            <a:pPr fontAlgn="base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Changes via Pure Functions (Reducers):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Reducers are pure functions that take the previous state and an action, then return a new updated state.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38634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fontAlgn="base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Parts of redux  </a:t>
            </a:r>
          </a:p>
          <a:p>
            <a:pPr fontAlgn="base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Redux is built using core components like the store, actions, and reducers, which work together to manage and update application state in a predictable way.</a:t>
            </a:r>
          </a:p>
          <a:p>
            <a:pPr marL="0" indent="0">
              <a:buNone/>
            </a:pP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222500"/>
            <a:ext cx="6096000" cy="2425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020983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Fetch API and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Axios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Fetch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Axios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are commonly used in web applications to make HTTP requests from the frontend to the backend.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While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Fetch is built into modern browsers,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Axios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popular library known for its simplicity and extra features.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Both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handle the same tasks like sending and receiving data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fontAlgn="base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Fetch?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Fetch API is a built-in JavaScript feature available in modern browsers.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fontAlgn="base">
              <a:buFont typeface="+mj-lt"/>
              <a:buAutoNum type="arabicPeriod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simple way to make network requests using the fetch() method, which is part of the window object.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fontAlgn="base">
              <a:buFont typeface="+mj-lt"/>
              <a:buAutoNum type="arabicPeriod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returns a Promise that resolves with the response to the request.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447800" y="5473005"/>
            <a:ext cx="6400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fetch('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-to-resource') .then(response =&gt; { // Handle the response here }) .catch(error =&gt; { // Handle errors here });</a:t>
            </a:r>
          </a:p>
        </p:txBody>
      </p:sp>
    </p:spTree>
    <p:extLst>
      <p:ext uri="{BB962C8B-B14F-4D97-AF65-F5344CB8AC3E}">
        <p14:creationId xmlns:p14="http://schemas.microsoft.com/office/powerpoint/2010/main" val="4052029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fontAlgn="base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Axios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fontAlgn="base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Axios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is a third-party JavaScript library designed for making HTTP requests. It works with both Node.js and browsers.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Like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Fetch,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Axios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the Promise API introduced in ES6.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base"/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Axios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known for its simplicity and extra features, such as request/response interception, error handling, and support for cancellation.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axios.get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.then((response) =&gt; {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Code for handling the response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})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.catch((error) =&gt; {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Code for handling the error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})</a:t>
            </a:r>
          </a:p>
        </p:txBody>
      </p:sp>
    </p:spTree>
    <p:extLst>
      <p:ext uri="{BB962C8B-B14F-4D97-AF65-F5344CB8AC3E}">
        <p14:creationId xmlns:p14="http://schemas.microsoft.com/office/powerpoint/2010/main" val="12882548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 Between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Axios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Fetch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8896710"/>
              </p:ext>
            </p:extLst>
          </p:nvPr>
        </p:nvGraphicFramePr>
        <p:xfrm>
          <a:off x="0" y="365760"/>
          <a:ext cx="9144000" cy="6492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43400"/>
                <a:gridCol w="4800600"/>
              </a:tblGrid>
              <a:tr h="381000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0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Axios</a:t>
                      </a:r>
                      <a:endParaRPr lang="en-US" sz="20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95250" marB="9525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Fetch</a:t>
                      </a:r>
                    </a:p>
                  </a:txBody>
                  <a:tcPr marL="95250" marR="95250" marT="95250" marB="9525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Third-party library that needs installation.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Built-in browser API, no installation needed.</a:t>
                      </a:r>
                    </a:p>
                  </a:txBody>
                  <a:tcPr marL="95250" marR="95250" marT="133350" marB="133350" anchor="ctr"/>
                </a:tc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Request URL is included in the request/response object.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You manually define and track the URL.</a:t>
                      </a:r>
                    </a:p>
                  </a:txBody>
                  <a:tcPr marL="95250" marR="95250" marT="133350" marB="133350" anchor="ctr"/>
                </a:tc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Has built-in XSRF protection.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built-in XSRF protection.</a:t>
                      </a:r>
                    </a:p>
                  </a:txBody>
                  <a:tcPr marL="95250" marR="95250" marT="133350" marB="133350" anchor="ctr"/>
                </a:tc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 data to send and receive content.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 body for sending data.</a:t>
                      </a:r>
                    </a:p>
                  </a:txBody>
                  <a:tcPr marL="95250" marR="95250" marT="133350" marB="133350" anchor="ctr"/>
                </a:tc>
              </a:tr>
              <a:tr h="571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Sends JavaScript objects directly.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must be 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stringified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using 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JSON.stringify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().</a:t>
                      </a:r>
                    </a:p>
                  </a:txBody>
                  <a:tcPr marL="95250" marR="95250" marT="133350" marB="133350" anchor="ctr"/>
                </a:tc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Automatically parses JSON responses.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You must call .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json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 to parse the response.</a:t>
                      </a:r>
                    </a:p>
                  </a:txBody>
                  <a:tcPr marL="95250" marR="95250" marT="133350" marB="133350" anchor="ctr"/>
                </a:tc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request timeout and cancellation.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cancellation via </a:t>
                      </a:r>
                      <a:r>
                        <a:rPr lang="en-US" sz="18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AbortController</a:t>
                      </a:r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but no built-in timeout.</a:t>
                      </a:r>
                    </a:p>
                  </a:txBody>
                  <a:tcPr marL="95250" marR="95250" marT="133350" marB="133350" anchor="ctr"/>
                </a:tc>
              </a:tr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Built-in support for download/upload progress.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built-in progress support.</a:t>
                      </a:r>
                    </a:p>
                  </a:txBody>
                  <a:tcPr marL="95250" marR="95250" marT="133350" marB="133350" anchor="ctr"/>
                </a:tc>
              </a:tr>
              <a:tr h="7239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Widely supported in all browsers.</a:t>
                      </a:r>
                    </a:p>
                  </a:txBody>
                  <a:tcPr marL="95250" marR="95250" marT="133350" marB="13335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Supported in modern browsers only (Chrome 42+, Firefox 39+, Edge 14+, Safari 10.1+).</a:t>
                      </a:r>
                    </a:p>
                  </a:txBody>
                  <a:tcPr marL="95250" marR="95250" marT="133350" marB="13335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3034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Asynchronous data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Asynchronous data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data that takes some time to arrive, usually from an API, database, or server.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React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commonly handle asynchronous operations using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useEffect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useState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APIs such as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Fetch API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Axios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Why is asynchronous data needed?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Fetching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details from a server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Loading products from an online store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Getting weather information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Sending form data to a server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Reading data from a database through an API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flow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553200" y="3451265"/>
            <a:ext cx="21336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Component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API Request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Waiting...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 Response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Data in State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Re-render Component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600200" y="5562600"/>
            <a:ext cx="3733800" cy="381000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78872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4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sz="4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React, { 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useState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useEffect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 from "react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";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App() {</a:t>
            </a:r>
          </a:p>
          <a:p>
            <a:pPr marL="0" indent="0">
              <a:buNone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[users, 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setUsers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useState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([]);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useEffect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(() =&gt; {</a:t>
            </a:r>
          </a:p>
          <a:p>
            <a:pPr marL="0" indent="0">
              <a:buNone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fetch("https://jsonplaceholder.typicode.com/users")</a:t>
            </a:r>
          </a:p>
          <a:p>
            <a:pPr marL="0" indent="0">
              <a:buNone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.then(response =&gt; 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response.json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</a:t>
            </a:r>
          </a:p>
          <a:p>
            <a:pPr marL="0" indent="0">
              <a:buNone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.then(data =&gt; {</a:t>
            </a:r>
          </a:p>
          <a:p>
            <a:pPr marL="0" indent="0">
              <a:buNone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setUsers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(data);</a:t>
            </a:r>
          </a:p>
          <a:p>
            <a:pPr marL="0" indent="0">
              <a:buNone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});</a:t>
            </a:r>
          </a:p>
          <a:p>
            <a:pPr marL="0" indent="0">
              <a:buNone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}, 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[]);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return (</a:t>
            </a:r>
          </a:p>
          <a:p>
            <a:pPr marL="0" indent="0">
              <a:buNone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&lt;div&gt;</a:t>
            </a:r>
          </a:p>
          <a:p>
            <a:pPr marL="0" indent="0">
              <a:buNone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&lt;h2&gt;User List&lt;/h2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{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users.map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(user =&gt; (</a:t>
            </a:r>
          </a:p>
          <a:p>
            <a:pPr marL="0" indent="0">
              <a:buNone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&lt;p key={user.id}&gt;{user.name}&lt;/p&gt;</a:t>
            </a:r>
          </a:p>
          <a:p>
            <a:pPr marL="0" indent="0">
              <a:buNone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))}</a:t>
            </a:r>
          </a:p>
          <a:p>
            <a:pPr marL="0" indent="0">
              <a:buNone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&lt;/div&gt;</a:t>
            </a:r>
          </a:p>
          <a:p>
            <a:pPr marL="0" indent="0">
              <a:buNone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);</a:t>
            </a:r>
          </a:p>
          <a:p>
            <a:pPr marL="0" indent="0">
              <a:buNone/>
            </a:pP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 default App;</a:t>
            </a: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49447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Error using React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useState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useEffect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Hooks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error states in React ensures a smooth user experience during data fetching and asynchronous operations.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manage unexpected errors in applications.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application stability and reliability.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smooth user experience during failures.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graceful handling of asynchronous operations.</a:t>
            </a:r>
          </a:p>
          <a:p>
            <a:pPr marL="0" indent="0" fontAlgn="base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States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states occur when unexpected issues arise in an application, often during asynchronous operations like data fetching, due to network failures, server errors, or invalid data.</a:t>
            </a:r>
          </a:p>
          <a:p>
            <a:pPr marL="0" indent="0" fontAlgn="base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 to handle Error States</a:t>
            </a:r>
          </a:p>
          <a:p>
            <a:pPr fontAlgn="base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use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useState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useEffect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import it from the react library at the top of your component file: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React, {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useState,useEffect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 from 'react';</a:t>
            </a:r>
          </a:p>
        </p:txBody>
      </p:sp>
    </p:spTree>
    <p:extLst>
      <p:ext uri="{BB962C8B-B14F-4D97-AF65-F5344CB8AC3E}">
        <p14:creationId xmlns:p14="http://schemas.microsoft.com/office/powerpoint/2010/main" val="39016881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useState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Hook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</a:p>
          <a:p>
            <a:pPr marL="0" indent="0" fontAlgn="base"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[error,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setError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useState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(null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 fontAlgn="base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useEffect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hook syntax accepts two arguments where the second argument is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optional</a:t>
            </a:r>
          </a:p>
          <a:p>
            <a:pPr marL="0" indent="0" fontAlgn="base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useEffect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Hook Syntax</a:t>
            </a:r>
          </a:p>
          <a:p>
            <a:pPr marL="0" indent="0" fontAlgn="base"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useEffect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(&lt;FUNCTION&gt;, &lt;DEPENDECY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&gt;)</a:t>
            </a:r>
          </a:p>
          <a:p>
            <a:pPr fontAlgn="base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contains the code to be executed when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useEffect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triggers.</a:t>
            </a:r>
          </a:p>
          <a:p>
            <a:pPr fontAlgn="base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DEPENDENCY: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an optional parameter,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useEffect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triggers when the given dependency is changed.</a:t>
            </a:r>
          </a:p>
          <a:p>
            <a:pPr marL="0" indent="0" fontAlgn="base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551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526</TotalTime>
  <Words>1198</Words>
  <Application>Microsoft Office PowerPoint</Application>
  <PresentationFormat>On-screen Show (4:3)</PresentationFormat>
  <Paragraphs>230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State Management and API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State Management and API</dc:title>
  <dc:creator>pc121</dc:creator>
  <cp:lastModifiedBy>pc121</cp:lastModifiedBy>
  <cp:revision>39</cp:revision>
  <dcterms:created xsi:type="dcterms:W3CDTF">2026-09-08T05:23:55Z</dcterms:created>
  <dcterms:modified xsi:type="dcterms:W3CDTF">2026-09-21T09:08:12Z</dcterms:modified>
</cp:coreProperties>
</file>