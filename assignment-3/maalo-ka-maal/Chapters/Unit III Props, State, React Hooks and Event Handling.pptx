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7" r:id="rId3"/>
    <p:sldId id="257" r:id="rId4"/>
    <p:sldId id="258" r:id="rId5"/>
    <p:sldId id="259" r:id="rId6"/>
    <p:sldId id="260" r:id="rId7"/>
    <p:sldId id="261" r:id="rId8"/>
    <p:sldId id="262" r:id="rId9"/>
    <p:sldId id="278" r:id="rId10"/>
    <p:sldId id="279" r:id="rId11"/>
    <p:sldId id="283" r:id="rId12"/>
    <p:sldId id="281" r:id="rId13"/>
    <p:sldId id="280" r:id="rId14"/>
    <p:sldId id="284" r:id="rId15"/>
    <p:sldId id="275" r:id="rId16"/>
    <p:sldId id="276" r:id="rId17"/>
    <p:sldId id="285" r:id="rId18"/>
    <p:sldId id="290" r:id="rId19"/>
    <p:sldId id="289" r:id="rId20"/>
    <p:sldId id="288" r:id="rId21"/>
    <p:sldId id="287" r:id="rId22"/>
    <p:sldId id="286" r:id="rId23"/>
    <p:sldId id="291" r:id="rId24"/>
    <p:sldId id="29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342" y="17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F0FECA-DD8E-4E42-8B63-1BE4E63506EA}" type="datetimeFigureOut">
              <a:rPr lang="en-US" smtClean="0"/>
              <a:t>9/24/2026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43AE04-DA2F-48F4-92DE-F74A4378530D}" type="slidenum">
              <a:rPr lang="en-US" smtClean="0"/>
              <a:t>‹#›</a:t>
            </a:fld>
            <a:endParaRPr lang="en-US"/>
          </a:p>
        </p:txBody>
      </p:sp>
    </p:spTree>
    <p:extLst>
      <p:ext uri="{BB962C8B-B14F-4D97-AF65-F5344CB8AC3E}">
        <p14:creationId xmlns:p14="http://schemas.microsoft.com/office/powerpoint/2010/main" val="4080116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3D33851-5D01-4C0E-BB50-94280E280B8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955806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33851-5D01-4C0E-BB50-94280E280B8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09313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D33851-5D01-4C0E-BB50-94280E280B8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357790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D33851-5D01-4C0E-BB50-94280E280B86}"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50996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D33851-5D01-4C0E-BB50-94280E280B86}"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719739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D33851-5D01-4C0E-BB50-94280E280B86}"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4060517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D33851-5D01-4C0E-BB50-94280E280B86}"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942683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D33851-5D01-4C0E-BB50-94280E280B86}"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1478665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D33851-5D01-4C0E-BB50-94280E280B86}"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399412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33851-5D01-4C0E-BB50-94280E280B8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15852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33851-5D01-4C0E-BB50-94280E280B8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713937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33851-5D01-4C0E-BB50-94280E280B86}" type="datetimeFigureOut">
              <a:rPr lang="en-US" smtClean="0"/>
              <a:t>9/24/2026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786CBC-12B2-40E1-A851-3F5742D01C1A}" type="slidenum">
              <a:rPr lang="en-US" smtClean="0"/>
              <a:t>‹#›</a:t>
            </a:fld>
            <a:endParaRPr lang="en-US"/>
          </a:p>
        </p:txBody>
      </p:sp>
    </p:spTree>
    <p:extLst>
      <p:ext uri="{BB962C8B-B14F-4D97-AF65-F5344CB8AC3E}">
        <p14:creationId xmlns:p14="http://schemas.microsoft.com/office/powerpoint/2010/main" val="97651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9938" y="2215546"/>
            <a:ext cx="9144000" cy="2387600"/>
          </a:xfrm>
        </p:spPr>
        <p:txBody>
          <a:bodyPr>
            <a:normAutofit fontScale="90000"/>
          </a:bodyPr>
          <a:lstStyle/>
          <a:p>
            <a:r>
              <a:rPr lang="en-US" b="1" dirty="0">
                <a:latin typeface="Times New Roman" panose="02020603050405020304" pitchFamily="18" charset="0"/>
                <a:cs typeface="Times New Roman" panose="02020603050405020304" pitchFamily="18" charset="0"/>
              </a:rPr>
              <a:t>Props, State, React Hooks, and Event Handling</a:t>
            </a:r>
            <a:r>
              <a:rPr lang="en-US" sz="6600" b="1" dirty="0">
                <a:latin typeface="Times New Roman" panose="02020603050405020304" pitchFamily="18" charset="0"/>
                <a:cs typeface="Times New Roman" panose="02020603050405020304" pitchFamily="18" charset="0"/>
              </a:rPr>
              <a:t> </a:t>
            </a:r>
            <a:r>
              <a:rPr lang="en-US" sz="6600" dirty="0">
                <a:latin typeface="Times New Roman" panose="02020603050405020304" pitchFamily="18" charset="0"/>
                <a:cs typeface="Times New Roman" panose="02020603050405020304" pitchFamily="18" charset="0"/>
              </a:rPr>
              <a:t>	</a:t>
            </a:r>
            <a:br>
              <a:rPr lang="en-US" sz="6600" dirty="0">
                <a:latin typeface="Times New Roman" panose="02020603050405020304" pitchFamily="18" charset="0"/>
                <a:cs typeface="Times New Roman" panose="02020603050405020304" pitchFamily="18" charset="0"/>
              </a:rPr>
            </a:br>
            <a:endParaRPr lang="en-US" sz="6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401771" y="4006468"/>
            <a:ext cx="9144000" cy="1655762"/>
          </a:xfrm>
        </p:spPr>
        <p:txBody>
          <a:bodyPr/>
          <a:lstStyle/>
          <a:p>
            <a:r>
              <a:rPr lang="en-US" b="1" dirty="0">
                <a:latin typeface="Times New Roman" panose="02020603050405020304" pitchFamily="18" charset="0"/>
                <a:cs typeface="Times New Roman" panose="02020603050405020304" pitchFamily="18" charset="0"/>
              </a:rPr>
              <a:t>                                                                  By Prof. Soleha. A. Sayyed</a:t>
            </a:r>
          </a:p>
        </p:txBody>
      </p:sp>
    </p:spTree>
    <p:extLst>
      <p:ext uri="{BB962C8B-B14F-4D97-AF65-F5344CB8AC3E}">
        <p14:creationId xmlns:p14="http://schemas.microsoft.com/office/powerpoint/2010/main" val="188462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71CAB9C-7D4B-EAA3-1310-90A0E462894C}"/>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EC83C96-1679-9B1F-C248-195B07DF3D3A}"/>
              </a:ext>
            </a:extLst>
          </p:cNvPr>
          <p:cNvSpPr>
            <a:spLocks noGrp="1"/>
          </p:cNvSpPr>
          <p:nvPr>
            <p:ph idx="1"/>
          </p:nvPr>
        </p:nvSpPr>
        <p:spPr>
          <a:xfrm>
            <a:off x="0" y="0"/>
            <a:ext cx="12192000" cy="68580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Props in React</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In React, props (short form for "properties") are used to pass information from one component to another. </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The main purpose of props is to allow a parent component to send data to its child components.</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Props cannot be modified by the receiving component.</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They are strictly for reading data and should not be altered.</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Props can be updated when the parent component’s state changes.</a:t>
            </a:r>
          </a:p>
          <a:p>
            <a:pPr marL="0" indent="0" fontAlgn="base">
              <a:buNone/>
            </a:pPr>
            <a:r>
              <a:rPr lang="en-US" sz="2400" b="1"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import React from 'react';</a:t>
            </a:r>
          </a:p>
          <a:p>
            <a:pPr marL="0" indent="0">
              <a:buNone/>
            </a:pPr>
            <a:r>
              <a:rPr lang="en-US" sz="2400" dirty="0">
                <a:latin typeface="Times New Roman" panose="02020603050405020304" pitchFamily="18" charset="0"/>
                <a:cs typeface="Times New Roman" panose="02020603050405020304" pitchFamily="18" charset="0"/>
              </a:rPr>
              <a:t>function Greet(props) {</a:t>
            </a:r>
          </a:p>
          <a:p>
            <a:pPr marL="0" indent="0">
              <a:buNone/>
            </a:pPr>
            <a:r>
              <a:rPr lang="en-US" sz="2400" dirty="0">
                <a:latin typeface="Times New Roman" panose="02020603050405020304" pitchFamily="18" charset="0"/>
                <a:cs typeface="Times New Roman" panose="02020603050405020304" pitchFamily="18" charset="0"/>
              </a:rPr>
              <a:t>    return &lt;h1&gt;Hello, {props.name}!&lt;/h1&gt;;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function App() {</a:t>
            </a:r>
          </a:p>
          <a:p>
            <a:pPr marL="0" indent="0">
              <a:buNone/>
            </a:pPr>
            <a:r>
              <a:rPr lang="en-US" sz="2400" dirty="0">
                <a:latin typeface="Times New Roman" panose="02020603050405020304" pitchFamily="18" charset="0"/>
                <a:cs typeface="Times New Roman" panose="02020603050405020304" pitchFamily="18" charset="0"/>
              </a:rPr>
              <a:t>    return &lt;Greet name="John" /&gt;; }</a:t>
            </a:r>
          </a:p>
          <a:p>
            <a:pPr marL="0" indent="0">
              <a:buNone/>
            </a:pPr>
            <a:r>
              <a:rPr lang="en-US" sz="2400" dirty="0">
                <a:latin typeface="Times New Roman" panose="02020603050405020304" pitchFamily="18" charset="0"/>
                <a:cs typeface="Times New Roman" panose="02020603050405020304" pitchFamily="18" charset="0"/>
              </a:rPr>
              <a:t>export default App;</a:t>
            </a:r>
          </a:p>
        </p:txBody>
      </p:sp>
      <p:pic>
        <p:nvPicPr>
          <p:cNvPr id="4" name="Picture 3">
            <a:extLst>
              <a:ext uri="{FF2B5EF4-FFF2-40B4-BE49-F238E27FC236}">
                <a16:creationId xmlns="" xmlns:a16="http://schemas.microsoft.com/office/drawing/2014/main" id="{B79B3688-04EF-5D79-6347-C2164A05E575}"/>
              </a:ext>
            </a:extLst>
          </p:cNvPr>
          <p:cNvPicPr>
            <a:picLocks noChangeAspect="1"/>
          </p:cNvPicPr>
          <p:nvPr/>
        </p:nvPicPr>
        <p:blipFill>
          <a:blip r:embed="rId2"/>
          <a:stretch>
            <a:fillRect/>
          </a:stretch>
        </p:blipFill>
        <p:spPr>
          <a:xfrm>
            <a:off x="7854997" y="5308979"/>
            <a:ext cx="2844848" cy="1208964"/>
          </a:xfrm>
          <a:prstGeom prst="rect">
            <a:avLst/>
          </a:prstGeom>
        </p:spPr>
      </p:pic>
      <p:sp>
        <p:nvSpPr>
          <p:cNvPr id="5" name="TextBox 4">
            <a:extLst>
              <a:ext uri="{FF2B5EF4-FFF2-40B4-BE49-F238E27FC236}">
                <a16:creationId xmlns="" xmlns:a16="http://schemas.microsoft.com/office/drawing/2014/main" id="{E7C4499C-1417-02D4-8984-B1B1C0156254}"/>
              </a:ext>
            </a:extLst>
          </p:cNvPr>
          <p:cNvSpPr txBox="1"/>
          <p:nvPr/>
        </p:nvSpPr>
        <p:spPr>
          <a:xfrm>
            <a:off x="8529851" y="4968922"/>
            <a:ext cx="216999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2937983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Working of Props in React</a:t>
            </a:r>
          </a:p>
          <a:p>
            <a:pPr marL="0" indent="0">
              <a:buNone/>
            </a:pPr>
            <a:r>
              <a:rPr lang="en-US" dirty="0">
                <a:latin typeface="Times New Roman" panose="02020603050405020304" pitchFamily="18" charset="0"/>
                <a:cs typeface="Times New Roman" panose="02020603050405020304" pitchFamily="18" charset="0"/>
              </a:rPr>
              <a:t>Props in React allow data to flow from a parent component to a child component, making components dynamic and reusable.</a:t>
            </a:r>
          </a:p>
          <a:p>
            <a:pPr marL="0" indent="0" fontAlgn="base">
              <a:buNone/>
            </a:pPr>
            <a:r>
              <a:rPr lang="en-US" b="1" dirty="0">
                <a:latin typeface="Times New Roman" panose="02020603050405020304" pitchFamily="18" charset="0"/>
                <a:cs typeface="Times New Roman" panose="02020603050405020304" pitchFamily="18" charset="0"/>
              </a:rPr>
              <a:t>Steps to use Props:</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Define an attribute and its value (data).</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Pass it to the child component by using props.</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Render the props data.</a:t>
            </a:r>
          </a:p>
          <a:p>
            <a:pPr marL="0" indent="0">
              <a:buNone/>
            </a:pP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2E2F5C24-CB2F-0BDA-3A54-43163D9E26A6}"/>
              </a:ext>
            </a:extLst>
          </p:cNvPr>
          <p:cNvPicPr>
            <a:picLocks noChangeAspect="1"/>
          </p:cNvPicPr>
          <p:nvPr/>
        </p:nvPicPr>
        <p:blipFill>
          <a:blip r:embed="rId2"/>
          <a:stretch>
            <a:fillRect/>
          </a:stretch>
        </p:blipFill>
        <p:spPr>
          <a:xfrm>
            <a:off x="2131112" y="3875111"/>
            <a:ext cx="7629525" cy="2628900"/>
          </a:xfrm>
          <a:prstGeom prst="rect">
            <a:avLst/>
          </a:prstGeom>
        </p:spPr>
      </p:pic>
    </p:spTree>
    <p:extLst>
      <p:ext uri="{BB962C8B-B14F-4D97-AF65-F5344CB8AC3E}">
        <p14:creationId xmlns:p14="http://schemas.microsoft.com/office/powerpoint/2010/main" val="196065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sz="2500" b="1" dirty="0">
                <a:latin typeface="Times New Roman" panose="02020603050405020304" pitchFamily="18" charset="0"/>
                <a:cs typeface="Times New Roman" panose="02020603050405020304" pitchFamily="18" charset="0"/>
              </a:rPr>
              <a:t>Example:</a:t>
            </a:r>
          </a:p>
          <a:p>
            <a:pPr marL="0" indent="0">
              <a:buNone/>
            </a:pPr>
            <a:endParaRPr lang="en-US" sz="25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10BEEA23-86F1-F399-9EAF-419FB9408D26}"/>
              </a:ext>
            </a:extLst>
          </p:cNvPr>
          <p:cNvSpPr txBox="1"/>
          <p:nvPr/>
        </p:nvSpPr>
        <p:spPr>
          <a:xfrm>
            <a:off x="113731" y="596626"/>
            <a:ext cx="3778159"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App.js</a:t>
            </a:r>
          </a:p>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import Parent from './Parent';</a:t>
            </a:r>
          </a:p>
          <a:p>
            <a:r>
              <a:rPr lang="en-US" sz="2400" dirty="0">
                <a:latin typeface="Times New Roman" panose="02020603050405020304" pitchFamily="18" charset="0"/>
                <a:cs typeface="Times New Roman" panose="02020603050405020304" pitchFamily="18" charset="0"/>
              </a:rPr>
              <a:t>function App() {</a:t>
            </a:r>
          </a:p>
          <a:p>
            <a:r>
              <a:rPr lang="en-US" sz="2400" dirty="0">
                <a:latin typeface="Times New Roman" panose="02020603050405020304" pitchFamily="18" charset="0"/>
                <a:cs typeface="Times New Roman" panose="02020603050405020304" pitchFamily="18" charset="0"/>
              </a:rPr>
              <a:t>    return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&lt;Parent /&gt;  {/* Render the Parent component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App;</a:t>
            </a:r>
          </a:p>
        </p:txBody>
      </p:sp>
      <p:sp>
        <p:nvSpPr>
          <p:cNvPr id="11" name="TextBox 10">
            <a:extLst>
              <a:ext uri="{FF2B5EF4-FFF2-40B4-BE49-F238E27FC236}">
                <a16:creationId xmlns="" xmlns:a16="http://schemas.microsoft.com/office/drawing/2014/main" id="{98AC9094-99CE-C0F2-A5A6-6B213BB25626}"/>
              </a:ext>
            </a:extLst>
          </p:cNvPr>
          <p:cNvSpPr txBox="1"/>
          <p:nvPr/>
        </p:nvSpPr>
        <p:spPr>
          <a:xfrm>
            <a:off x="8525305" y="1150624"/>
            <a:ext cx="3084392" cy="378565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Child.js</a:t>
            </a:r>
          </a:p>
          <a:p>
            <a:r>
              <a:rPr lang="en-US" sz="2400" dirty="0">
                <a:latin typeface="Times New Roman" panose="02020603050405020304" pitchFamily="18" charset="0"/>
                <a:cs typeface="Times New Roman" panose="02020603050405020304" pitchFamily="18" charset="0"/>
              </a:rPr>
              <a:t>import React from 'react';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function Child(props) {</a:t>
            </a:r>
          </a:p>
          <a:p>
            <a:r>
              <a:rPr lang="en-US" sz="2400" dirty="0">
                <a:latin typeface="Times New Roman" panose="02020603050405020304" pitchFamily="18" charset="0"/>
                <a:cs typeface="Times New Roman" panose="02020603050405020304" pitchFamily="18" charset="0"/>
              </a:rPr>
              <a:t>    return &lt;h2&gt;Hello, {props.name}!&lt;/h2&gt;; </a:t>
            </a:r>
          </a:p>
          <a:p>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export default Child;</a:t>
            </a:r>
          </a:p>
        </p:txBody>
      </p:sp>
      <p:sp>
        <p:nvSpPr>
          <p:cNvPr id="13" name="TextBox 12">
            <a:extLst>
              <a:ext uri="{FF2B5EF4-FFF2-40B4-BE49-F238E27FC236}">
                <a16:creationId xmlns="" xmlns:a16="http://schemas.microsoft.com/office/drawing/2014/main" id="{FE2091C4-2632-50F9-F966-D9CF13A4EA5A}"/>
              </a:ext>
            </a:extLst>
          </p:cNvPr>
          <p:cNvSpPr txBox="1"/>
          <p:nvPr/>
        </p:nvSpPr>
        <p:spPr>
          <a:xfrm>
            <a:off x="3891890" y="355783"/>
            <a:ext cx="4410500" cy="563231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Parent.js</a:t>
            </a:r>
          </a:p>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import Child from './Child';</a:t>
            </a:r>
          </a:p>
          <a:p>
            <a:r>
              <a:rPr lang="en-US" sz="2400" dirty="0">
                <a:latin typeface="Times New Roman" panose="02020603050405020304" pitchFamily="18" charset="0"/>
                <a:cs typeface="Times New Roman" panose="02020603050405020304" pitchFamily="18" charset="0"/>
              </a:rPr>
              <a:t>function Parent() {</a:t>
            </a:r>
          </a:p>
          <a:p>
            <a:r>
              <a:rPr lang="en-US" sz="2400" dirty="0">
                <a:latin typeface="Times New Roman" panose="02020603050405020304" pitchFamily="18" charset="0"/>
                <a:cs typeface="Times New Roman" panose="02020603050405020304" pitchFamily="18" charset="0"/>
              </a:rPr>
              <a:t>    return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&lt;h1&gt;Welcome to the Parent Component!&lt;/h1&gt;</a:t>
            </a:r>
          </a:p>
          <a:p>
            <a:r>
              <a:rPr lang="en-US" sz="2400" dirty="0">
                <a:latin typeface="Times New Roman" panose="02020603050405020304" pitchFamily="18" charset="0"/>
                <a:cs typeface="Times New Roman" panose="02020603050405020304" pitchFamily="18" charset="0"/>
              </a:rPr>
              <a:t>            &lt;Child name="John" /&gt;  {/* Passing the 'name' prop with value "John"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Parent;</a:t>
            </a:r>
          </a:p>
        </p:txBody>
      </p:sp>
      <p:pic>
        <p:nvPicPr>
          <p:cNvPr id="16" name="Picture 15">
            <a:extLst>
              <a:ext uri="{FF2B5EF4-FFF2-40B4-BE49-F238E27FC236}">
                <a16:creationId xmlns="" xmlns:a16="http://schemas.microsoft.com/office/drawing/2014/main" id="{98841B03-FA00-1892-EB38-7CA6BD80D96C}"/>
              </a:ext>
            </a:extLst>
          </p:cNvPr>
          <p:cNvPicPr>
            <a:picLocks noChangeAspect="1"/>
          </p:cNvPicPr>
          <p:nvPr/>
        </p:nvPicPr>
        <p:blipFill>
          <a:blip r:embed="rId2"/>
          <a:stretch>
            <a:fillRect/>
          </a:stretch>
        </p:blipFill>
        <p:spPr>
          <a:xfrm>
            <a:off x="3343705" y="5988094"/>
            <a:ext cx="5181600" cy="869906"/>
          </a:xfrm>
          <a:prstGeom prst="rect">
            <a:avLst/>
          </a:prstGeom>
        </p:spPr>
      </p:pic>
    </p:spTree>
    <p:extLst>
      <p:ext uri="{BB962C8B-B14F-4D97-AF65-F5344CB8AC3E}">
        <p14:creationId xmlns:p14="http://schemas.microsoft.com/office/powerpoint/2010/main" val="318175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Passing Multiple Props</a:t>
            </a:r>
          </a:p>
          <a:p>
            <a:pPr marL="0" indent="0">
              <a:buNone/>
            </a:pPr>
            <a:r>
              <a:rPr lang="en-US" dirty="0">
                <a:latin typeface="Times New Roman" panose="02020603050405020304" pitchFamily="18" charset="0"/>
                <a:cs typeface="Times New Roman" panose="02020603050405020304" pitchFamily="18" charset="0"/>
              </a:rPr>
              <a:t>In React, a parent component can pass multiple props to a child component, where each prop may hold a different type of data such as text, numbers, arrays, or functions.</a:t>
            </a:r>
            <a:endParaRPr lang="en-US" sz="25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D73DD9DC-8152-47F3-5440-89DA20F961A4}"/>
              </a:ext>
            </a:extLst>
          </p:cNvPr>
          <p:cNvSpPr txBox="1"/>
          <p:nvPr/>
        </p:nvSpPr>
        <p:spPr>
          <a:xfrm>
            <a:off x="0" y="1841242"/>
            <a:ext cx="3930555" cy="501675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Parent from './Parent';</a:t>
            </a:r>
          </a:p>
          <a:p>
            <a:r>
              <a:rPr lang="en-US" sz="2000" dirty="0">
                <a:latin typeface="Times New Roman" panose="02020603050405020304" pitchFamily="18" charset="0"/>
                <a:cs typeface="Times New Roman" panose="02020603050405020304" pitchFamily="18" charset="0"/>
              </a:rPr>
              <a:t>function App()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appStyle</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        display: 'flex',</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justifyContent</a:t>
            </a:r>
            <a:r>
              <a:rPr lang="en-US" sz="2000" dirty="0">
                <a:latin typeface="Times New Roman" panose="02020603050405020304" pitchFamily="18" charset="0"/>
                <a:cs typeface="Times New Roman" panose="02020603050405020304" pitchFamily="18" charset="0"/>
              </a:rPr>
              <a:t>: 'center',</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alignItems</a:t>
            </a:r>
            <a:r>
              <a:rPr lang="en-US" sz="2000" dirty="0">
                <a:latin typeface="Times New Roman" panose="02020603050405020304" pitchFamily="18" charset="0"/>
                <a:cs typeface="Times New Roman" panose="02020603050405020304" pitchFamily="18" charset="0"/>
              </a:rPr>
              <a:t>: 'center',</a:t>
            </a:r>
          </a:p>
          <a:p>
            <a:r>
              <a:rPr lang="en-US" sz="2000" dirty="0">
                <a:latin typeface="Times New Roman" panose="02020603050405020304" pitchFamily="18" charset="0"/>
                <a:cs typeface="Times New Roman" panose="02020603050405020304" pitchFamily="18" charset="0"/>
              </a:rPr>
              <a:t>        height: '100vh',</a:t>
            </a:r>
          </a:p>
          <a:p>
            <a:r>
              <a:rPr lang="en-US" sz="2000" dirty="0">
                <a:latin typeface="Times New Roman" panose="02020603050405020304" pitchFamily="18" charset="0"/>
                <a:cs typeface="Times New Roman" panose="02020603050405020304" pitchFamily="18" charset="0"/>
              </a:rPr>
              <a:t>        margin: 0,</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fontFamily</a:t>
            </a:r>
            <a:r>
              <a:rPr lang="en-US" sz="2000" dirty="0">
                <a:latin typeface="Times New Roman" panose="02020603050405020304" pitchFamily="18" charset="0"/>
                <a:cs typeface="Times New Roman" panose="02020603050405020304" pitchFamily="18" charset="0"/>
              </a:rPr>
              <a:t>: 'Arial, sans-serif',};</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 style={</a:t>
            </a:r>
            <a:r>
              <a:rPr lang="en-US" sz="2000" dirty="0" err="1">
                <a:latin typeface="Times New Roman" panose="02020603050405020304" pitchFamily="18" charset="0"/>
                <a:cs typeface="Times New Roman" panose="02020603050405020304" pitchFamily="18" charset="0"/>
              </a:rPr>
              <a:t>appStyle</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            &lt;Parent /&gt;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export default App;</a:t>
            </a:r>
          </a:p>
        </p:txBody>
      </p:sp>
      <p:sp>
        <p:nvSpPr>
          <p:cNvPr id="6" name="TextBox 5">
            <a:extLst>
              <a:ext uri="{FF2B5EF4-FFF2-40B4-BE49-F238E27FC236}">
                <a16:creationId xmlns="" xmlns:a16="http://schemas.microsoft.com/office/drawing/2014/main" id="{88733161-308C-3BE5-0407-71ADA5317CA5}"/>
              </a:ext>
            </a:extLst>
          </p:cNvPr>
          <p:cNvSpPr txBox="1"/>
          <p:nvPr/>
        </p:nvSpPr>
        <p:spPr>
          <a:xfrm>
            <a:off x="4053385" y="1420265"/>
            <a:ext cx="4707344" cy="470898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Child from './Child';  </a:t>
            </a:r>
          </a:p>
          <a:p>
            <a:r>
              <a:rPr lang="en-US" sz="2000" dirty="0">
                <a:latin typeface="Times New Roman" panose="02020603050405020304" pitchFamily="18" charset="0"/>
                <a:cs typeface="Times New Roman" panose="02020603050405020304" pitchFamily="18" charset="0"/>
              </a:rPr>
              <a:t>function Parent()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parentStyle</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textAlign</a:t>
            </a:r>
            <a:r>
              <a:rPr lang="en-US" sz="2000" dirty="0">
                <a:latin typeface="Times New Roman" panose="02020603050405020304" pitchFamily="18" charset="0"/>
                <a:cs typeface="Times New Roman" panose="02020603050405020304" pitchFamily="18" charset="0"/>
              </a:rPr>
              <a:t>: 'center',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 style={</a:t>
            </a:r>
            <a:r>
              <a:rPr lang="en-US" sz="2000" dirty="0" err="1">
                <a:latin typeface="Times New Roman" panose="02020603050405020304" pitchFamily="18" charset="0"/>
                <a:cs typeface="Times New Roman" panose="02020603050405020304" pitchFamily="18" charset="0"/>
              </a:rPr>
              <a:t>parentStyle</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            &lt;h1&gt;Welcome to the Parent Component!&lt;/h1&gt;</a:t>
            </a:r>
          </a:p>
          <a:p>
            <a:r>
              <a:rPr lang="en-US" sz="2000" dirty="0">
                <a:latin typeface="Times New Roman" panose="02020603050405020304" pitchFamily="18" charset="0"/>
                <a:cs typeface="Times New Roman" panose="02020603050405020304" pitchFamily="18" charset="0"/>
              </a:rPr>
              <a:t>            &lt;Child name="John" age={25} city="New York" /&gt;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export default Parent;</a:t>
            </a:r>
          </a:p>
        </p:txBody>
      </p:sp>
      <p:sp>
        <p:nvSpPr>
          <p:cNvPr id="8" name="TextBox 7">
            <a:extLst>
              <a:ext uri="{FF2B5EF4-FFF2-40B4-BE49-F238E27FC236}">
                <a16:creationId xmlns="" xmlns:a16="http://schemas.microsoft.com/office/drawing/2014/main" id="{0728D8B4-3230-0FD2-4ACF-924C8A232271}"/>
              </a:ext>
            </a:extLst>
          </p:cNvPr>
          <p:cNvSpPr txBox="1"/>
          <p:nvPr/>
        </p:nvSpPr>
        <p:spPr>
          <a:xfrm>
            <a:off x="8476397" y="1308474"/>
            <a:ext cx="3715603" cy="563231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function Child(props)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childStyle</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marginTop</a:t>
            </a:r>
            <a:r>
              <a:rPr lang="en-US" sz="2000" dirty="0">
                <a:latin typeface="Times New Roman" panose="02020603050405020304" pitchFamily="18" charset="0"/>
                <a:cs typeface="Times New Roman" panose="02020603050405020304" pitchFamily="18" charset="0"/>
              </a:rPr>
              <a:t>: '20px',</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fontSize</a:t>
            </a:r>
            <a:r>
              <a:rPr lang="en-US" sz="2000" dirty="0">
                <a:latin typeface="Times New Roman" panose="02020603050405020304" pitchFamily="18" charset="0"/>
                <a:cs typeface="Times New Roman" panose="02020603050405020304" pitchFamily="18" charset="0"/>
              </a:rPr>
              <a:t>: '18px',</a:t>
            </a:r>
          </a:p>
          <a:p>
            <a:r>
              <a:rPr lang="en-US" sz="2000" dirty="0">
                <a:latin typeface="Times New Roman" panose="02020603050405020304" pitchFamily="18" charset="0"/>
                <a:cs typeface="Times New Roman" panose="02020603050405020304" pitchFamily="18" charset="0"/>
              </a:rPr>
              <a:t>        color: '#333',</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 style={</a:t>
            </a:r>
            <a:r>
              <a:rPr lang="en-US" sz="2000" dirty="0" err="1">
                <a:latin typeface="Times New Roman" panose="02020603050405020304" pitchFamily="18" charset="0"/>
                <a:cs typeface="Times New Roman" panose="02020603050405020304" pitchFamily="18" charset="0"/>
              </a:rPr>
              <a:t>childStyle</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            &lt;h2&gt;Hello, {props.name}!&lt;/h2&gt;</a:t>
            </a:r>
          </a:p>
          <a:p>
            <a:r>
              <a:rPr lang="en-US" sz="2000" dirty="0">
                <a:latin typeface="Times New Roman" panose="02020603050405020304" pitchFamily="18" charset="0"/>
                <a:cs typeface="Times New Roman" panose="02020603050405020304" pitchFamily="18" charset="0"/>
              </a:rPr>
              <a:t>            &lt;p&gt;You are {</a:t>
            </a:r>
            <a:r>
              <a:rPr lang="en-US" sz="2000" dirty="0" err="1">
                <a:latin typeface="Times New Roman" panose="02020603050405020304" pitchFamily="18" charset="0"/>
                <a:cs typeface="Times New Roman" panose="02020603050405020304" pitchFamily="18" charset="0"/>
              </a:rPr>
              <a:t>props.age</a:t>
            </a:r>
            <a:r>
              <a:rPr lang="en-US" sz="2000" dirty="0">
                <a:latin typeface="Times New Roman" panose="02020603050405020304" pitchFamily="18" charset="0"/>
                <a:cs typeface="Times New Roman" panose="02020603050405020304" pitchFamily="18" charset="0"/>
              </a:rPr>
              <a:t>} years old.&lt;/p&gt;</a:t>
            </a:r>
          </a:p>
          <a:p>
            <a:r>
              <a:rPr lang="en-US" sz="2000" dirty="0">
                <a:latin typeface="Times New Roman" panose="02020603050405020304" pitchFamily="18" charset="0"/>
                <a:cs typeface="Times New Roman" panose="02020603050405020304" pitchFamily="18" charset="0"/>
              </a:rPr>
              <a:t>            &lt;p&gt;You live in {</a:t>
            </a:r>
            <a:r>
              <a:rPr lang="en-US" sz="2000" dirty="0" err="1">
                <a:latin typeface="Times New Roman" panose="02020603050405020304" pitchFamily="18" charset="0"/>
                <a:cs typeface="Times New Roman" panose="02020603050405020304" pitchFamily="18" charset="0"/>
              </a:rPr>
              <a:t>props.city</a:t>
            </a:r>
            <a:r>
              <a:rPr lang="en-US" sz="2000" dirty="0">
                <a:latin typeface="Times New Roman" panose="02020603050405020304" pitchFamily="18" charset="0"/>
                <a:cs typeface="Times New Roman" panose="02020603050405020304" pitchFamily="18" charset="0"/>
              </a:rPr>
              <a:t>}.&lt;/p&gt;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export default Child;</a:t>
            </a:r>
          </a:p>
        </p:txBody>
      </p:sp>
      <p:pic>
        <p:nvPicPr>
          <p:cNvPr id="10" name="Picture 9">
            <a:extLst>
              <a:ext uri="{FF2B5EF4-FFF2-40B4-BE49-F238E27FC236}">
                <a16:creationId xmlns="" xmlns:a16="http://schemas.microsoft.com/office/drawing/2014/main" id="{781864D6-6C1D-5331-B2EE-D09367697C2E}"/>
              </a:ext>
            </a:extLst>
          </p:cNvPr>
          <p:cNvPicPr>
            <a:picLocks noChangeAspect="1"/>
          </p:cNvPicPr>
          <p:nvPr/>
        </p:nvPicPr>
        <p:blipFill>
          <a:blip r:embed="rId2"/>
          <a:stretch>
            <a:fillRect/>
          </a:stretch>
        </p:blipFill>
        <p:spPr>
          <a:xfrm>
            <a:off x="3079848" y="6129246"/>
            <a:ext cx="3930555" cy="728754"/>
          </a:xfrm>
          <a:prstGeom prst="rect">
            <a:avLst/>
          </a:prstGeom>
        </p:spPr>
      </p:pic>
    </p:spTree>
    <p:extLst>
      <p:ext uri="{BB962C8B-B14F-4D97-AF65-F5344CB8AC3E}">
        <p14:creationId xmlns:p14="http://schemas.microsoft.com/office/powerpoint/2010/main" val="436552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fontAlgn="base">
              <a:buNone/>
            </a:pPr>
            <a:r>
              <a:rPr lang="en-US" b="1" dirty="0">
                <a:latin typeface="Times New Roman" panose="02020603050405020304" pitchFamily="18" charset="0"/>
                <a:cs typeface="Times New Roman" panose="02020603050405020304" pitchFamily="18" charset="0"/>
              </a:rPr>
              <a:t>Passing Functions as Props</a:t>
            </a:r>
          </a:p>
          <a:p>
            <a:pPr marL="0" indent="0" fontAlgn="base">
              <a:buNone/>
            </a:pPr>
            <a:r>
              <a:rPr lang="en-US" dirty="0">
                <a:latin typeface="Times New Roman" panose="02020603050405020304" pitchFamily="18" charset="0"/>
                <a:cs typeface="Times New Roman" panose="02020603050405020304" pitchFamily="18" charset="0"/>
              </a:rPr>
              <a:t>Props can also be used to pass functions from a parent component to a child component, allowing the child to interact with the parent’s logic.</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143F6FF1-DF42-FE40-2FB8-D38257BAA6F6}"/>
              </a:ext>
            </a:extLst>
          </p:cNvPr>
          <p:cNvSpPr txBox="1"/>
          <p:nvPr/>
        </p:nvSpPr>
        <p:spPr>
          <a:xfrm>
            <a:off x="0" y="1841242"/>
            <a:ext cx="3930555"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Parent from './Parent';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App()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&lt;Parent /&gt;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App;</a:t>
            </a:r>
          </a:p>
        </p:txBody>
      </p:sp>
      <p:sp>
        <p:nvSpPr>
          <p:cNvPr id="6" name="TextBox 5">
            <a:extLst>
              <a:ext uri="{FF2B5EF4-FFF2-40B4-BE49-F238E27FC236}">
                <a16:creationId xmlns="" xmlns:a16="http://schemas.microsoft.com/office/drawing/2014/main" id="{956EBA3C-A860-5FE1-EE14-99DA1F099DEA}"/>
              </a:ext>
            </a:extLst>
          </p:cNvPr>
          <p:cNvSpPr txBox="1"/>
          <p:nvPr/>
        </p:nvSpPr>
        <p:spPr>
          <a:xfrm>
            <a:off x="3353933" y="1841242"/>
            <a:ext cx="4707344"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Child from './Child';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Parent()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handleClick</a:t>
            </a:r>
            <a:r>
              <a:rPr lang="en-US" sz="2000" dirty="0">
                <a:latin typeface="Times New Roman" panose="02020603050405020304" pitchFamily="18" charset="0"/>
                <a:cs typeface="Times New Roman" panose="02020603050405020304" pitchFamily="18" charset="0"/>
              </a:rPr>
              <a:t> = () =&gt; {</a:t>
            </a:r>
          </a:p>
          <a:p>
            <a:r>
              <a:rPr lang="en-US" sz="2000" dirty="0">
                <a:latin typeface="Times New Roman" panose="02020603050405020304" pitchFamily="18" charset="0"/>
                <a:cs typeface="Times New Roman" panose="02020603050405020304" pitchFamily="18" charset="0"/>
              </a:rPr>
              <a:t>        alert('Button clicked in Child!');</a:t>
            </a:r>
          </a:p>
          <a:p>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return &lt;Child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handleClick</a:t>
            </a:r>
            <a:r>
              <a:rPr lang="en-US" sz="2000" dirty="0">
                <a:latin typeface="Times New Roman" panose="02020603050405020304" pitchFamily="18" charset="0"/>
                <a:cs typeface="Times New Roman" panose="02020603050405020304" pitchFamily="18" charset="0"/>
              </a:rPr>
              <a:t>} /&gt;;</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Parent;</a:t>
            </a:r>
          </a:p>
        </p:txBody>
      </p:sp>
      <p:sp>
        <p:nvSpPr>
          <p:cNvPr id="8" name="TextBox 7">
            <a:extLst>
              <a:ext uri="{FF2B5EF4-FFF2-40B4-BE49-F238E27FC236}">
                <a16:creationId xmlns="" xmlns:a16="http://schemas.microsoft.com/office/drawing/2014/main" id="{E46F2CE9-9088-0A0C-6687-6BD10D0455C5}"/>
              </a:ext>
            </a:extLst>
          </p:cNvPr>
          <p:cNvSpPr txBox="1"/>
          <p:nvPr/>
        </p:nvSpPr>
        <p:spPr>
          <a:xfrm>
            <a:off x="8161362" y="1841242"/>
            <a:ext cx="3930553" cy="286232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Child(props) {</a:t>
            </a:r>
          </a:p>
          <a:p>
            <a:r>
              <a:rPr lang="en-US" sz="2000" dirty="0">
                <a:latin typeface="Times New Roman" panose="02020603050405020304" pitchFamily="18" charset="0"/>
                <a:cs typeface="Times New Roman" panose="02020603050405020304" pitchFamily="18" charset="0"/>
              </a:rPr>
              <a:t>    return &lt;button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props.onClick</a:t>
            </a:r>
            <a:r>
              <a:rPr lang="en-US" sz="2000" dirty="0">
                <a:latin typeface="Times New Roman" panose="02020603050405020304" pitchFamily="18" charset="0"/>
                <a:cs typeface="Times New Roman" panose="02020603050405020304" pitchFamily="18" charset="0"/>
              </a:rPr>
              <a:t>}&gt;Click Me!&lt;/button&gt;;</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Child;</a:t>
            </a:r>
          </a:p>
        </p:txBody>
      </p:sp>
    </p:spTree>
    <p:extLst>
      <p:ext uri="{BB962C8B-B14F-4D97-AF65-F5344CB8AC3E}">
        <p14:creationId xmlns:p14="http://schemas.microsoft.com/office/powerpoint/2010/main" val="453661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fontAlgn="base">
              <a:buNone/>
            </a:pPr>
            <a:r>
              <a:rPr lang="en-US" b="1" dirty="0">
                <a:latin typeface="Times New Roman" panose="02020603050405020304" pitchFamily="18" charset="0"/>
                <a:cs typeface="Times New Roman" panose="02020603050405020304" pitchFamily="18" charset="0"/>
              </a:rPr>
              <a:t>How to Set a Default Value for Props</a:t>
            </a:r>
          </a:p>
          <a:p>
            <a:pPr marL="0" indent="0" fontAlgn="base">
              <a:buNone/>
            </a:pPr>
            <a:r>
              <a:rPr lang="en-US" dirty="0">
                <a:latin typeface="Times New Roman" panose="02020603050405020304" pitchFamily="18" charset="0"/>
                <a:cs typeface="Times New Roman" panose="02020603050405020304" pitchFamily="18" charset="0"/>
              </a:rPr>
              <a:t>In React, default props are a feature that lets us set default values for props. This is useful when no value is passed for a prop, ensuring the component still works with a fallback value.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E4926BD8-D08C-4768-A475-C0F2A2CE60F9}"/>
              </a:ext>
            </a:extLst>
          </p:cNvPr>
          <p:cNvSpPr txBox="1"/>
          <p:nvPr/>
        </p:nvSpPr>
        <p:spPr>
          <a:xfrm>
            <a:off x="856394" y="1961191"/>
            <a:ext cx="4707344" cy="415498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import Greeting from './Greeting';</a:t>
            </a:r>
          </a:p>
          <a:p>
            <a:r>
              <a:rPr lang="en-US" sz="2400" dirty="0">
                <a:latin typeface="Times New Roman" panose="02020603050405020304" pitchFamily="18" charset="0"/>
                <a:cs typeface="Times New Roman" panose="02020603050405020304" pitchFamily="18" charset="0"/>
              </a:rPr>
              <a:t>function App() {</a:t>
            </a:r>
          </a:p>
          <a:p>
            <a:r>
              <a:rPr lang="en-US" sz="2400" dirty="0">
                <a:latin typeface="Times New Roman" panose="02020603050405020304" pitchFamily="18" charset="0"/>
                <a:cs typeface="Times New Roman" panose="02020603050405020304" pitchFamily="18" charset="0"/>
              </a:rPr>
              <a:t>    return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&lt;Greeting /&gt;</a:t>
            </a:r>
          </a:p>
          <a:p>
            <a:r>
              <a:rPr lang="en-US" sz="2400" dirty="0">
                <a:latin typeface="Times New Roman" panose="02020603050405020304" pitchFamily="18" charset="0"/>
                <a:cs typeface="Times New Roman" panose="02020603050405020304" pitchFamily="18" charset="0"/>
              </a:rPr>
              <a:t>            &lt;Greeting name="Alia" /&gt;</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App;</a:t>
            </a:r>
          </a:p>
        </p:txBody>
      </p:sp>
      <p:sp>
        <p:nvSpPr>
          <p:cNvPr id="6" name="TextBox 5">
            <a:extLst>
              <a:ext uri="{FF2B5EF4-FFF2-40B4-BE49-F238E27FC236}">
                <a16:creationId xmlns="" xmlns:a16="http://schemas.microsoft.com/office/drawing/2014/main" id="{B6666D93-9924-23D6-F82A-58B02FDBC358}"/>
              </a:ext>
            </a:extLst>
          </p:cNvPr>
          <p:cNvSpPr txBox="1"/>
          <p:nvPr/>
        </p:nvSpPr>
        <p:spPr>
          <a:xfrm>
            <a:off x="6248756" y="1958031"/>
            <a:ext cx="4999630"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function Greeting(props) {</a:t>
            </a:r>
          </a:p>
          <a:p>
            <a:r>
              <a:rPr lang="en-US" sz="2400" dirty="0">
                <a:latin typeface="Times New Roman" panose="02020603050405020304" pitchFamily="18" charset="0"/>
                <a:cs typeface="Times New Roman" panose="02020603050405020304" pitchFamily="18" charset="0"/>
              </a:rPr>
              <a:t>    return &lt;h1&gt;Hello, {props.name}!&lt;/h1&gt;;</a:t>
            </a:r>
          </a:p>
          <a:p>
            <a:r>
              <a:rPr lang="en-US" sz="2400" dirty="0">
                <a:latin typeface="Times New Roman" panose="02020603050405020304" pitchFamily="18" charset="0"/>
                <a:cs typeface="Times New Roman" panose="02020603050405020304" pitchFamily="18" charset="0"/>
              </a:rPr>
              <a:t>}</a:t>
            </a:r>
          </a:p>
          <a:p>
            <a:r>
              <a:rPr lang="en-US" sz="2400" dirty="0" err="1">
                <a:latin typeface="Times New Roman" panose="02020603050405020304" pitchFamily="18" charset="0"/>
                <a:cs typeface="Times New Roman" panose="02020603050405020304" pitchFamily="18" charset="0"/>
              </a:rPr>
              <a:t>Greeting.defaultProps</a:t>
            </a:r>
            <a:r>
              <a:rPr lang="en-US" sz="2400" dirty="0">
                <a:latin typeface="Times New Roman" panose="02020603050405020304" pitchFamily="18" charset="0"/>
                <a:cs typeface="Times New Roman" panose="02020603050405020304" pitchFamily="18" charset="0"/>
              </a:rPr>
              <a:t> = {</a:t>
            </a:r>
          </a:p>
          <a:p>
            <a:r>
              <a:rPr lang="en-US" sz="2400" dirty="0">
                <a:latin typeface="Times New Roman" panose="02020603050405020304" pitchFamily="18" charset="0"/>
                <a:cs typeface="Times New Roman" panose="02020603050405020304" pitchFamily="18" charset="0"/>
              </a:rPr>
              <a:t>    name: 'Guest',</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Greeting;</a:t>
            </a:r>
          </a:p>
        </p:txBody>
      </p:sp>
      <p:pic>
        <p:nvPicPr>
          <p:cNvPr id="7" name="Picture 6" descr="Capture7">
            <a:extLst>
              <a:ext uri="{FF2B5EF4-FFF2-40B4-BE49-F238E27FC236}">
                <a16:creationId xmlns="" xmlns:a16="http://schemas.microsoft.com/office/drawing/2014/main" id="{2C3F7613-85F1-2897-76CF-E808BCD0F08E}"/>
              </a:ext>
            </a:extLst>
          </p:cNvPr>
          <p:cNvPicPr>
            <a:picLocks noChangeAspect="1"/>
          </p:cNvPicPr>
          <p:nvPr/>
        </p:nvPicPr>
        <p:blipFill>
          <a:blip r:embed="rId2"/>
          <a:stretch>
            <a:fillRect/>
          </a:stretch>
        </p:blipFill>
        <p:spPr>
          <a:xfrm>
            <a:off x="4580389" y="5492288"/>
            <a:ext cx="4095750" cy="1247775"/>
          </a:xfrm>
          <a:prstGeom prst="rect">
            <a:avLst/>
          </a:prstGeom>
        </p:spPr>
      </p:pic>
    </p:spTree>
    <p:extLst>
      <p:ext uri="{BB962C8B-B14F-4D97-AF65-F5344CB8AC3E}">
        <p14:creationId xmlns:p14="http://schemas.microsoft.com/office/powerpoint/2010/main" val="2214920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AF3F263F-D271-B1A0-7369-D5EF4CCA8D4F}"/>
              </a:ext>
            </a:extLst>
          </p:cNvPr>
          <p:cNvSpPr>
            <a:spLocks noGrp="1"/>
          </p:cNvSpPr>
          <p:nvPr>
            <p:ph idx="1"/>
          </p:nvPr>
        </p:nvSpPr>
        <p:spPr>
          <a:xfrm>
            <a:off x="0" y="10473"/>
            <a:ext cx="12192000" cy="6847528"/>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Data Flow in React JS:</a:t>
            </a:r>
          </a:p>
          <a:p>
            <a:r>
              <a:rPr lang="en-US" sz="2600" dirty="0">
                <a:latin typeface="Times New Roman" panose="02020603050405020304" pitchFamily="18" charset="0"/>
                <a:cs typeface="Times New Roman" panose="02020603050405020304" pitchFamily="18" charset="0"/>
              </a:rPr>
              <a:t>React follows a unidirectional data flow, meaning that data flows in a single direction through the components. </a:t>
            </a:r>
          </a:p>
          <a:p>
            <a:r>
              <a:rPr lang="en-US" sz="2600" dirty="0">
                <a:latin typeface="Times New Roman" panose="02020603050405020304" pitchFamily="18" charset="0"/>
                <a:cs typeface="Times New Roman" panose="02020603050405020304" pitchFamily="18" charset="0"/>
              </a:rPr>
              <a:t>This helps in maintaining a predictable state and making it easier to understand how changes affect the application. </a:t>
            </a:r>
          </a:p>
          <a:p>
            <a:r>
              <a:rPr lang="en-US" sz="2600" dirty="0">
                <a:latin typeface="Times New Roman" panose="02020603050405020304" pitchFamily="18" charset="0"/>
                <a:cs typeface="Times New Roman" panose="02020603050405020304" pitchFamily="18" charset="0"/>
              </a:rPr>
              <a:t>In React, we can pass props from a parent component to a child, and with the help of a callback can also pass props from a child to a parent.</a:t>
            </a:r>
          </a:p>
          <a:p>
            <a:pPr marL="0" indent="0" fontAlgn="base">
              <a:buNone/>
            </a:pPr>
            <a:r>
              <a:rPr lang="en-US" sz="2600" b="1" dirty="0">
                <a:latin typeface="Times New Roman" panose="02020603050405020304" pitchFamily="18" charset="0"/>
                <a:cs typeface="Times New Roman" panose="02020603050405020304" pitchFamily="18" charset="0"/>
              </a:rPr>
              <a:t>1. Parent to Child:</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Data is passed from parent components to child components through props. </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The parent component owns the state, and it passes down relevant data to its child components as props</a:t>
            </a:r>
            <a:r>
              <a:rPr lang="en-US" sz="2600" b="1" dirty="0">
                <a:latin typeface="Times New Roman" panose="02020603050405020304" pitchFamily="18" charset="0"/>
                <a:cs typeface="Times New Roman" panose="02020603050405020304" pitchFamily="18" charset="0"/>
              </a:rPr>
              <a:t>.</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Props (short for "properties") in React are a mechanism for passing data from a parent component to its child component as a set of read-only attributes.</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For example: Sending the data from parent to child as "Hello, this is data from the parent to child".</a:t>
            </a:r>
          </a:p>
          <a:p>
            <a:pPr marL="0" indent="0">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00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D9F328-A7D9-519C-CE20-52F8BD8CA74B}"/>
            </a:ext>
          </a:extLst>
        </p:cNvPr>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1799958A-8415-A72A-1F83-CDFFDB2E2242}"/>
              </a:ext>
            </a:extLst>
          </p:cNvPr>
          <p:cNvSpPr>
            <a:spLocks noGrp="1"/>
          </p:cNvSpPr>
          <p:nvPr>
            <p:ph idx="1"/>
          </p:nvPr>
        </p:nvSpPr>
        <p:spPr>
          <a:xfrm>
            <a:off x="0" y="10473"/>
            <a:ext cx="12192000" cy="6847528"/>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Example:</a:t>
            </a:r>
          </a:p>
          <a:p>
            <a:pPr marL="0" indent="0">
              <a:buNone/>
            </a:pPr>
            <a:endParaRPr lang="en-US" sz="2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E0019363-96FC-BD85-D11C-FE1CFF45195D}"/>
              </a:ext>
            </a:extLst>
          </p:cNvPr>
          <p:cNvSpPr txBox="1"/>
          <p:nvPr/>
        </p:nvSpPr>
        <p:spPr>
          <a:xfrm>
            <a:off x="6096000" y="872900"/>
            <a:ext cx="5288508"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Child component</a:t>
            </a:r>
          </a:p>
          <a:p>
            <a:r>
              <a:rPr lang="en-US" sz="2400" dirty="0">
                <a:latin typeface="Times New Roman" panose="02020603050405020304" pitchFamily="18" charset="0"/>
                <a:cs typeface="Times New Roman" panose="02020603050405020304" pitchFamily="18" charset="0"/>
              </a:rPr>
              <a:t>import React from 'react';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the child is receiving the data as props</a:t>
            </a:r>
          </a:p>
          <a:p>
            <a:r>
              <a:rPr lang="en-US" sz="2400" dirty="0">
                <a:latin typeface="Times New Roman" panose="02020603050405020304" pitchFamily="18" charset="0"/>
                <a:cs typeface="Times New Roman" panose="02020603050405020304" pitchFamily="18" charset="0"/>
              </a:rPr>
              <a:t>function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(props) {</a:t>
            </a:r>
          </a:p>
          <a:p>
            <a:r>
              <a:rPr lang="en-US" sz="2400" dirty="0">
                <a:latin typeface="Times New Roman" panose="02020603050405020304" pitchFamily="18" charset="0"/>
                <a:cs typeface="Times New Roman" panose="02020603050405020304" pitchFamily="18" charset="0"/>
              </a:rPr>
              <a:t>    return &lt;p&gt;{</a:t>
            </a:r>
            <a:r>
              <a:rPr lang="en-US" sz="2400" dirty="0" err="1">
                <a:latin typeface="Times New Roman" panose="02020603050405020304" pitchFamily="18" charset="0"/>
                <a:cs typeface="Times New Roman" panose="02020603050405020304" pitchFamily="18" charset="0"/>
              </a:rPr>
              <a:t>props.data</a:t>
            </a:r>
            <a:r>
              <a:rPr lang="en-US" sz="2400" dirty="0">
                <a:latin typeface="Times New Roman" panose="02020603050405020304" pitchFamily="18" charset="0"/>
                <a:cs typeface="Times New Roman" panose="02020603050405020304" pitchFamily="18" charset="0"/>
              </a:rPr>
              <a:t>}&lt;/p&gt;;</a:t>
            </a:r>
          </a:p>
          <a:p>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export default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 xmlns:a16="http://schemas.microsoft.com/office/drawing/2014/main" id="{A655E505-A53C-9E4A-B1B2-5AE817F49599}"/>
              </a:ext>
            </a:extLst>
          </p:cNvPr>
          <p:cNvSpPr txBox="1"/>
          <p:nvPr/>
        </p:nvSpPr>
        <p:spPr>
          <a:xfrm>
            <a:off x="403746" y="845883"/>
            <a:ext cx="5288508" cy="600164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Parent component</a:t>
            </a:r>
          </a:p>
          <a:p>
            <a:r>
              <a:rPr lang="en-US" sz="2400" dirty="0">
                <a:latin typeface="Times New Roman" panose="02020603050405020304" pitchFamily="18" charset="0"/>
                <a:cs typeface="Times New Roman" panose="02020603050405020304" pitchFamily="18" charset="0"/>
              </a:rPr>
              <a:t>import React, { useState } from 'react';</a:t>
            </a:r>
          </a:p>
          <a:p>
            <a:r>
              <a:rPr lang="en-US" sz="2400" dirty="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 from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function </a:t>
            </a:r>
            <a:r>
              <a:rPr lang="en-US" sz="2400" dirty="0" err="1">
                <a:latin typeface="Times New Roman" panose="02020603050405020304" pitchFamily="18" charset="0"/>
                <a:cs typeface="Times New Roman" panose="02020603050405020304" pitchFamily="18" charset="0"/>
              </a:rPr>
              <a:t>ParentComponent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const [data, </a:t>
            </a:r>
            <a:r>
              <a:rPr lang="en-US" sz="2400" dirty="0" err="1">
                <a:latin typeface="Times New Roman" panose="02020603050405020304" pitchFamily="18" charset="0"/>
                <a:cs typeface="Times New Roman" panose="02020603050405020304" pitchFamily="18" charset="0"/>
              </a:rPr>
              <a:t>setData</a:t>
            </a:r>
            <a:r>
              <a:rPr lang="en-US" sz="2400" dirty="0">
                <a:latin typeface="Times New Roman" panose="02020603050405020304" pitchFamily="18" charset="0"/>
                <a:cs typeface="Times New Roman" panose="02020603050405020304" pitchFamily="18" charset="0"/>
              </a:rPr>
              <a:t>] = useState('"Hello, this is the data from the parent to child".!');</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 passing the data to child as props</a:t>
            </a:r>
          </a:p>
          <a:p>
            <a:r>
              <a:rPr lang="en-US" sz="2400" dirty="0">
                <a:latin typeface="Times New Roman" panose="02020603050405020304" pitchFamily="18" charset="0"/>
                <a:cs typeface="Times New Roman" panose="02020603050405020304" pitchFamily="18" charset="0"/>
              </a:rPr>
              <a:t>    return &lt;</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 data={data} /&gt;;</a:t>
            </a:r>
          </a:p>
          <a:p>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export default </a:t>
            </a:r>
            <a:r>
              <a:rPr lang="en-US" sz="2400" dirty="0" err="1">
                <a:latin typeface="Times New Roman" panose="02020603050405020304" pitchFamily="18" charset="0"/>
                <a:cs typeface="Times New Roman" panose="02020603050405020304" pitchFamily="18" charset="0"/>
              </a:rPr>
              <a:t>ParentComponent</a:t>
            </a:r>
            <a:r>
              <a:rPr lang="en-US" sz="2400" dirty="0">
                <a:latin typeface="Times New Roman" panose="02020603050405020304" pitchFamily="18" charset="0"/>
                <a:cs typeface="Times New Roman" panose="02020603050405020304" pitchFamily="18" charset="0"/>
              </a:rPr>
              <a:t>;</a:t>
            </a:r>
          </a:p>
        </p:txBody>
      </p:sp>
      <p:pic>
        <p:nvPicPr>
          <p:cNvPr id="8" name="Picture 7">
            <a:extLst>
              <a:ext uri="{FF2B5EF4-FFF2-40B4-BE49-F238E27FC236}">
                <a16:creationId xmlns="" xmlns:a16="http://schemas.microsoft.com/office/drawing/2014/main" id="{8499BA87-1621-8221-75CC-56AB744AF0F2}"/>
              </a:ext>
            </a:extLst>
          </p:cNvPr>
          <p:cNvPicPr>
            <a:picLocks noChangeAspect="1"/>
          </p:cNvPicPr>
          <p:nvPr/>
        </p:nvPicPr>
        <p:blipFill>
          <a:blip r:embed="rId2"/>
          <a:stretch>
            <a:fillRect/>
          </a:stretch>
        </p:blipFill>
        <p:spPr>
          <a:xfrm>
            <a:off x="6204613" y="4397273"/>
            <a:ext cx="4659005" cy="2352675"/>
          </a:xfrm>
          <a:prstGeom prst="rect">
            <a:avLst/>
          </a:prstGeom>
        </p:spPr>
      </p:pic>
    </p:spTree>
    <p:extLst>
      <p:ext uri="{BB962C8B-B14F-4D97-AF65-F5344CB8AC3E}">
        <p14:creationId xmlns:p14="http://schemas.microsoft.com/office/powerpoint/2010/main" val="734606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25F5CCC-371F-AA4A-DBF7-4F52F70637DA}"/>
            </a:ext>
          </a:extLst>
        </p:cNvPr>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B6621EE8-E2EB-ED81-1D6E-CB517CEBBD6B}"/>
              </a:ext>
            </a:extLst>
          </p:cNvPr>
          <p:cNvSpPr>
            <a:spLocks noGrp="1"/>
          </p:cNvSpPr>
          <p:nvPr>
            <p:ph idx="1"/>
          </p:nvPr>
        </p:nvSpPr>
        <p:spPr>
          <a:xfrm>
            <a:off x="0" y="10473"/>
            <a:ext cx="12192000" cy="6847528"/>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2. Child to Parent:</a:t>
            </a:r>
          </a:p>
          <a:p>
            <a:pPr marL="514350" indent="-514350" fontAlgn="base">
              <a:buFont typeface="+mj-lt"/>
              <a:buAutoNum type="arabicPeriod"/>
            </a:pPr>
            <a:r>
              <a:rPr lang="en-US" sz="2400" dirty="0">
                <a:latin typeface="Times New Roman" panose="02020603050405020304" pitchFamily="18" charset="0"/>
                <a:cs typeface="Times New Roman" panose="02020603050405020304" pitchFamily="18" charset="0"/>
              </a:rPr>
              <a:t>To communicate from child to parent, the parent can pass down a callback function as a prop to the child. </a:t>
            </a:r>
          </a:p>
          <a:p>
            <a:pPr marL="514350" indent="-514350" fontAlgn="base">
              <a:buFont typeface="+mj-lt"/>
              <a:buAutoNum type="arabicPeriod"/>
            </a:pPr>
            <a:r>
              <a:rPr lang="en-US" sz="2400" dirty="0">
                <a:latin typeface="Times New Roman" panose="02020603050405020304" pitchFamily="18" charset="0"/>
                <a:cs typeface="Times New Roman" panose="02020603050405020304" pitchFamily="18" charset="0"/>
              </a:rPr>
              <a:t>The child can then invoke this function to send data back to the parent.</a:t>
            </a:r>
          </a:p>
          <a:p>
            <a:pPr marL="514350" indent="-514350" fontAlgn="base">
              <a:buFont typeface="+mj-lt"/>
              <a:buAutoNum type="arabicPeriod"/>
            </a:pP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Sending the data from child to parent as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Hello, this is data from the child to parent".</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F08D796A-B92C-3FB2-40FC-EE03D062E0E7}"/>
              </a:ext>
            </a:extLst>
          </p:cNvPr>
          <p:cNvSpPr txBox="1"/>
          <p:nvPr/>
        </p:nvSpPr>
        <p:spPr>
          <a:xfrm>
            <a:off x="0" y="2364462"/>
            <a:ext cx="4749421" cy="449353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Parent component</a:t>
            </a:r>
          </a:p>
          <a:p>
            <a:r>
              <a:rPr lang="en-US" sz="2200" dirty="0">
                <a:latin typeface="Times New Roman" panose="02020603050405020304" pitchFamily="18" charset="0"/>
                <a:cs typeface="Times New Roman" panose="02020603050405020304" pitchFamily="18" charset="0"/>
              </a:rPr>
              <a:t>import React, { useState } from 'react';</a:t>
            </a:r>
          </a:p>
          <a:p>
            <a:r>
              <a:rPr lang="en-US" sz="2200" dirty="0">
                <a:latin typeface="Times New Roman" panose="02020603050405020304" pitchFamily="18" charset="0"/>
                <a:cs typeface="Times New Roman" panose="02020603050405020304" pitchFamily="18" charset="0"/>
              </a:rPr>
              <a:t>import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 from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function </a:t>
            </a:r>
            <a:r>
              <a:rPr lang="en-US" sz="2200" dirty="0" err="1">
                <a:latin typeface="Times New Roman" panose="02020603050405020304" pitchFamily="18" charset="0"/>
                <a:cs typeface="Times New Roman" panose="02020603050405020304" pitchFamily="18" charset="0"/>
              </a:rPr>
              <a:t>ParentComponent</a:t>
            </a:r>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const [data, </a:t>
            </a:r>
            <a:r>
              <a:rPr lang="en-US" sz="2200" dirty="0" err="1">
                <a:latin typeface="Times New Roman" panose="02020603050405020304" pitchFamily="18" charset="0"/>
                <a:cs typeface="Times New Roman" panose="02020603050405020304" pitchFamily="18" charset="0"/>
              </a:rPr>
              <a:t>setData</a:t>
            </a:r>
            <a:r>
              <a:rPr lang="en-US" sz="2200" dirty="0">
                <a:latin typeface="Times New Roman" panose="02020603050405020304" pitchFamily="18" charset="0"/>
                <a:cs typeface="Times New Roman" panose="02020603050405020304" pitchFamily="18" charset="0"/>
              </a:rPr>
              <a:t>] = useState('"Hello, this is the data from the parent to child".!');</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 passing the data to child as props</a:t>
            </a:r>
          </a:p>
          <a:p>
            <a:r>
              <a:rPr lang="en-US" sz="2200" dirty="0">
                <a:latin typeface="Times New Roman" panose="02020603050405020304" pitchFamily="18" charset="0"/>
                <a:cs typeface="Times New Roman" panose="02020603050405020304" pitchFamily="18" charset="0"/>
              </a:rPr>
              <a:t>    return &lt;</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 data={data} /&gt;; }</a:t>
            </a:r>
          </a:p>
          <a:p>
            <a:r>
              <a:rPr lang="en-US" sz="2200" dirty="0">
                <a:latin typeface="Times New Roman" panose="02020603050405020304" pitchFamily="18" charset="0"/>
                <a:cs typeface="Times New Roman" panose="02020603050405020304" pitchFamily="18" charset="0"/>
              </a:rPr>
              <a:t>export default </a:t>
            </a:r>
            <a:r>
              <a:rPr lang="en-US" sz="2200" dirty="0" err="1">
                <a:latin typeface="Times New Roman" panose="02020603050405020304" pitchFamily="18" charset="0"/>
                <a:cs typeface="Times New Roman" panose="02020603050405020304" pitchFamily="18" charset="0"/>
              </a:rPr>
              <a:t>ParentComponent</a:t>
            </a:r>
            <a:r>
              <a:rPr lang="en-US" sz="22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 xmlns:a16="http://schemas.microsoft.com/office/drawing/2014/main" id="{BC2D09E5-F5BF-E769-B59E-416D3B480EC0}"/>
              </a:ext>
            </a:extLst>
          </p:cNvPr>
          <p:cNvSpPr txBox="1"/>
          <p:nvPr/>
        </p:nvSpPr>
        <p:spPr>
          <a:xfrm>
            <a:off x="5260060" y="2533739"/>
            <a:ext cx="4890446" cy="4154984"/>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 Child component</a:t>
            </a:r>
          </a:p>
          <a:p>
            <a:r>
              <a:rPr lang="en-US" sz="2200" dirty="0">
                <a:latin typeface="Times New Roman" panose="02020603050405020304" pitchFamily="18" charset="0"/>
                <a:cs typeface="Times New Roman" panose="02020603050405020304" pitchFamily="18" charset="0"/>
              </a:rPr>
              <a:t>import React from "react";</a:t>
            </a:r>
          </a:p>
          <a:p>
            <a:r>
              <a:rPr lang="en-US" sz="2200" dirty="0">
                <a:latin typeface="Times New Roman" panose="02020603050405020304" pitchFamily="18" charset="0"/>
                <a:cs typeface="Times New Roman" panose="02020603050405020304" pitchFamily="18" charset="0"/>
              </a:rPr>
              <a:t>function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(props) {</a:t>
            </a:r>
          </a:p>
          <a:p>
            <a:r>
              <a:rPr lang="en-US" sz="2200" dirty="0">
                <a:latin typeface="Times New Roman" panose="02020603050405020304" pitchFamily="18" charset="0"/>
                <a:cs typeface="Times New Roman" panose="02020603050405020304" pitchFamily="18" charset="0"/>
              </a:rPr>
              <a:t>    const </a:t>
            </a:r>
            <a:r>
              <a:rPr lang="en-US" sz="2200" dirty="0" err="1">
                <a:latin typeface="Times New Roman" panose="02020603050405020304" pitchFamily="18" charset="0"/>
                <a:cs typeface="Times New Roman" panose="02020603050405020304" pitchFamily="18" charset="0"/>
              </a:rPr>
              <a:t>sendData</a:t>
            </a:r>
            <a:r>
              <a:rPr lang="en-US" sz="2200" dirty="0">
                <a:latin typeface="Times New Roman" panose="02020603050405020304" pitchFamily="18" charset="0"/>
                <a:cs typeface="Times New Roman" panose="02020603050405020304" pitchFamily="18" charset="0"/>
              </a:rPr>
              <a:t> = () =&gt; {</a:t>
            </a:r>
          </a:p>
          <a:p>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props.sendDataToParent</a:t>
            </a:r>
            <a:r>
              <a:rPr lang="en-US" sz="2200" dirty="0">
                <a:latin typeface="Times New Roman" panose="02020603050405020304" pitchFamily="18" charset="0"/>
                <a:cs typeface="Times New Roman" panose="02020603050405020304" pitchFamily="18" charset="0"/>
              </a:rPr>
              <a:t>("Hello from child!");</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return &lt;button </a:t>
            </a:r>
            <a:r>
              <a:rPr lang="en-US" sz="2200" dirty="0" err="1">
                <a:latin typeface="Times New Roman" panose="02020603050405020304" pitchFamily="18" charset="0"/>
                <a:cs typeface="Times New Roman" panose="02020603050405020304" pitchFamily="18" charset="0"/>
              </a:rPr>
              <a:t>onClick</a:t>
            </a:r>
            <a:r>
              <a:rPr lang="en-US"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sendData</a:t>
            </a:r>
            <a:r>
              <a:rPr lang="en-US" sz="2200" dirty="0">
                <a:latin typeface="Times New Roman" panose="02020603050405020304" pitchFamily="18" charset="0"/>
                <a:cs typeface="Times New Roman" panose="02020603050405020304" pitchFamily="18" charset="0"/>
              </a:rPr>
              <a:t>}&gt;Send Data to Parent&lt;/button&gt;;</a:t>
            </a:r>
          </a:p>
          <a:p>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export default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a:t>
            </a:r>
          </a:p>
        </p:txBody>
      </p:sp>
      <p:pic>
        <p:nvPicPr>
          <p:cNvPr id="7" name="Picture 6" descr="50649dcd-82d7-400d-92dd-e697bbaf26a1-ezgifcom-crop">
            <a:extLst>
              <a:ext uri="{FF2B5EF4-FFF2-40B4-BE49-F238E27FC236}">
                <a16:creationId xmlns="" xmlns:a16="http://schemas.microsoft.com/office/drawing/2014/main" id="{321EB30C-9D05-6937-BCD3-B6A93F21121C}"/>
              </a:ext>
            </a:extLst>
          </p:cNvPr>
          <p:cNvPicPr>
            <a:picLocks noChangeAspect="1"/>
          </p:cNvPicPr>
          <p:nvPr/>
        </p:nvPicPr>
        <p:blipFill>
          <a:blip r:embed="rId2"/>
          <a:stretch>
            <a:fillRect/>
          </a:stretch>
        </p:blipFill>
        <p:spPr>
          <a:xfrm>
            <a:off x="9702141" y="3129746"/>
            <a:ext cx="2489859" cy="2409825"/>
          </a:xfrm>
          <a:prstGeom prst="rect">
            <a:avLst/>
          </a:prstGeom>
        </p:spPr>
      </p:pic>
    </p:spTree>
    <p:extLst>
      <p:ext uri="{BB962C8B-B14F-4D97-AF65-F5344CB8AC3E}">
        <p14:creationId xmlns:p14="http://schemas.microsoft.com/office/powerpoint/2010/main" val="2192788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498973-A9E7-042A-7F25-27697D4D7715}"/>
            </a:ext>
          </a:extLst>
        </p:cNvPr>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BCD10AA2-D85A-C49E-52B6-05295B96760A}"/>
              </a:ext>
            </a:extLst>
          </p:cNvPr>
          <p:cNvSpPr>
            <a:spLocks noGrp="1"/>
          </p:cNvSpPr>
          <p:nvPr>
            <p:ph idx="1"/>
          </p:nvPr>
        </p:nvSpPr>
        <p:spPr>
          <a:xfrm>
            <a:off x="0" y="10473"/>
            <a:ext cx="12192000" cy="6847528"/>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State and Its Management </a:t>
            </a:r>
          </a:p>
          <a:p>
            <a:pPr fontAlgn="base"/>
            <a:r>
              <a:rPr lang="en-US" sz="2400" dirty="0">
                <a:latin typeface="Times New Roman" panose="02020603050405020304" pitchFamily="18" charset="0"/>
                <a:cs typeface="Times New Roman" panose="02020603050405020304" pitchFamily="18" charset="0"/>
              </a:rPr>
              <a:t>It is the way an application stores, updates, and shares data between components so the UI stays consistent and responsive. </a:t>
            </a:r>
          </a:p>
          <a:p>
            <a:pPr fontAlgn="base"/>
            <a:r>
              <a:rPr lang="en-US" sz="2400" dirty="0">
                <a:latin typeface="Times New Roman" panose="02020603050405020304" pitchFamily="18" charset="0"/>
                <a:cs typeface="Times New Roman" panose="02020603050405020304" pitchFamily="18" charset="0"/>
              </a:rPr>
              <a:t>It helps React apps handle everything from simple form values to larger application-wide data without making the code hard to manage.</a:t>
            </a:r>
          </a:p>
          <a:p>
            <a:pPr fontAlgn="base"/>
            <a:r>
              <a:rPr lang="en-US" sz="2400" dirty="0">
                <a:latin typeface="Times New Roman" panose="02020603050405020304" pitchFamily="18" charset="0"/>
                <a:cs typeface="Times New Roman" panose="02020603050405020304" pitchFamily="18" charset="0"/>
              </a:rPr>
              <a:t>Keeps component data organized and easier to control</a:t>
            </a:r>
          </a:p>
          <a:p>
            <a:pPr fontAlgn="base"/>
            <a:r>
              <a:rPr lang="en-US" sz="2400" dirty="0">
                <a:latin typeface="Times New Roman" panose="02020603050405020304" pitchFamily="18" charset="0"/>
                <a:cs typeface="Times New Roman" panose="02020603050405020304" pitchFamily="18" charset="0"/>
              </a:rPr>
              <a:t>Makes it simpler to share values across multiple parts of the app</a:t>
            </a:r>
          </a:p>
          <a:p>
            <a:pPr fontAlgn="base"/>
            <a:r>
              <a:rPr lang="en-US" sz="2400" dirty="0">
                <a:latin typeface="Times New Roman" panose="02020603050405020304" pitchFamily="18" charset="0"/>
                <a:cs typeface="Times New Roman" panose="02020603050405020304" pitchFamily="18" charset="0"/>
              </a:rPr>
              <a:t>Helps update the UI automatically when data changes.</a:t>
            </a:r>
          </a:p>
          <a:p>
            <a:pPr marL="0" indent="0">
              <a:buNone/>
            </a:pPr>
            <a:r>
              <a:rPr lang="en-US" sz="2400" b="1" dirty="0">
                <a:latin typeface="Times New Roman" panose="02020603050405020304" pitchFamily="18" charset="0"/>
                <a:cs typeface="Times New Roman" panose="02020603050405020304" pitchFamily="18" charset="0"/>
              </a:rPr>
              <a:t>State Management Techniques</a:t>
            </a:r>
          </a:p>
          <a:p>
            <a:pPr marL="0" indent="0" fontAlgn="base">
              <a:buNone/>
            </a:pPr>
            <a:r>
              <a:rPr lang="en-US" sz="2400" b="1" dirty="0">
                <a:latin typeface="Times New Roman" panose="02020603050405020304" pitchFamily="18" charset="0"/>
                <a:cs typeface="Times New Roman" panose="02020603050405020304" pitchFamily="18" charset="0"/>
              </a:rPr>
              <a:t>1. Using Hooks</a:t>
            </a:r>
          </a:p>
          <a:p>
            <a:pPr marL="0" indent="0" fontAlgn="base">
              <a:buNone/>
            </a:pPr>
            <a:r>
              <a:rPr lang="en-US" sz="2400" dirty="0">
                <a:latin typeface="Times New Roman" panose="02020603050405020304" pitchFamily="18" charset="0"/>
                <a:cs typeface="Times New Roman" panose="02020603050405020304" pitchFamily="18" charset="0"/>
              </a:rPr>
              <a:t>React Hooks provide a built-in way to manage state in functional components. </a:t>
            </a:r>
          </a:p>
          <a:p>
            <a:pPr marL="0" indent="0" fontAlgn="base">
              <a:buNone/>
            </a:pPr>
            <a:r>
              <a:rPr lang="en-US" sz="2400" dirty="0">
                <a:latin typeface="Times New Roman" panose="02020603050405020304" pitchFamily="18" charset="0"/>
                <a:cs typeface="Times New Roman" panose="02020603050405020304" pitchFamily="18" charset="0"/>
              </a:rPr>
              <a:t>For simple state, </a:t>
            </a:r>
            <a:r>
              <a:rPr lang="en-US" sz="2400" b="1" dirty="0">
                <a:latin typeface="Times New Roman" panose="02020603050405020304" pitchFamily="18" charset="0"/>
                <a:cs typeface="Times New Roman" panose="02020603050405020304" pitchFamily="18" charset="0"/>
              </a:rPr>
              <a:t>useState</a:t>
            </a:r>
            <a:r>
              <a:rPr lang="en-US" sz="2400" dirty="0">
                <a:latin typeface="Times New Roman" panose="02020603050405020304" pitchFamily="18" charset="0"/>
                <a:cs typeface="Times New Roman" panose="02020603050405020304" pitchFamily="18" charset="0"/>
              </a:rPr>
              <a:t> is enough, while </a:t>
            </a:r>
            <a:r>
              <a:rPr lang="en-US" sz="2400" b="1" dirty="0" err="1">
                <a:latin typeface="Times New Roman" panose="02020603050405020304" pitchFamily="18" charset="0"/>
                <a:cs typeface="Times New Roman" panose="02020603050405020304" pitchFamily="18" charset="0"/>
              </a:rPr>
              <a:t>useReducer</a:t>
            </a:r>
            <a:r>
              <a:rPr lang="en-US" sz="2400" dirty="0">
                <a:latin typeface="Times New Roman" panose="02020603050405020304" pitchFamily="18" charset="0"/>
                <a:cs typeface="Times New Roman" panose="02020603050405020304" pitchFamily="18" charset="0"/>
              </a:rPr>
              <a:t> is better for more complex state logic.</a:t>
            </a:r>
          </a:p>
          <a:p>
            <a:pPr marL="0" indent="0" fontAlgn="base">
              <a:buNone/>
            </a:pPr>
            <a:r>
              <a:rPr lang="en-US" sz="2400" b="1" dirty="0">
                <a:latin typeface="Times New Roman" panose="02020603050405020304" pitchFamily="18" charset="0"/>
                <a:cs typeface="Times New Roman" panose="02020603050405020304" pitchFamily="18" charset="0"/>
              </a:rPr>
              <a:t>useState:</a:t>
            </a:r>
            <a:r>
              <a:rPr lang="en-US" sz="2400" dirty="0">
                <a:latin typeface="Times New Roman" panose="02020603050405020304" pitchFamily="18" charset="0"/>
                <a:cs typeface="Times New Roman" panose="02020603050405020304" pitchFamily="18" charset="0"/>
              </a:rPr>
              <a:t> Used for managing simple local state such as form inputs, toggles, counters, and UI updates.</a:t>
            </a:r>
          </a:p>
          <a:p>
            <a:pPr marL="0" indent="0" fontAlgn="base">
              <a:buNone/>
            </a:pPr>
            <a:r>
              <a:rPr lang="en-US" sz="2400" b="1" dirty="0" err="1">
                <a:latin typeface="Times New Roman" panose="02020603050405020304" pitchFamily="18" charset="0"/>
                <a:cs typeface="Times New Roman" panose="02020603050405020304" pitchFamily="18" charset="0"/>
              </a:rPr>
              <a:t>useReducer</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Used for complex state logic involving multiple state values, state transitions, or actions that depend on previous state.</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5045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EC61FF3-0A9D-3B1E-5B74-B00EE89E988B}"/>
            </a:ext>
          </a:extLst>
        </p:cNvPr>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2A5C82A1-3CCB-32C9-F3E1-E696A37F9ADA}"/>
              </a:ext>
            </a:extLst>
          </p:cNvPr>
          <p:cNvSpPr>
            <a:spLocks noGrp="1"/>
          </p:cNvSpPr>
          <p:nvPr>
            <p:ph idx="1"/>
          </p:nvPr>
        </p:nvSpPr>
        <p:spPr>
          <a:xfrm>
            <a:off x="0" y="10473"/>
            <a:ext cx="12192000" cy="6847528"/>
          </a:xfrm>
        </p:spPr>
        <p:txBody>
          <a:bodyPr>
            <a:normAutofit/>
          </a:bodyPr>
          <a:lstStyle/>
          <a:p>
            <a:pPr marL="0" indent="0" fontAlgn="base">
              <a:buNone/>
            </a:pPr>
            <a:r>
              <a:rPr lang="en-US" b="1" dirty="0">
                <a:latin typeface="Times New Roman" panose="02020603050405020304" pitchFamily="18" charset="0"/>
                <a:cs typeface="Times New Roman" panose="02020603050405020304" pitchFamily="18" charset="0"/>
              </a:rPr>
              <a:t>2. </a:t>
            </a:r>
            <a:r>
              <a:rPr lang="en-US" b="1" dirty="0" err="1">
                <a:latin typeface="Times New Roman" panose="02020603050405020304" pitchFamily="18" charset="0"/>
                <a:cs typeface="Times New Roman" panose="02020603050405020304" pitchFamily="18" charset="0"/>
              </a:rPr>
              <a:t>UsingContext</a:t>
            </a:r>
            <a:r>
              <a:rPr lang="en-US" b="1" dirty="0">
                <a:latin typeface="Times New Roman" panose="02020603050405020304" pitchFamily="18" charset="0"/>
                <a:cs typeface="Times New Roman" panose="02020603050405020304" pitchFamily="18" charset="0"/>
              </a:rPr>
              <a:t> API</a:t>
            </a:r>
          </a:p>
          <a:p>
            <a:pPr marL="0" indent="0" fontAlgn="base">
              <a:buNone/>
            </a:pPr>
            <a:r>
              <a:rPr lang="en-US" dirty="0">
                <a:latin typeface="Times New Roman" panose="02020603050405020304" pitchFamily="18" charset="0"/>
                <a:cs typeface="Times New Roman" panose="02020603050405020304" pitchFamily="18" charset="0"/>
              </a:rPr>
              <a:t>The Context API is a feature built into React that allows for global state management. </a:t>
            </a:r>
          </a:p>
          <a:p>
            <a:pPr marL="0" indent="0" fontAlgn="base">
              <a:buNone/>
            </a:pPr>
            <a:r>
              <a:rPr lang="en-US" dirty="0">
                <a:latin typeface="Times New Roman" panose="02020603050405020304" pitchFamily="18" charset="0"/>
                <a:cs typeface="Times New Roman" panose="02020603050405020304" pitchFamily="18" charset="0"/>
              </a:rPr>
              <a:t>It is useful when we need to share state across many components without having to pass props down through multiple levels of the component tree.</a:t>
            </a:r>
          </a:p>
          <a:p>
            <a:pPr marL="0" indent="0" fontAlgn="base">
              <a:buNone/>
            </a:pPr>
            <a:r>
              <a:rPr lang="en-US" b="1" dirty="0">
                <a:latin typeface="Times New Roman" panose="02020603050405020304" pitchFamily="18" charset="0"/>
                <a:cs typeface="Times New Roman" panose="02020603050405020304" pitchFamily="18" charset="0"/>
              </a:rPr>
              <a:t>3. Using Redux</a:t>
            </a:r>
          </a:p>
          <a:p>
            <a:pPr marL="0" indent="0" fontAlgn="base">
              <a:buNone/>
            </a:pPr>
            <a:r>
              <a:rPr lang="en-US" dirty="0">
                <a:latin typeface="Times New Roman" panose="02020603050405020304" pitchFamily="18" charset="0"/>
                <a:cs typeface="Times New Roman" panose="02020603050405020304" pitchFamily="18" charset="0"/>
              </a:rPr>
              <a:t>Redux is a state-management library used in JavaScript apps. It simply manages the state of your application, or in other words, it is used to manage the data of the application. It is used with a library like React. It makes it easier to manage state and data. As the complexity of our application increases.</a:t>
            </a:r>
          </a:p>
          <a:p>
            <a:pPr marL="0" indent="0" fontAlgn="base">
              <a:buNone/>
            </a:pPr>
            <a:r>
              <a:rPr lang="en-US" dirty="0">
                <a:latin typeface="Times New Roman" panose="02020603050405020304" pitchFamily="18" charset="0"/>
                <a:cs typeface="Times New Roman" panose="02020603050405020304" pitchFamily="18" charset="0"/>
              </a:rPr>
              <a:t>Redux works using these main concepts:</a:t>
            </a:r>
          </a:p>
          <a:p>
            <a:pPr marL="0" indent="0" fontAlgn="base">
              <a:buNone/>
            </a:pPr>
            <a:r>
              <a:rPr lang="en-US" b="1" dirty="0">
                <a:latin typeface="Times New Roman" panose="02020603050405020304" pitchFamily="18" charset="0"/>
                <a:cs typeface="Times New Roman" panose="02020603050405020304" pitchFamily="18" charset="0"/>
              </a:rPr>
              <a:t>Store</a:t>
            </a:r>
            <a:r>
              <a:rPr lang="en-US" dirty="0">
                <a:latin typeface="Times New Roman" panose="02020603050405020304" pitchFamily="18" charset="0"/>
                <a:cs typeface="Times New Roman" panose="02020603050405020304" pitchFamily="18" charset="0"/>
              </a:rPr>
              <a:t>: The central place where all the app’s state is stored.</a:t>
            </a:r>
          </a:p>
          <a:p>
            <a:pPr marL="0" indent="0" fontAlgn="base">
              <a:buNone/>
            </a:pPr>
            <a:r>
              <a:rPr lang="en-US" b="1" dirty="0">
                <a:latin typeface="Times New Roman" panose="02020603050405020304" pitchFamily="18" charset="0"/>
                <a:cs typeface="Times New Roman" panose="02020603050405020304" pitchFamily="18" charset="0"/>
              </a:rPr>
              <a:t>Actions</a:t>
            </a:r>
            <a:r>
              <a:rPr lang="en-US" dirty="0">
                <a:latin typeface="Times New Roman" panose="02020603050405020304" pitchFamily="18" charset="0"/>
                <a:cs typeface="Times New Roman" panose="02020603050405020304" pitchFamily="18" charset="0"/>
              </a:rPr>
              <a:t>: Functions that describe changes to be made to the state.</a:t>
            </a:r>
          </a:p>
          <a:p>
            <a:pPr marL="0" indent="0" fontAlgn="base">
              <a:buNone/>
            </a:pPr>
            <a:r>
              <a:rPr lang="en-US" b="1" dirty="0">
                <a:latin typeface="Times New Roman" panose="02020603050405020304" pitchFamily="18" charset="0"/>
                <a:cs typeface="Times New Roman" panose="02020603050405020304" pitchFamily="18" charset="0"/>
              </a:rPr>
              <a:t>Reducers</a:t>
            </a:r>
            <a:r>
              <a:rPr lang="en-US" dirty="0">
                <a:latin typeface="Times New Roman" panose="02020603050405020304" pitchFamily="18" charset="0"/>
                <a:cs typeface="Times New Roman" panose="02020603050405020304" pitchFamily="18" charset="0"/>
              </a:rPr>
              <a:t>: Functions that handle actions and update the state based on them</a:t>
            </a:r>
          </a:p>
          <a:p>
            <a:pPr marL="0" indent="0">
              <a:buNone/>
            </a:pPr>
            <a:endParaRPr lang="en-US" sz="2600" dirty="0">
              <a:latin typeface="Times New Roman" panose="02020603050405020304" pitchFamily="18" charset="0"/>
              <a:cs typeface="Times New Roman" panose="02020603050405020304" pitchFamily="18" charset="0"/>
            </a:endParaRPr>
          </a:p>
          <a:p>
            <a:pPr marL="0" indent="0" fontAlgn="base">
              <a:buNone/>
            </a:pPr>
            <a:endParaRPr lang="en-US" dirty="0">
              <a:latin typeface="Times New Roman" panose="02020603050405020304" pitchFamily="18" charset="0"/>
              <a:cs typeface="Times New Roman" panose="02020603050405020304" pitchFamily="18" charset="0"/>
            </a:endParaRPr>
          </a:p>
          <a:p>
            <a:pPr marL="0" indent="0">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2826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52076B9-1DB1-CBBB-5AFF-9247066889ED}"/>
            </a:ext>
          </a:extLst>
        </p:cNvPr>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F3BC145E-E242-6A47-B824-987414C8545A}"/>
              </a:ext>
            </a:extLst>
          </p:cNvPr>
          <p:cNvSpPr>
            <a:spLocks noGrp="1"/>
          </p:cNvSpPr>
          <p:nvPr>
            <p:ph idx="1"/>
          </p:nvPr>
        </p:nvSpPr>
        <p:spPr>
          <a:xfrm>
            <a:off x="0" y="10473"/>
            <a:ext cx="12192000" cy="684752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Comparison of Hooks, Context API, and Redux</a:t>
            </a:r>
          </a:p>
          <a:p>
            <a:pPr marL="0" indent="0">
              <a:buNone/>
            </a:pPr>
            <a:endParaRPr lang="en-US" sz="26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 xmlns:a16="http://schemas.microsoft.com/office/drawing/2014/main" id="{7EB4600E-92D7-9724-842C-3B147CDA17A0}"/>
              </a:ext>
            </a:extLst>
          </p:cNvPr>
          <p:cNvGraphicFramePr>
            <a:graphicFrameLocks noGrp="1"/>
          </p:cNvGraphicFramePr>
          <p:nvPr>
            <p:extLst>
              <p:ext uri="{D42A27DB-BD31-4B8C-83A1-F6EECF244321}">
                <p14:modId xmlns:p14="http://schemas.microsoft.com/office/powerpoint/2010/main" val="2475320574"/>
              </p:ext>
            </p:extLst>
          </p:nvPr>
        </p:nvGraphicFramePr>
        <p:xfrm>
          <a:off x="984913" y="640080"/>
          <a:ext cx="10222173" cy="6217920"/>
        </p:xfrm>
        <a:graphic>
          <a:graphicData uri="http://schemas.openxmlformats.org/drawingml/2006/table">
            <a:tbl>
              <a:tblPr firstRow="1" bandRow="1">
                <a:tableStyleId>{5940675A-B579-460E-94D1-54222C63F5DA}</a:tableStyleId>
              </a:tblPr>
              <a:tblGrid>
                <a:gridCol w="3330053">
                  <a:extLst>
                    <a:ext uri="{9D8B030D-6E8A-4147-A177-3AD203B41FA5}">
                      <a16:colId xmlns="" xmlns:a16="http://schemas.microsoft.com/office/drawing/2014/main" val="3079217400"/>
                    </a:ext>
                  </a:extLst>
                </a:gridCol>
                <a:gridCol w="3302758">
                  <a:extLst>
                    <a:ext uri="{9D8B030D-6E8A-4147-A177-3AD203B41FA5}">
                      <a16:colId xmlns="" xmlns:a16="http://schemas.microsoft.com/office/drawing/2014/main" val="2105315825"/>
                    </a:ext>
                  </a:extLst>
                </a:gridCol>
                <a:gridCol w="3589362">
                  <a:extLst>
                    <a:ext uri="{9D8B030D-6E8A-4147-A177-3AD203B41FA5}">
                      <a16:colId xmlns="" xmlns:a16="http://schemas.microsoft.com/office/drawing/2014/main" val="454678026"/>
                    </a:ext>
                  </a:extLst>
                </a:gridCol>
              </a:tblGrid>
              <a:tr h="370840">
                <a:tc>
                  <a:txBody>
                    <a:bodyPr/>
                    <a:lstStyle/>
                    <a:p>
                      <a:pPr marL="0" marR="0" algn="ctr" rtl="0" fontAlgn="base">
                        <a:spcBef>
                          <a:spcPts val="1875"/>
                        </a:spcBef>
                        <a:spcAft>
                          <a:spcPts val="750"/>
                        </a:spcAft>
                        <a:buNone/>
                      </a:pPr>
                      <a:r>
                        <a:rPr lang="en-US" sz="2200" b="1" i="0" spc="12" dirty="0">
                          <a:solidFill>
                            <a:schemeClr val="tx1"/>
                          </a:solidFill>
                          <a:effectLst/>
                          <a:latin typeface="Times New Roman" panose="02020603050405020304" pitchFamily="18" charset="0"/>
                          <a:cs typeface="Times New Roman" panose="02020603050405020304" pitchFamily="18" charset="0"/>
                        </a:rPr>
                        <a:t>Hooks</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38100" marR="38100" marT="95250" marB="95250" anchor="ctr"/>
                </a:tc>
                <a:tc>
                  <a:txBody>
                    <a:bodyPr/>
                    <a:lstStyle/>
                    <a:p>
                      <a:pPr marL="0" marR="0" algn="ctr" rtl="0" fontAlgn="base">
                        <a:spcBef>
                          <a:spcPts val="1875"/>
                        </a:spcBef>
                        <a:spcAft>
                          <a:spcPts val="750"/>
                        </a:spcAft>
                        <a:buNone/>
                      </a:pPr>
                      <a:r>
                        <a:rPr lang="en-US" sz="2200" b="1" i="0" spc="12">
                          <a:solidFill>
                            <a:schemeClr val="tx1"/>
                          </a:solidFill>
                          <a:effectLst/>
                          <a:latin typeface="Times New Roman" panose="02020603050405020304" pitchFamily="18" charset="0"/>
                          <a:cs typeface="Times New Roman" panose="02020603050405020304" pitchFamily="18" charset="0"/>
                        </a:rPr>
                        <a:t>Context API</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95250" marB="95250" anchor="ctr"/>
                </a:tc>
                <a:tc>
                  <a:txBody>
                    <a:bodyPr/>
                    <a:lstStyle/>
                    <a:p>
                      <a:pPr marL="0" marR="0" algn="ctr" rtl="0" fontAlgn="base">
                        <a:spcBef>
                          <a:spcPts val="1875"/>
                        </a:spcBef>
                        <a:spcAft>
                          <a:spcPts val="750"/>
                        </a:spcAft>
                        <a:buNone/>
                      </a:pPr>
                      <a:r>
                        <a:rPr lang="en-US" sz="2200" b="1" i="0" spc="12">
                          <a:solidFill>
                            <a:schemeClr val="tx1"/>
                          </a:solidFill>
                          <a:effectLst/>
                          <a:latin typeface="Times New Roman" panose="02020603050405020304" pitchFamily="18" charset="0"/>
                          <a:cs typeface="Times New Roman" panose="02020603050405020304" pitchFamily="18" charset="0"/>
                        </a:rPr>
                        <a:t>Redux</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95250" marB="95250" anchor="ctr"/>
                </a:tc>
                <a:extLst>
                  <a:ext uri="{0D108BD9-81ED-4DB2-BD59-A6C34878D82A}">
                    <a16:rowId xmlns="" xmlns:a16="http://schemas.microsoft.com/office/drawing/2014/main" val="721168411"/>
                  </a:ext>
                </a:extLst>
              </a:tr>
              <a:tr h="370840">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Local state management in a component</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Shared state across many components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Centralized state management in large apps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 xmlns:a16="http://schemas.microsoft.com/office/drawing/2014/main" val="1564757660"/>
                  </a:ext>
                </a:extLst>
              </a:tr>
              <a:tr h="370840">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Simple and easy to use</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Simple but can become complex with large apps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More complex but powerful</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 xmlns:a16="http://schemas.microsoft.com/office/drawing/2014/main" val="1194789205"/>
                  </a:ext>
                </a:extLst>
              </a:tr>
              <a:tr h="370840">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Optimized for local state</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Good for medium-sized apps, can cause performance issues in large apps</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Optimized for large apps with middleware</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 xmlns:a16="http://schemas.microsoft.com/office/drawing/2014/main" val="920202630"/>
                  </a:ext>
                </a:extLst>
              </a:tr>
              <a:tr h="370840">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Single component state</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Passing data across deep component trees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Large-scale apps with many components needing to share state</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 xmlns:a16="http://schemas.microsoft.com/office/drawing/2014/main" val="3135676393"/>
                  </a:ext>
                </a:extLst>
              </a:tr>
              <a:tr h="370840">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Inside the component</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Global but only for specific contexts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Global store accessible from any component</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 xmlns:a16="http://schemas.microsoft.com/office/drawing/2014/main" val="3470760506"/>
                  </a:ext>
                </a:extLst>
              </a:tr>
            </a:tbl>
          </a:graphicData>
        </a:graphic>
      </p:graphicFrame>
    </p:spTree>
    <p:extLst>
      <p:ext uri="{BB962C8B-B14F-4D97-AF65-F5344CB8AC3E}">
        <p14:creationId xmlns:p14="http://schemas.microsoft.com/office/powerpoint/2010/main" val="1993776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91449D3-231A-DEE3-B511-20DBE5B19459}"/>
              </a:ext>
            </a:extLst>
          </p:cNvPr>
          <p:cNvSpPr>
            <a:spLocks noGrp="1"/>
          </p:cNvSpPr>
          <p:nvPr>
            <p:ph idx="1"/>
          </p:nvPr>
        </p:nvSpPr>
        <p:spPr>
          <a:xfrm>
            <a:off x="0" y="0"/>
            <a:ext cx="12192000" cy="6858000"/>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Introduction to Hooks: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React Hooks are functions that allow you to use state and other React features without writing a class.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Before Hooks, stateful logic in React components was primarily encapsulated in class components using the setState method.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Hooks provide a more functional approach to state management and enable the use of lifecycle methods, context, and other React features in functional components.</a:t>
            </a:r>
          </a:p>
          <a:p>
            <a:pPr fontAlgn="base"/>
            <a:r>
              <a:rPr lang="en-US" b="1" dirty="0">
                <a:latin typeface="Times New Roman" panose="02020603050405020304" pitchFamily="18" charset="0"/>
                <a:cs typeface="Times New Roman" panose="02020603050405020304" pitchFamily="18" charset="0"/>
              </a:rPr>
              <a:t>Why React Hooks?</a:t>
            </a:r>
          </a:p>
          <a:p>
            <a:pPr lvl="0" fontAlgn="base"/>
            <a:r>
              <a:rPr lang="en-US" b="1" dirty="0">
                <a:latin typeface="Times New Roman" panose="02020603050405020304" pitchFamily="18" charset="0"/>
                <a:cs typeface="Times New Roman" panose="02020603050405020304" pitchFamily="18" charset="0"/>
              </a:rPr>
              <a:t>Simplified Logic:</a:t>
            </a:r>
            <a:r>
              <a:rPr lang="en-US" dirty="0">
                <a:latin typeface="Times New Roman" panose="02020603050405020304" pitchFamily="18" charset="0"/>
                <a:cs typeface="Times New Roman" panose="02020603050405020304" pitchFamily="18" charset="0"/>
              </a:rPr>
              <a:t> Hooks eliminate the need for class components, reducing boilerplate code and making components easier to understand and maintain.</a:t>
            </a:r>
          </a:p>
          <a:p>
            <a:pPr lvl="0" fontAlgn="base"/>
            <a:r>
              <a:rPr lang="en-US" b="1" dirty="0">
                <a:latin typeface="Times New Roman" panose="02020603050405020304" pitchFamily="18" charset="0"/>
                <a:cs typeface="Times New Roman" panose="02020603050405020304" pitchFamily="18" charset="0"/>
              </a:rPr>
              <a:t>Reusability:</a:t>
            </a:r>
            <a:r>
              <a:rPr lang="en-US" dirty="0">
                <a:latin typeface="Times New Roman" panose="02020603050405020304" pitchFamily="18" charset="0"/>
                <a:cs typeface="Times New Roman" panose="02020603050405020304" pitchFamily="18" charset="0"/>
              </a:rPr>
              <a:t> With Hooks, you can extract stateful logic into custom hooks and reuse it across multiple components, promoting code reuse and modularity.</a:t>
            </a:r>
          </a:p>
          <a:p>
            <a:pPr lvl="0" fontAlgn="base"/>
            <a:r>
              <a:rPr lang="en-US" b="1" dirty="0">
                <a:latin typeface="Times New Roman" panose="02020603050405020304" pitchFamily="18" charset="0"/>
                <a:cs typeface="Times New Roman" panose="02020603050405020304" pitchFamily="18" charset="0"/>
              </a:rPr>
              <a:t>Improved Performance:</a:t>
            </a:r>
            <a:r>
              <a:rPr lang="en-US" dirty="0">
                <a:latin typeface="Times New Roman" panose="02020603050405020304" pitchFamily="18" charset="0"/>
                <a:cs typeface="Times New Roman" panose="02020603050405020304" pitchFamily="18" charset="0"/>
              </a:rPr>
              <a:t> Hooks optimize the rendering process by allowing React to memorize the state and only re-render components when necessary.</a:t>
            </a:r>
          </a:p>
          <a:p>
            <a:pPr lvl="0" fontAlgn="base"/>
            <a:r>
              <a:rPr lang="en-US" b="1" dirty="0">
                <a:latin typeface="Times New Roman" panose="02020603050405020304" pitchFamily="18" charset="0"/>
                <a:cs typeface="Times New Roman" panose="02020603050405020304" pitchFamily="18" charset="0"/>
              </a:rPr>
              <a:t>Better Testing:</a:t>
            </a:r>
            <a:r>
              <a:rPr lang="en-US" dirty="0">
                <a:latin typeface="Times New Roman" panose="02020603050405020304" pitchFamily="18" charset="0"/>
                <a:cs typeface="Times New Roman" panose="02020603050405020304" pitchFamily="18" charset="0"/>
              </a:rPr>
              <a:t> Functional components with Hooks are easier to test compared to class components, as they are purely based on input and output.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890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UseState</a:t>
            </a:r>
          </a:p>
          <a:p>
            <a:pPr fontAlgn="base"/>
            <a:r>
              <a:rPr lang="en-US" dirty="0">
                <a:latin typeface="Times New Roman" panose="02020603050405020304" pitchFamily="18" charset="0"/>
                <a:cs typeface="Times New Roman" panose="02020603050405020304" pitchFamily="18" charset="0"/>
              </a:rPr>
              <a:t>It manages state in functional components by providing a state variable and a function to update it, enabling dynamic UI updates.</a:t>
            </a:r>
          </a:p>
          <a:p>
            <a:pPr marL="0" indent="0">
              <a:buNone/>
            </a:pPr>
            <a:r>
              <a:rPr lang="en-US" sz="2400" b="1" dirty="0">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const [</a:t>
            </a:r>
            <a:r>
              <a:rPr lang="en-US" dirty="0" err="1">
                <a:latin typeface="Times New Roman" panose="02020603050405020304" pitchFamily="18" charset="0"/>
                <a:cs typeface="Times New Roman" panose="02020603050405020304" pitchFamily="18" charset="0"/>
              </a:rPr>
              <a:t>stateVariable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setStateFunction</a:t>
            </a:r>
            <a:r>
              <a:rPr lang="en-US" dirty="0">
                <a:latin typeface="Times New Roman" panose="02020603050405020304" pitchFamily="18" charset="0"/>
                <a:cs typeface="Times New Roman" panose="02020603050405020304" pitchFamily="18" charset="0"/>
              </a:rPr>
              <a:t>] = useState(</a:t>
            </a:r>
            <a:r>
              <a:rPr lang="en-US" dirty="0" err="1">
                <a:latin typeface="Times New Roman" panose="02020603050405020304" pitchFamily="18" charset="0"/>
                <a:cs typeface="Times New Roman" panose="02020603050405020304" pitchFamily="18" charset="0"/>
              </a:rPr>
              <a:t>initialStateValue</a:t>
            </a:r>
            <a:r>
              <a:rPr lang="en-US"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import React from 'react'</a:t>
            </a:r>
          </a:p>
          <a:p>
            <a:pPr marL="0" indent="0">
              <a:buNone/>
            </a:pPr>
            <a:r>
              <a:rPr lang="en-US" sz="2400" dirty="0">
                <a:latin typeface="Times New Roman" panose="02020603050405020304" pitchFamily="18" charset="0"/>
                <a:cs typeface="Times New Roman" panose="02020603050405020304" pitchFamily="18" charset="0"/>
              </a:rPr>
              <a:t>import {useState} from 'react';</a:t>
            </a:r>
          </a:p>
          <a:p>
            <a:pPr marL="0" indent="0">
              <a:buNone/>
            </a:pPr>
            <a:r>
              <a:rPr lang="en-US" sz="2400" dirty="0">
                <a:latin typeface="Times New Roman" panose="02020603050405020304" pitchFamily="18" charset="0"/>
                <a:cs typeface="Times New Roman" panose="02020603050405020304" pitchFamily="18" charset="0"/>
              </a:rPr>
              <a:t>export default function Incrementor() {</a:t>
            </a:r>
          </a:p>
          <a:p>
            <a:pPr marL="0" indent="0">
              <a:buNone/>
            </a:pPr>
            <a:r>
              <a:rPr lang="en-US" sz="2400" dirty="0">
                <a:latin typeface="Times New Roman" panose="02020603050405020304" pitchFamily="18" charset="0"/>
                <a:cs typeface="Times New Roman" panose="02020603050405020304" pitchFamily="18" charset="0"/>
              </a:rPr>
              <a:t>const [</a:t>
            </a:r>
            <a:r>
              <a:rPr lang="en-US" sz="2400" dirty="0" err="1">
                <a:latin typeface="Times New Roman" panose="02020603050405020304" pitchFamily="18" charset="0"/>
                <a:cs typeface="Times New Roman" panose="02020603050405020304" pitchFamily="18" charset="0"/>
              </a:rPr>
              <a:t>count,setCount</a:t>
            </a:r>
            <a:r>
              <a:rPr lang="en-US" sz="2400" dirty="0">
                <a:latin typeface="Times New Roman" panose="02020603050405020304" pitchFamily="18" charset="0"/>
                <a:cs typeface="Times New Roman" panose="02020603050405020304" pitchFamily="18" charset="0"/>
              </a:rPr>
              <a:t>]=useState(0);</a:t>
            </a:r>
          </a:p>
          <a:p>
            <a:pPr marL="0" indent="0">
              <a:buNone/>
            </a:pPr>
            <a:r>
              <a:rPr lang="en-US" sz="2400" dirty="0">
                <a:latin typeface="Times New Roman" panose="02020603050405020304" pitchFamily="18" charset="0"/>
                <a:cs typeface="Times New Roman" panose="02020603050405020304" pitchFamily="18" charset="0"/>
              </a:rPr>
              <a:t>    const  increment=()=&gt;{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(count+1);  }</a:t>
            </a:r>
          </a:p>
          <a:p>
            <a:pPr marL="0" indent="0">
              <a:buNone/>
            </a:pPr>
            <a:r>
              <a:rPr lang="en-US" sz="2400" dirty="0">
                <a:latin typeface="Times New Roman" panose="02020603050405020304" pitchFamily="18" charset="0"/>
                <a:cs typeface="Times New Roman" panose="02020603050405020304" pitchFamily="18" charset="0"/>
              </a:rPr>
              <a:t>  return ( &lt;div&gt;</a:t>
            </a:r>
          </a:p>
          <a:p>
            <a:pPr marL="0" indent="0">
              <a:buNone/>
            </a:pPr>
            <a:r>
              <a:rPr lang="en-US" sz="2400" dirty="0">
                <a:latin typeface="Times New Roman" panose="02020603050405020304" pitchFamily="18" charset="0"/>
                <a:cs typeface="Times New Roman" panose="02020603050405020304" pitchFamily="18" charset="0"/>
              </a:rPr>
              <a:t>        &lt;h1&gt;{count}&lt;/h1&gt;</a:t>
            </a:r>
          </a:p>
          <a:p>
            <a:pPr marL="0" indent="0">
              <a:buNone/>
            </a:pPr>
            <a:r>
              <a:rPr lang="en-US" sz="2400" dirty="0">
                <a:latin typeface="Times New Roman" panose="02020603050405020304" pitchFamily="18" charset="0"/>
                <a:cs typeface="Times New Roman" panose="02020603050405020304" pitchFamily="18" charset="0"/>
              </a:rPr>
              <a:t>        &lt;button </a:t>
            </a:r>
            <a:r>
              <a:rPr lang="en-US" sz="2400" dirty="0" err="1">
                <a:latin typeface="Times New Roman" panose="02020603050405020304" pitchFamily="18" charset="0"/>
                <a:cs typeface="Times New Roman" panose="02020603050405020304" pitchFamily="18" charset="0"/>
              </a:rPr>
              <a:t>onClick</a:t>
            </a:r>
            <a:r>
              <a:rPr lang="en-US" sz="2400" dirty="0">
                <a:latin typeface="Times New Roman" panose="02020603050405020304" pitchFamily="18" charset="0"/>
                <a:cs typeface="Times New Roman" panose="02020603050405020304" pitchFamily="18" charset="0"/>
              </a:rPr>
              <a:t>={increment}&gt;increment&lt;/button&gt;</a:t>
            </a:r>
          </a:p>
          <a:p>
            <a:pPr marL="0" indent="0">
              <a:buNone/>
            </a:pPr>
            <a:r>
              <a:rPr lang="en-US" sz="2400" dirty="0">
                <a:latin typeface="Times New Roman" panose="02020603050405020304" pitchFamily="18" charset="0"/>
                <a:cs typeface="Times New Roman" panose="02020603050405020304" pitchFamily="18" charset="0"/>
              </a:rPr>
              <a:t>    &lt;/&gt;  )  }</a:t>
            </a:r>
          </a:p>
        </p:txBody>
      </p:sp>
      <p:pic>
        <p:nvPicPr>
          <p:cNvPr id="4" name="Picture 3">
            <a:extLst>
              <a:ext uri="{FF2B5EF4-FFF2-40B4-BE49-F238E27FC236}">
                <a16:creationId xmlns="" xmlns:a16="http://schemas.microsoft.com/office/drawing/2014/main" id="{0982D95D-1CBF-2CC8-16C8-77190CF30482}"/>
              </a:ext>
            </a:extLst>
          </p:cNvPr>
          <p:cNvPicPr>
            <a:picLocks noChangeAspect="1"/>
          </p:cNvPicPr>
          <p:nvPr/>
        </p:nvPicPr>
        <p:blipFill>
          <a:blip r:embed="rId2"/>
          <a:stretch>
            <a:fillRect/>
          </a:stretch>
        </p:blipFill>
        <p:spPr>
          <a:xfrm>
            <a:off x="7261318" y="2689461"/>
            <a:ext cx="4052675" cy="3629451"/>
          </a:xfrm>
          <a:prstGeom prst="rect">
            <a:avLst/>
          </a:prstGeom>
        </p:spPr>
      </p:pic>
    </p:spTree>
    <p:extLst>
      <p:ext uri="{BB962C8B-B14F-4D97-AF65-F5344CB8AC3E}">
        <p14:creationId xmlns:p14="http://schemas.microsoft.com/office/powerpoint/2010/main" val="2205626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marL="0" indent="0" fontAlgn="base">
              <a:buNone/>
            </a:pPr>
            <a:r>
              <a:rPr lang="en-US" sz="2400" b="1" dirty="0">
                <a:latin typeface="Times New Roman" panose="02020603050405020304" pitchFamily="18" charset="0"/>
                <a:cs typeface="Times New Roman" panose="02020603050405020304" pitchFamily="18" charset="0"/>
              </a:rPr>
              <a:t>useEffect :</a:t>
            </a:r>
          </a:p>
          <a:p>
            <a:pPr fontAlgn="base"/>
            <a:r>
              <a:rPr lang="en-US" sz="2400" dirty="0">
                <a:latin typeface="Times New Roman" panose="02020603050405020304" pitchFamily="18" charset="0"/>
                <a:cs typeface="Times New Roman" panose="02020603050405020304" pitchFamily="18" charset="0"/>
              </a:rPr>
              <a:t>It handles side effects like data fetching, subscriptions, or DOM manipulation in functional components after rendering.</a:t>
            </a:r>
          </a:p>
          <a:p>
            <a:pPr marL="0" indent="0">
              <a:buNone/>
            </a:pPr>
            <a:r>
              <a:rPr lang="en-US" sz="2400" b="1"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useEffect(() =&gt; { return () =&gt; {  };}, [dependencies]);</a:t>
            </a:r>
          </a:p>
          <a:p>
            <a:pPr marL="0" indent="0">
              <a:buNone/>
            </a:pP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import React from "react";</a:t>
            </a:r>
          </a:p>
          <a:p>
            <a:pPr marL="0" indent="0">
              <a:buNone/>
            </a:pPr>
            <a:r>
              <a:rPr lang="en-US" sz="2400" dirty="0">
                <a:latin typeface="Times New Roman" panose="02020603050405020304" pitchFamily="18" charset="0"/>
                <a:cs typeface="Times New Roman" panose="02020603050405020304" pitchFamily="18" charset="0"/>
              </a:rPr>
              <a:t>import { useState, useEffect } from "react";</a:t>
            </a:r>
          </a:p>
          <a:p>
            <a:pPr marL="0" indent="0">
              <a:buNone/>
            </a:pPr>
            <a:r>
              <a:rPr lang="en-US" sz="2400" dirty="0">
                <a:latin typeface="Times New Roman" panose="02020603050405020304" pitchFamily="18" charset="0"/>
                <a:cs typeface="Times New Roman" panose="02020603050405020304" pitchFamily="18" charset="0"/>
              </a:rPr>
              <a:t>export default function Incrementor() {</a:t>
            </a:r>
          </a:p>
          <a:p>
            <a:pPr marL="0" indent="0">
              <a:buNone/>
            </a:pPr>
            <a:r>
              <a:rPr lang="en-US" sz="2400" dirty="0">
                <a:latin typeface="Times New Roman" panose="02020603050405020304" pitchFamily="18" charset="0"/>
                <a:cs typeface="Times New Roman" panose="02020603050405020304" pitchFamily="18" charset="0"/>
              </a:rPr>
              <a:t>  const [count,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 = useState(0);</a:t>
            </a:r>
          </a:p>
          <a:p>
            <a:pPr marL="0" indent="0">
              <a:buNone/>
            </a:pPr>
            <a:r>
              <a:rPr lang="en-US" sz="2400" dirty="0">
                <a:latin typeface="Times New Roman" panose="02020603050405020304" pitchFamily="18" charset="0"/>
                <a:cs typeface="Times New Roman" panose="02020603050405020304" pitchFamily="18" charset="0"/>
              </a:rPr>
              <a:t>  useEffect(() =&gt;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document.title</a:t>
            </a:r>
            <a:r>
              <a:rPr lang="en-US" sz="2400" dirty="0">
                <a:latin typeface="Times New Roman" panose="02020603050405020304" pitchFamily="18" charset="0"/>
                <a:cs typeface="Times New Roman" panose="02020603050405020304" pitchFamily="18" charset="0"/>
              </a:rPr>
              <a:t> =  `Count incremented to ${count}`;</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const increment = () =&gt; {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(count + 1);</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return (  &lt;div&gt;  &lt;h1&gt;{count} &lt;/h1&gt; &lt;button </a:t>
            </a:r>
            <a:r>
              <a:rPr lang="en-US" sz="2400" dirty="0" err="1">
                <a:latin typeface="Times New Roman" panose="02020603050405020304" pitchFamily="18" charset="0"/>
                <a:cs typeface="Times New Roman" panose="02020603050405020304" pitchFamily="18" charset="0"/>
              </a:rPr>
              <a:t>onClick</a:t>
            </a:r>
            <a:r>
              <a:rPr lang="en-US" sz="2400" dirty="0">
                <a:latin typeface="Times New Roman" panose="02020603050405020304" pitchFamily="18" charset="0"/>
                <a:cs typeface="Times New Roman" panose="02020603050405020304" pitchFamily="18" charset="0"/>
              </a:rPr>
              <a:t>={increment}&gt;increment&lt;/button&gt;   &lt;div/&gt;  ); }</a:t>
            </a:r>
          </a:p>
        </p:txBody>
      </p:sp>
      <p:pic>
        <p:nvPicPr>
          <p:cNvPr id="7" name="Picture 6" descr="lm-count">
            <a:extLst>
              <a:ext uri="{FF2B5EF4-FFF2-40B4-BE49-F238E27FC236}">
                <a16:creationId xmlns="" xmlns:a16="http://schemas.microsoft.com/office/drawing/2014/main" id="{E3F97B9F-1AD2-9F02-3B17-7246FBDF02FB}"/>
              </a:ext>
            </a:extLst>
          </p:cNvPr>
          <p:cNvPicPr>
            <a:picLocks noChangeAspect="1"/>
          </p:cNvPicPr>
          <p:nvPr/>
        </p:nvPicPr>
        <p:blipFill>
          <a:blip r:embed="rId2"/>
          <a:stretch>
            <a:fillRect/>
          </a:stretch>
        </p:blipFill>
        <p:spPr>
          <a:xfrm>
            <a:off x="7144461" y="1346579"/>
            <a:ext cx="4169533" cy="3716740"/>
          </a:xfrm>
          <a:prstGeom prst="rect">
            <a:avLst/>
          </a:prstGeom>
        </p:spPr>
      </p:pic>
    </p:spTree>
    <p:extLst>
      <p:ext uri="{BB962C8B-B14F-4D97-AF65-F5344CB8AC3E}">
        <p14:creationId xmlns:p14="http://schemas.microsoft.com/office/powerpoint/2010/main" val="2384557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F071625-B62B-F0B1-31F1-A0F0D6F1FA5D}"/>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FE465F2-82FF-393C-BFA3-FD119D00A0F2}"/>
              </a:ext>
            </a:extLst>
          </p:cNvPr>
          <p:cNvSpPr>
            <a:spLocks noGrp="1"/>
          </p:cNvSpPr>
          <p:nvPr>
            <p:ph idx="1"/>
          </p:nvPr>
        </p:nvSpPr>
        <p:spPr>
          <a:xfrm>
            <a:off x="0" y="0"/>
            <a:ext cx="12192000" cy="6858000"/>
          </a:xfrm>
        </p:spPr>
        <p:txBody>
          <a:bodyPr>
            <a:noAutofit/>
          </a:bodyPr>
          <a:lstStyle/>
          <a:p>
            <a:pPr fontAlgn="base"/>
            <a:r>
              <a:rPr lang="en-US" b="1" dirty="0">
                <a:latin typeface="Times New Roman" panose="02020603050405020304" pitchFamily="18" charset="0"/>
                <a:cs typeface="Times New Roman" panose="02020603050405020304" pitchFamily="18" charset="0"/>
              </a:rPr>
              <a:t>Rules of React Hooks</a:t>
            </a:r>
          </a:p>
          <a:p>
            <a:pPr lvl="0" fontAlgn="base"/>
            <a:r>
              <a:rPr lang="en-US" dirty="0">
                <a:latin typeface="Times New Roman" panose="02020603050405020304" pitchFamily="18" charset="0"/>
                <a:cs typeface="Times New Roman" panose="02020603050405020304" pitchFamily="18" charset="0"/>
              </a:rPr>
              <a:t>Hooks should be called only at the top level.</a:t>
            </a:r>
          </a:p>
          <a:p>
            <a:pPr lvl="0" fontAlgn="base"/>
            <a:r>
              <a:rPr lang="en-US" dirty="0">
                <a:latin typeface="Times New Roman" panose="02020603050405020304" pitchFamily="18" charset="0"/>
                <a:cs typeface="Times New Roman" panose="02020603050405020304" pitchFamily="18" charset="0"/>
              </a:rPr>
              <a:t>Don't call hooks conditionally or inside a loop.</a:t>
            </a:r>
          </a:p>
          <a:p>
            <a:pPr lvl="0" fontAlgn="base"/>
            <a:r>
              <a:rPr lang="en-US" dirty="0">
                <a:latin typeface="Times New Roman" panose="02020603050405020304" pitchFamily="18" charset="0"/>
                <a:cs typeface="Times New Roman" panose="02020603050405020304" pitchFamily="18" charset="0"/>
              </a:rPr>
              <a:t>Hooks should be called only in a functional component, not through regular JavaScript functions.</a:t>
            </a:r>
          </a:p>
          <a:p>
            <a:pPr marL="0" indent="0" fontAlgn="base">
              <a:buNone/>
            </a:pPr>
            <a:r>
              <a:rPr lang="en-US" b="1" dirty="0">
                <a:latin typeface="Times New Roman" panose="02020603050405020304" pitchFamily="18" charset="0"/>
                <a:cs typeface="Times New Roman" panose="02020603050405020304" pitchFamily="18" charset="0"/>
              </a:rPr>
              <a:t>Custom Hooks </a:t>
            </a:r>
          </a:p>
          <a:p>
            <a:pPr marL="0" indent="0" fontAlgn="base">
              <a:buNone/>
            </a:pPr>
            <a:r>
              <a:rPr lang="en-US" dirty="0">
                <a:latin typeface="Times New Roman" panose="02020603050405020304" pitchFamily="18" charset="0"/>
                <a:cs typeface="Times New Roman" panose="02020603050405020304" pitchFamily="18" charset="0"/>
              </a:rPr>
              <a:t>Custom Hooks in React allow you to create your own hook and help you to reuse that hook's functionality across various functional components. A custom hook can be created by naming a JavaScript function with the prefix "use".</a:t>
            </a:r>
          </a:p>
          <a:p>
            <a:pPr marL="0" indent="0" fontAlgn="base">
              <a:buNone/>
            </a:pPr>
            <a:r>
              <a:rPr lang="en-US" b="1" dirty="0">
                <a:latin typeface="Times New Roman" panose="02020603050405020304" pitchFamily="18" charset="0"/>
                <a:cs typeface="Times New Roman" panose="02020603050405020304" pitchFamily="18" charset="0"/>
              </a:rPr>
              <a:t>Syntax :</a:t>
            </a:r>
          </a:p>
          <a:p>
            <a:pPr marL="0" indent="0" fontAlgn="base">
              <a:buNone/>
            </a:pPr>
            <a:r>
              <a:rPr lang="en-US" dirty="0">
                <a:latin typeface="Times New Roman" panose="02020603050405020304" pitchFamily="18" charset="0"/>
                <a:cs typeface="Times New Roman" panose="02020603050405020304" pitchFamily="18" charset="0"/>
              </a:rPr>
              <a:t>function </a:t>
            </a:r>
            <a:r>
              <a:rPr lang="en-US" dirty="0" err="1">
                <a:latin typeface="Times New Roman" panose="02020603050405020304" pitchFamily="18" charset="0"/>
                <a:cs typeface="Times New Roman" panose="02020603050405020304" pitchFamily="18" charset="0"/>
              </a:rPr>
              <a:t>useCustomHook</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//code to be executed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p>
          <a:p>
            <a:pPr marL="0" indent="0" fontAlgn="base">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46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4B557CC-AC14-24A2-F69D-3AA460042A12}"/>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5151C22-1056-B1FE-BAAF-D2F996991E64}"/>
              </a:ext>
            </a:extLst>
          </p:cNvPr>
          <p:cNvSpPr>
            <a:spLocks noGrp="1"/>
          </p:cNvSpPr>
          <p:nvPr>
            <p:ph idx="1"/>
          </p:nvPr>
        </p:nvSpPr>
        <p:spPr>
          <a:xfrm>
            <a:off x="0" y="0"/>
            <a:ext cx="12192000" cy="6858000"/>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Example:</a:t>
            </a:r>
          </a:p>
          <a:p>
            <a:pPr marL="0" indent="0" fontAlgn="base">
              <a:buNone/>
            </a:pP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CB8C9B98-5363-0164-779C-4526505FC67B}"/>
              </a:ext>
            </a:extLst>
          </p:cNvPr>
          <p:cNvSpPr txBox="1"/>
          <p:nvPr/>
        </p:nvSpPr>
        <p:spPr>
          <a:xfrm>
            <a:off x="0" y="668740"/>
            <a:ext cx="4162568" cy="5293757"/>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//useCustomHook.js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import { useState} from "react";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function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(value)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count,setCount</a:t>
            </a:r>
            <a:r>
              <a:rPr lang="en-US" sz="2000" dirty="0">
                <a:latin typeface="Times New Roman" panose="02020603050405020304" pitchFamily="18" charset="0"/>
                <a:cs typeface="Times New Roman" panose="02020603050405020304" pitchFamily="18" charset="0"/>
              </a:rPr>
              <a:t>]=useState(value);</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const increment = () =&gt;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setCount</a:t>
            </a:r>
            <a:r>
              <a:rPr lang="en-US" sz="2000" dirty="0">
                <a:latin typeface="Times New Roman" panose="02020603050405020304" pitchFamily="18" charset="0"/>
                <a:cs typeface="Times New Roman" panose="02020603050405020304" pitchFamily="18" charset="0"/>
              </a:rPr>
              <a:t>(count + 1);</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a:t>
            </a:r>
          </a:p>
          <a:p>
            <a:r>
              <a:rPr lang="en-US" sz="2000" dirty="0">
                <a:latin typeface="Times New Roman" panose="02020603050405020304" pitchFamily="18" charset="0"/>
                <a:cs typeface="Times New Roman" panose="02020603050405020304" pitchFamily="18" charset="0"/>
              </a:rPr>
              <a:t>    count,</a:t>
            </a:r>
          </a:p>
          <a:p>
            <a:r>
              <a:rPr lang="en-US" sz="2000" dirty="0">
                <a:latin typeface="Times New Roman" panose="02020603050405020304" pitchFamily="18" charset="0"/>
                <a:cs typeface="Times New Roman" panose="02020603050405020304" pitchFamily="18" charset="0"/>
              </a:rPr>
              <a:t>    increment,</a:t>
            </a:r>
          </a:p>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 xmlns:a16="http://schemas.microsoft.com/office/drawing/2014/main" id="{3A12CCF3-D82E-5EE7-DD64-A23EA2EB10A5}"/>
              </a:ext>
            </a:extLst>
          </p:cNvPr>
          <p:cNvSpPr txBox="1"/>
          <p:nvPr/>
        </p:nvSpPr>
        <p:spPr>
          <a:xfrm>
            <a:off x="3842984" y="668740"/>
            <a:ext cx="4162568" cy="59093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FirstComponent.js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 from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function </a:t>
            </a:r>
            <a:r>
              <a:rPr lang="en-US" sz="2000" dirty="0" err="1">
                <a:latin typeface="Times New Roman" panose="02020603050405020304" pitchFamily="18" charset="0"/>
                <a:cs typeface="Times New Roman" panose="02020603050405020304" pitchFamily="18" charset="0"/>
              </a:rPr>
              <a:t>FirstComponent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count,increment</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(0);</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&lt;h1&gt;{count}&lt;/h1&gt;</a:t>
            </a:r>
          </a:p>
          <a:p>
            <a:r>
              <a:rPr lang="en-US" sz="2000" dirty="0">
                <a:latin typeface="Times New Roman" panose="02020603050405020304" pitchFamily="18" charset="0"/>
                <a:cs typeface="Times New Roman" panose="02020603050405020304" pitchFamily="18" charset="0"/>
              </a:rPr>
              <a:t>      &lt;button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={increment}&gt;Increment&lt;/button&gt;</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 xmlns:a16="http://schemas.microsoft.com/office/drawing/2014/main" id="{9FCC20FA-28F4-2F70-71C3-2B02CAFB4D64}"/>
              </a:ext>
            </a:extLst>
          </p:cNvPr>
          <p:cNvSpPr txBox="1"/>
          <p:nvPr/>
        </p:nvSpPr>
        <p:spPr>
          <a:xfrm>
            <a:off x="8349017" y="696035"/>
            <a:ext cx="3679210" cy="59093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SecondComponent.js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 from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function </a:t>
            </a:r>
            <a:r>
              <a:rPr lang="en-US" sz="2000" dirty="0" err="1">
                <a:latin typeface="Times New Roman" panose="02020603050405020304" pitchFamily="18" charset="0"/>
                <a:cs typeface="Times New Roman" panose="02020603050405020304" pitchFamily="18" charset="0"/>
              </a:rPr>
              <a:t>SecondComponent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count,increment</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(0);</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&lt;h1&gt;{count}&lt;/h1&gt;</a:t>
            </a:r>
          </a:p>
          <a:p>
            <a:r>
              <a:rPr lang="en-US" sz="2000" dirty="0">
                <a:latin typeface="Times New Roman" panose="02020603050405020304" pitchFamily="18" charset="0"/>
                <a:cs typeface="Times New Roman" panose="02020603050405020304" pitchFamily="18" charset="0"/>
              </a:rPr>
              <a:t>      &lt;button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={increment}&gt;Increment&lt;/button&gt;</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p:txBody>
      </p:sp>
      <p:pic>
        <p:nvPicPr>
          <p:cNvPr id="10" name="Picture 9" descr="CustomHooks">
            <a:extLst>
              <a:ext uri="{FF2B5EF4-FFF2-40B4-BE49-F238E27FC236}">
                <a16:creationId xmlns="" xmlns:a16="http://schemas.microsoft.com/office/drawing/2014/main" id="{8D307351-1BE9-3474-3E43-9F60BA852066}"/>
              </a:ext>
            </a:extLst>
          </p:cNvPr>
          <p:cNvPicPr>
            <a:picLocks noChangeAspect="1"/>
          </p:cNvPicPr>
          <p:nvPr/>
        </p:nvPicPr>
        <p:blipFill>
          <a:blip r:embed="rId2"/>
          <a:stretch>
            <a:fillRect/>
          </a:stretch>
        </p:blipFill>
        <p:spPr>
          <a:xfrm>
            <a:off x="619551" y="5336275"/>
            <a:ext cx="3059660" cy="1521725"/>
          </a:xfrm>
          <a:prstGeom prst="rect">
            <a:avLst/>
          </a:prstGeom>
        </p:spPr>
      </p:pic>
    </p:spTree>
    <p:extLst>
      <p:ext uri="{BB962C8B-B14F-4D97-AF65-F5344CB8AC3E}">
        <p14:creationId xmlns:p14="http://schemas.microsoft.com/office/powerpoint/2010/main" val="1931488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64D9CEB-5997-7018-AA1F-E865AA215AD2}"/>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3B740E3-D56A-1578-6CBC-E3B2CAB4DE6C}"/>
              </a:ext>
            </a:extLst>
          </p:cNvPr>
          <p:cNvSpPr>
            <a:spLocks noGrp="1"/>
          </p:cNvSpPr>
          <p:nvPr>
            <p:ph idx="1"/>
          </p:nvPr>
        </p:nvSpPr>
        <p:spPr>
          <a:xfrm>
            <a:off x="0" y="0"/>
            <a:ext cx="12192000" cy="6858000"/>
          </a:xfrm>
        </p:spPr>
        <p:txBody>
          <a:bodyPr>
            <a:normAutofit lnSpcReduction="10000"/>
          </a:bodyPr>
          <a:lstStyle/>
          <a:p>
            <a:pPr marL="0" indent="0" fontAlgn="base">
              <a:buNone/>
            </a:pPr>
            <a:r>
              <a:rPr lang="en-US" sz="2300" b="1" dirty="0">
                <a:latin typeface="Times New Roman" pitchFamily="18" charset="0"/>
                <a:cs typeface="Times New Roman" pitchFamily="18" charset="0"/>
              </a:rPr>
              <a:t>Event Handling in React </a:t>
            </a:r>
            <a:r>
              <a:rPr lang="en-US" sz="2300" b="1" dirty="0" smtClean="0">
                <a:latin typeface="Times New Roman" pitchFamily="18" charset="0"/>
                <a:cs typeface="Times New Roman" pitchFamily="18" charset="0"/>
              </a:rPr>
              <a:t>JS:</a:t>
            </a:r>
          </a:p>
          <a:p>
            <a:pPr marL="0" indent="0" fontAlgn="base">
              <a:buNone/>
            </a:pPr>
            <a:r>
              <a:rPr lang="en-US" sz="2300" dirty="0">
                <a:latin typeface="Times New Roman" pitchFamily="18" charset="0"/>
                <a:cs typeface="Times New Roman" pitchFamily="18" charset="0"/>
              </a:rPr>
              <a:t>Event Handling in React is the process of responding to user actions such as clicking a button, typing in a textbox, submitting a form, or moving the mouse. </a:t>
            </a:r>
            <a:endParaRPr lang="en-US" sz="2300" dirty="0" smtClean="0">
              <a:latin typeface="Times New Roman" pitchFamily="18" charset="0"/>
              <a:cs typeface="Times New Roman" pitchFamily="18" charset="0"/>
            </a:endParaRPr>
          </a:p>
          <a:p>
            <a:pPr marL="0" indent="0" fontAlgn="base">
              <a:buNone/>
            </a:pPr>
            <a:r>
              <a:rPr lang="en-US" sz="2300" dirty="0" smtClean="0">
                <a:latin typeface="Times New Roman" pitchFamily="18" charset="0"/>
                <a:cs typeface="Times New Roman" pitchFamily="18" charset="0"/>
              </a:rPr>
              <a:t>React </a:t>
            </a:r>
            <a:r>
              <a:rPr lang="en-US" sz="2300" dirty="0">
                <a:latin typeface="Times New Roman" pitchFamily="18" charset="0"/>
                <a:cs typeface="Times New Roman" pitchFamily="18" charset="0"/>
              </a:rPr>
              <a:t>uses Synthetic Events, which provide a consistent way to handle events across all browsers</a:t>
            </a:r>
            <a:r>
              <a:rPr lang="en-US" sz="2300" dirty="0" smtClean="0">
                <a:latin typeface="Times New Roman" pitchFamily="18" charset="0"/>
                <a:cs typeface="Times New Roman" pitchFamily="18" charset="0"/>
              </a:rPr>
              <a:t>.</a:t>
            </a:r>
          </a:p>
          <a:p>
            <a:pPr marL="0" indent="0">
              <a:buNone/>
            </a:pPr>
            <a:r>
              <a:rPr lang="en-US" sz="2300" b="1" dirty="0">
                <a:latin typeface="Times New Roman" pitchFamily="18" charset="0"/>
                <a:cs typeface="Times New Roman" pitchFamily="18" charset="0"/>
              </a:rPr>
              <a:t>Features</a:t>
            </a:r>
          </a:p>
          <a:p>
            <a:pPr marL="0" indent="0">
              <a:buNone/>
            </a:pPr>
            <a:r>
              <a:rPr lang="en-US" sz="2300" dirty="0">
                <a:latin typeface="Times New Roman" pitchFamily="18" charset="0"/>
                <a:cs typeface="Times New Roman" pitchFamily="18" charset="0"/>
              </a:rPr>
              <a:t>Event names are written in </a:t>
            </a:r>
            <a:r>
              <a:rPr lang="en-US" sz="2300" b="1" dirty="0" err="1">
                <a:latin typeface="Times New Roman" pitchFamily="18" charset="0"/>
                <a:cs typeface="Times New Roman" pitchFamily="18" charset="0"/>
              </a:rPr>
              <a:t>camelCase</a:t>
            </a:r>
            <a:r>
              <a:rPr lang="en-US" sz="2300" dirty="0">
                <a:latin typeface="Times New Roman" pitchFamily="18" charset="0"/>
                <a:cs typeface="Times New Roman" pitchFamily="18" charset="0"/>
              </a:rPr>
              <a:t> (e.g., </a:t>
            </a:r>
            <a:r>
              <a:rPr lang="en-US" sz="2300" dirty="0" err="1">
                <a:latin typeface="Times New Roman" pitchFamily="18" charset="0"/>
                <a:cs typeface="Times New Roman" pitchFamily="18" charset="0"/>
              </a:rPr>
              <a:t>onClick</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onChange</a:t>
            </a:r>
            <a:r>
              <a:rPr lang="en-US" sz="2300" dirty="0">
                <a:latin typeface="Times New Roman" pitchFamily="18" charset="0"/>
                <a:cs typeface="Times New Roman" pitchFamily="18" charset="0"/>
              </a:rPr>
              <a:t>). </a:t>
            </a:r>
          </a:p>
          <a:p>
            <a:pPr marL="0" indent="0">
              <a:buNone/>
            </a:pPr>
            <a:r>
              <a:rPr lang="en-US" sz="2300" dirty="0">
                <a:latin typeface="Times New Roman" pitchFamily="18" charset="0"/>
                <a:cs typeface="Times New Roman" pitchFamily="18" charset="0"/>
              </a:rPr>
              <a:t>Event handlers are passed as </a:t>
            </a:r>
            <a:r>
              <a:rPr lang="en-US" sz="2300" b="1" dirty="0">
                <a:latin typeface="Times New Roman" pitchFamily="18" charset="0"/>
                <a:cs typeface="Times New Roman" pitchFamily="18" charset="0"/>
              </a:rPr>
              <a:t>functions</a:t>
            </a:r>
            <a:r>
              <a:rPr lang="en-US" sz="2300" dirty="0">
                <a:latin typeface="Times New Roman" pitchFamily="18" charset="0"/>
                <a:cs typeface="Times New Roman" pitchFamily="18" charset="0"/>
              </a:rPr>
              <a:t>, not strings. </a:t>
            </a:r>
          </a:p>
          <a:p>
            <a:pPr marL="0" indent="0">
              <a:buNone/>
            </a:pPr>
            <a:r>
              <a:rPr lang="en-US" sz="2300" dirty="0">
                <a:latin typeface="Times New Roman" pitchFamily="18" charset="0"/>
                <a:cs typeface="Times New Roman" pitchFamily="18" charset="0"/>
              </a:rPr>
              <a:t>React uses </a:t>
            </a:r>
            <a:r>
              <a:rPr lang="en-US" sz="2300" b="1" dirty="0" err="1">
                <a:latin typeface="Times New Roman" pitchFamily="18" charset="0"/>
                <a:cs typeface="Times New Roman" pitchFamily="18" charset="0"/>
              </a:rPr>
              <a:t>SyntheticEvent</a:t>
            </a:r>
            <a:r>
              <a:rPr lang="en-US" sz="2300" dirty="0">
                <a:latin typeface="Times New Roman" pitchFamily="18" charset="0"/>
                <a:cs typeface="Times New Roman" pitchFamily="18" charset="0"/>
              </a:rPr>
              <a:t> objects for better cross-browser compatibility.</a:t>
            </a:r>
          </a:p>
          <a:p>
            <a:pPr marL="0" indent="0" fontAlgn="base">
              <a:buNone/>
            </a:pPr>
            <a:r>
              <a:rPr lang="en-US" sz="2300" b="1" dirty="0" smtClean="0">
                <a:latin typeface="Times New Roman" panose="02020603050405020304" pitchFamily="18" charset="0"/>
                <a:cs typeface="Times New Roman" panose="02020603050405020304" pitchFamily="18" charset="0"/>
              </a:rPr>
              <a:t>Example</a:t>
            </a:r>
            <a:r>
              <a:rPr lang="en-US" sz="2300" dirty="0" smtClean="0">
                <a:latin typeface="Times New Roman" panose="02020603050405020304" pitchFamily="18" charset="0"/>
                <a:cs typeface="Times New Roman" panose="02020603050405020304" pitchFamily="18" charset="0"/>
              </a:rPr>
              <a:t>:</a:t>
            </a:r>
          </a:p>
          <a:p>
            <a:pPr marL="0" indent="0" fontAlgn="base">
              <a:buNone/>
            </a:pPr>
            <a:r>
              <a:rPr lang="en-US" sz="2300" dirty="0">
                <a:latin typeface="Times New Roman" panose="02020603050405020304" pitchFamily="18" charset="0"/>
                <a:cs typeface="Times New Roman" panose="02020603050405020304" pitchFamily="18" charset="0"/>
              </a:rPr>
              <a:t>function App() {</a:t>
            </a:r>
          </a:p>
          <a:p>
            <a:pPr marL="0" indent="0" fontAlgn="base">
              <a:buNone/>
            </a:pP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const</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handleClick</a:t>
            </a:r>
            <a:r>
              <a:rPr lang="en-US" sz="2300" dirty="0">
                <a:latin typeface="Times New Roman" panose="02020603050405020304" pitchFamily="18" charset="0"/>
                <a:cs typeface="Times New Roman" panose="02020603050405020304" pitchFamily="18" charset="0"/>
              </a:rPr>
              <a:t> = () =&gt; {</a:t>
            </a:r>
          </a:p>
          <a:p>
            <a:pPr marL="0" indent="0" fontAlgn="base">
              <a:buNone/>
            </a:pPr>
            <a:r>
              <a:rPr lang="en-US" sz="2300" dirty="0">
                <a:latin typeface="Times New Roman" panose="02020603050405020304" pitchFamily="18" charset="0"/>
                <a:cs typeface="Times New Roman" panose="02020603050405020304" pitchFamily="18" charset="0"/>
              </a:rPr>
              <a:t>    alert("Button Clicked!");</a:t>
            </a:r>
          </a:p>
          <a:p>
            <a:pPr marL="0" indent="0" fontAlgn="base">
              <a:buNone/>
            </a:pPr>
            <a:r>
              <a:rPr lang="en-US" sz="2300" dirty="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a:p>
            <a:pPr marL="0" indent="0" fontAlgn="base">
              <a:buNone/>
            </a:pPr>
            <a:r>
              <a:rPr lang="en-US" sz="2300" dirty="0">
                <a:latin typeface="Times New Roman" panose="02020603050405020304" pitchFamily="18" charset="0"/>
                <a:cs typeface="Times New Roman" panose="02020603050405020304" pitchFamily="18" charset="0"/>
              </a:rPr>
              <a:t>  return &lt;button </a:t>
            </a:r>
            <a:r>
              <a:rPr lang="en-US" sz="2300" dirty="0" err="1">
                <a:latin typeface="Times New Roman" panose="02020603050405020304" pitchFamily="18" charset="0"/>
                <a:cs typeface="Times New Roman" panose="02020603050405020304" pitchFamily="18" charset="0"/>
              </a:rPr>
              <a:t>onClick</a:t>
            </a:r>
            <a:r>
              <a:rPr lang="en-US" sz="2300" dirty="0">
                <a:latin typeface="Times New Roman" panose="02020603050405020304" pitchFamily="18" charset="0"/>
                <a:cs typeface="Times New Roman" panose="02020603050405020304" pitchFamily="18" charset="0"/>
              </a:rPr>
              <a:t>={</a:t>
            </a:r>
            <a:r>
              <a:rPr lang="en-US" sz="2300" dirty="0" err="1">
                <a:latin typeface="Times New Roman" panose="02020603050405020304" pitchFamily="18" charset="0"/>
                <a:cs typeface="Times New Roman" panose="02020603050405020304" pitchFamily="18" charset="0"/>
              </a:rPr>
              <a:t>handleClick</a:t>
            </a:r>
            <a:r>
              <a:rPr lang="en-US" sz="2300" dirty="0">
                <a:latin typeface="Times New Roman" panose="02020603050405020304" pitchFamily="18" charset="0"/>
                <a:cs typeface="Times New Roman" panose="02020603050405020304" pitchFamily="18" charset="0"/>
              </a:rPr>
              <a:t>}&gt;Click Me&lt;/button&gt;;</a:t>
            </a:r>
          </a:p>
          <a:p>
            <a:pPr marL="0" indent="0" fontAlgn="base">
              <a:buNone/>
            </a:pP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a:p>
            <a:pPr marL="0" indent="0" fontAlgn="base">
              <a:buNone/>
            </a:pPr>
            <a:r>
              <a:rPr lang="en-US" sz="2300" dirty="0">
                <a:latin typeface="Times New Roman" panose="02020603050405020304" pitchFamily="18" charset="0"/>
                <a:cs typeface="Times New Roman" panose="02020603050405020304" pitchFamily="18" charset="0"/>
              </a:rPr>
              <a:t>export default App;</a:t>
            </a:r>
          </a:p>
        </p:txBody>
      </p:sp>
    </p:spTree>
    <p:extLst>
      <p:ext uri="{BB962C8B-B14F-4D97-AF65-F5344CB8AC3E}">
        <p14:creationId xmlns:p14="http://schemas.microsoft.com/office/powerpoint/2010/main" val="3440675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1C5256C-A07B-A2E4-6DCE-F7848765B456}"/>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9A0630F-EBFA-6C1B-294E-93AA23F4231B}"/>
              </a:ext>
            </a:extLst>
          </p:cNvPr>
          <p:cNvSpPr>
            <a:spLocks noGrp="1"/>
          </p:cNvSpPr>
          <p:nvPr>
            <p:ph idx="1"/>
          </p:nvPr>
        </p:nvSpPr>
        <p:spPr>
          <a:xfrm>
            <a:off x="0" y="0"/>
            <a:ext cx="12192000" cy="6858000"/>
          </a:xfrm>
        </p:spPr>
        <p:txBody>
          <a:bodyPr>
            <a:normAutofit/>
          </a:bodyPr>
          <a:lstStyle/>
          <a:p>
            <a:pPr marL="0" indent="0">
              <a:buNone/>
            </a:pPr>
            <a:r>
              <a:rPr lang="en-US" sz="2400" b="1" dirty="0">
                <a:latin typeface="Times New Roman" pitchFamily="18" charset="0"/>
                <a:cs typeface="Times New Roman" pitchFamily="18" charset="0"/>
              </a:rPr>
              <a:t>Common React Events</a:t>
            </a:r>
          </a:p>
          <a:p>
            <a:pPr marL="457200" indent="-457200">
              <a:buFont typeface="+mj-lt"/>
              <a:buAutoNum type="arabicPeriod"/>
            </a:pPr>
            <a:r>
              <a:rPr lang="en-US" sz="2400" b="1" dirty="0" err="1">
                <a:latin typeface="Times New Roman" pitchFamily="18" charset="0"/>
                <a:cs typeface="Times New Roman" pitchFamily="18" charset="0"/>
              </a:rPr>
              <a:t>onClick</a:t>
            </a:r>
            <a:r>
              <a:rPr lang="en-US" sz="2400" dirty="0">
                <a:latin typeface="Times New Roman" pitchFamily="18" charset="0"/>
                <a:cs typeface="Times New Roman" pitchFamily="18" charset="0"/>
              </a:rPr>
              <a:t> – Triggered when an element is clicked. </a:t>
            </a:r>
          </a:p>
          <a:p>
            <a:pPr marL="457200" indent="-457200">
              <a:buFont typeface="+mj-lt"/>
              <a:buAutoNum type="arabicPeriod"/>
            </a:pPr>
            <a:r>
              <a:rPr lang="en-US" sz="2400" b="1" dirty="0" err="1">
                <a:latin typeface="Times New Roman" pitchFamily="18" charset="0"/>
                <a:cs typeface="Times New Roman" pitchFamily="18" charset="0"/>
              </a:rPr>
              <a:t>onChange</a:t>
            </a:r>
            <a:r>
              <a:rPr lang="en-US" sz="2400" dirty="0">
                <a:latin typeface="Times New Roman" pitchFamily="18" charset="0"/>
                <a:cs typeface="Times New Roman" pitchFamily="18" charset="0"/>
              </a:rPr>
              <a:t> – Triggered when the value of an input field changes. </a:t>
            </a:r>
          </a:p>
          <a:p>
            <a:pPr marL="457200" indent="-457200">
              <a:buFont typeface="+mj-lt"/>
              <a:buAutoNum type="arabicPeriod"/>
            </a:pPr>
            <a:r>
              <a:rPr lang="en-US" sz="2400" b="1" dirty="0" err="1">
                <a:latin typeface="Times New Roman" pitchFamily="18" charset="0"/>
                <a:cs typeface="Times New Roman" pitchFamily="18" charset="0"/>
              </a:rPr>
              <a:t>onSubmit</a:t>
            </a:r>
            <a:r>
              <a:rPr lang="en-US" sz="2400" dirty="0">
                <a:latin typeface="Times New Roman" pitchFamily="18" charset="0"/>
                <a:cs typeface="Times New Roman" pitchFamily="18" charset="0"/>
              </a:rPr>
              <a:t> – Triggered when a form is submitted. </a:t>
            </a:r>
          </a:p>
          <a:p>
            <a:pPr marL="457200" indent="-457200">
              <a:buFont typeface="+mj-lt"/>
              <a:buAutoNum type="arabicPeriod"/>
            </a:pPr>
            <a:r>
              <a:rPr lang="en-US" sz="2400" b="1" dirty="0" err="1">
                <a:latin typeface="Times New Roman" pitchFamily="18" charset="0"/>
                <a:cs typeface="Times New Roman" pitchFamily="18" charset="0"/>
              </a:rPr>
              <a:t>onKeyDown</a:t>
            </a:r>
            <a:r>
              <a:rPr lang="en-US" sz="2400" dirty="0">
                <a:latin typeface="Times New Roman" pitchFamily="18" charset="0"/>
                <a:cs typeface="Times New Roman" pitchFamily="18" charset="0"/>
              </a:rPr>
              <a:t> – Triggered when a key is pressed. </a:t>
            </a:r>
          </a:p>
          <a:p>
            <a:pPr marL="457200" indent="-457200">
              <a:buFont typeface="+mj-lt"/>
              <a:buAutoNum type="arabicPeriod"/>
            </a:pPr>
            <a:r>
              <a:rPr lang="en-US" sz="2400" b="1" dirty="0" err="1">
                <a:latin typeface="Times New Roman" pitchFamily="18" charset="0"/>
                <a:cs typeface="Times New Roman" pitchFamily="18" charset="0"/>
              </a:rPr>
              <a:t>onMouseOver</a:t>
            </a:r>
            <a:r>
              <a:rPr lang="en-US" sz="2400" dirty="0">
                <a:latin typeface="Times New Roman" pitchFamily="18" charset="0"/>
                <a:cs typeface="Times New Roman" pitchFamily="18" charset="0"/>
              </a:rPr>
              <a:t> – Triggered when the mouse pointer moves over an element. </a:t>
            </a:r>
          </a:p>
          <a:p>
            <a:pPr marL="457200" indent="-457200">
              <a:buFont typeface="+mj-lt"/>
              <a:buAutoNum type="arabicPeriod"/>
            </a:pPr>
            <a:r>
              <a:rPr lang="en-US" sz="2400" b="1" dirty="0" err="1">
                <a:latin typeface="Times New Roman" pitchFamily="18" charset="0"/>
                <a:cs typeface="Times New Roman" pitchFamily="18" charset="0"/>
              </a:rPr>
              <a:t>onFocus</a:t>
            </a:r>
            <a:r>
              <a:rPr lang="en-US" sz="2400" dirty="0">
                <a:latin typeface="Times New Roman" pitchFamily="18" charset="0"/>
                <a:cs typeface="Times New Roman" pitchFamily="18" charset="0"/>
              </a:rPr>
              <a:t> – Triggered when an element receives focus. </a:t>
            </a:r>
          </a:p>
          <a:p>
            <a:pPr marL="457200" indent="-457200">
              <a:buFont typeface="+mj-lt"/>
              <a:buAutoNum type="arabicPeriod"/>
            </a:pPr>
            <a:r>
              <a:rPr lang="en-US" sz="2400" b="1" dirty="0" err="1">
                <a:latin typeface="Times New Roman" pitchFamily="18" charset="0"/>
                <a:cs typeface="Times New Roman" pitchFamily="18" charset="0"/>
              </a:rPr>
              <a:t>onBlur</a:t>
            </a:r>
            <a:r>
              <a:rPr lang="en-US" sz="2400" dirty="0">
                <a:latin typeface="Times New Roman" pitchFamily="18" charset="0"/>
                <a:cs typeface="Times New Roman" pitchFamily="18" charset="0"/>
              </a:rPr>
              <a:t> – Triggered when an element loses focus. </a:t>
            </a:r>
          </a:p>
          <a:p>
            <a:pPr marL="0" indent="0">
              <a:buNone/>
            </a:pPr>
            <a:r>
              <a:rPr lang="en-US" sz="2400" b="1" dirty="0">
                <a:latin typeface="Times New Roman" pitchFamily="18" charset="0"/>
                <a:cs typeface="Times New Roman" pitchFamily="18" charset="0"/>
              </a:rPr>
              <a:t>Advantages</a:t>
            </a:r>
          </a:p>
          <a:p>
            <a:pPr marL="457200" indent="-457200">
              <a:buFont typeface="+mj-lt"/>
              <a:buAutoNum type="arabicPeriod"/>
            </a:pPr>
            <a:r>
              <a:rPr lang="en-US" sz="2400" dirty="0">
                <a:latin typeface="Times New Roman" pitchFamily="18" charset="0"/>
                <a:cs typeface="Times New Roman" pitchFamily="18" charset="0"/>
              </a:rPr>
              <a:t>Easy to handle user interactions. </a:t>
            </a:r>
          </a:p>
          <a:p>
            <a:pPr marL="457200" indent="-457200">
              <a:buFont typeface="+mj-lt"/>
              <a:buAutoNum type="arabicPeriod"/>
            </a:pPr>
            <a:r>
              <a:rPr lang="en-US" sz="2400" dirty="0">
                <a:latin typeface="Times New Roman" pitchFamily="18" charset="0"/>
                <a:cs typeface="Times New Roman" pitchFamily="18" charset="0"/>
              </a:rPr>
              <a:t>Provides consistent behavior across different browsers. </a:t>
            </a:r>
          </a:p>
          <a:p>
            <a:pPr marL="457200" indent="-457200">
              <a:buFont typeface="+mj-lt"/>
              <a:buAutoNum type="arabicPeriod"/>
            </a:pPr>
            <a:r>
              <a:rPr lang="en-US" sz="2400" dirty="0">
                <a:latin typeface="Times New Roman" pitchFamily="18" charset="0"/>
                <a:cs typeface="Times New Roman" pitchFamily="18" charset="0"/>
              </a:rPr>
              <a:t>Integrates seamlessly with React state for dynamic UI updates. </a:t>
            </a:r>
          </a:p>
          <a:p>
            <a:pPr marL="457200" indent="-457200">
              <a:buFont typeface="+mj-lt"/>
              <a:buAutoNum type="arabicPeriod"/>
            </a:pPr>
            <a:r>
              <a:rPr lang="en-US" sz="2400" dirty="0">
                <a:latin typeface="Times New Roman" pitchFamily="18" charset="0"/>
                <a:cs typeface="Times New Roman" pitchFamily="18" charset="0"/>
              </a:rPr>
              <a:t>Makes applications more interactive and responsive.</a:t>
            </a:r>
          </a:p>
          <a:p>
            <a:pPr marL="0" indent="0" fontAlgn="base">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480991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9D63239-4630-0BB4-65F5-BA62319F8023}"/>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6928DC8-F365-A8A6-49E9-BF255D1B987A}"/>
              </a:ext>
            </a:extLst>
          </p:cNvPr>
          <p:cNvSpPr>
            <a:spLocks noGrp="1"/>
          </p:cNvSpPr>
          <p:nvPr>
            <p:ph idx="1"/>
          </p:nvPr>
        </p:nvSpPr>
        <p:spPr>
          <a:xfrm>
            <a:off x="0" y="0"/>
            <a:ext cx="12192000" cy="6858000"/>
          </a:xfrm>
        </p:spPr>
        <p:txBody>
          <a:bodyPr>
            <a:normAutofit/>
          </a:bodyPr>
          <a:lstStyle/>
          <a:p>
            <a:pPr marL="0" indent="0" fontAlgn="base">
              <a:buNone/>
            </a:pPr>
            <a:r>
              <a:rPr lang="en-US" b="1" dirty="0">
                <a:latin typeface="Times New Roman" pitchFamily="18" charset="0"/>
                <a:cs typeface="Times New Roman" pitchFamily="18" charset="0"/>
              </a:rPr>
              <a:t>Conditional Rendering in React </a:t>
            </a:r>
            <a:r>
              <a:rPr lang="en-US" b="1" dirty="0" smtClean="0">
                <a:latin typeface="Times New Roman" pitchFamily="18" charset="0"/>
                <a:cs typeface="Times New Roman" pitchFamily="18" charset="0"/>
              </a:rPr>
              <a:t>JS</a:t>
            </a:r>
          </a:p>
          <a:p>
            <a:pPr marL="0" indent="0" fontAlgn="base">
              <a:buNone/>
            </a:pPr>
            <a:r>
              <a:rPr lang="en-US" b="1" dirty="0">
                <a:latin typeface="Times New Roman" pitchFamily="18" charset="0"/>
                <a:cs typeface="Times New Roman" pitchFamily="18" charset="0"/>
              </a:rPr>
              <a:t>Conditional Rendering</a:t>
            </a:r>
            <a:r>
              <a:rPr lang="en-US" dirty="0">
                <a:latin typeface="Times New Roman" pitchFamily="18" charset="0"/>
                <a:cs typeface="Times New Roman" pitchFamily="18" charset="0"/>
              </a:rPr>
              <a:t> in React is the technique of displaying different UI elements or components based on a condition. </a:t>
            </a:r>
            <a:endParaRPr lang="en-US" dirty="0" smtClean="0">
              <a:latin typeface="Times New Roman" pitchFamily="18" charset="0"/>
              <a:cs typeface="Times New Roman" pitchFamily="18" charset="0"/>
            </a:endParaRPr>
          </a:p>
          <a:p>
            <a:pPr marL="0" indent="0" fontAlgn="base">
              <a:buNone/>
            </a:pP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allows you to control what is shown to the user depending on the application's state or data</a:t>
            </a:r>
            <a:r>
              <a:rPr lang="en-US" dirty="0" smtClean="0">
                <a:latin typeface="Times New Roman" pitchFamily="18" charset="0"/>
                <a:cs typeface="Times New Roman" pitchFamily="18" charset="0"/>
              </a:rPr>
              <a:t>.</a:t>
            </a:r>
          </a:p>
          <a:p>
            <a:r>
              <a:rPr lang="en-US" b="1" dirty="0">
                <a:latin typeface="Times New Roman" pitchFamily="18" charset="0"/>
                <a:cs typeface="Times New Roman" pitchFamily="18" charset="0"/>
              </a:rPr>
              <a:t>Common Ways to Perform Conditional Rendering</a:t>
            </a:r>
          </a:p>
          <a:p>
            <a:pPr marL="0" indent="0">
              <a:buNone/>
            </a:pPr>
            <a:r>
              <a:rPr lang="en-US" b="1" dirty="0">
                <a:latin typeface="Times New Roman" pitchFamily="18" charset="0"/>
                <a:cs typeface="Times New Roman" pitchFamily="18" charset="0"/>
              </a:rPr>
              <a:t>Using if...else Statement</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Used </a:t>
            </a:r>
            <a:r>
              <a:rPr lang="en-US" dirty="0">
                <a:latin typeface="Times New Roman" pitchFamily="18" charset="0"/>
                <a:cs typeface="Times New Roman" pitchFamily="18" charset="0"/>
              </a:rPr>
              <a:t>when multiple conditions need to be checked. </a:t>
            </a:r>
          </a:p>
          <a:p>
            <a:pPr marL="0" indent="0">
              <a:buNone/>
            </a:pPr>
            <a:r>
              <a:rPr lang="en-US" b="1" dirty="0">
                <a:latin typeface="Times New Roman" pitchFamily="18" charset="0"/>
                <a:cs typeface="Times New Roman" pitchFamily="18" charset="0"/>
              </a:rPr>
              <a:t>Using Ternary Operator (condition ? true : false)</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Best </a:t>
            </a:r>
            <a:r>
              <a:rPr lang="en-US" dirty="0">
                <a:latin typeface="Times New Roman" pitchFamily="18" charset="0"/>
                <a:cs typeface="Times New Roman" pitchFamily="18" charset="0"/>
              </a:rPr>
              <a:t>for simple if-else conditions inside JSX. </a:t>
            </a:r>
          </a:p>
          <a:p>
            <a:pPr marL="0" indent="0">
              <a:buNone/>
            </a:pPr>
            <a:r>
              <a:rPr lang="en-US" b="1" dirty="0">
                <a:latin typeface="Times New Roman" pitchFamily="18" charset="0"/>
                <a:cs typeface="Times New Roman" pitchFamily="18" charset="0"/>
              </a:rPr>
              <a:t>Using Logical AND (&amp;&amp;) </a:t>
            </a:r>
            <a:r>
              <a:rPr lang="en-US" b="1" dirty="0" smtClean="0">
                <a:latin typeface="Times New Roman" pitchFamily="18" charset="0"/>
                <a:cs typeface="Times New Roman" pitchFamily="18" charset="0"/>
              </a:rPr>
              <a:t>Operator</a:t>
            </a:r>
            <a:r>
              <a:rPr lang="en-US" dirty="0" smtClean="0">
                <a:latin typeface="Times New Roman" pitchFamily="18" charset="0"/>
                <a:cs typeface="Times New Roman" pitchFamily="18" charset="0"/>
              </a:rPr>
              <a:t> : Displays </a:t>
            </a:r>
            <a:r>
              <a:rPr lang="en-US" dirty="0">
                <a:latin typeface="Times New Roman" pitchFamily="18" charset="0"/>
                <a:cs typeface="Times New Roman" pitchFamily="18" charset="0"/>
              </a:rPr>
              <a:t>an element only if the condition is true. </a:t>
            </a:r>
          </a:p>
          <a:p>
            <a:pPr marL="0" indent="0">
              <a:buNone/>
            </a:pPr>
            <a:r>
              <a:rPr lang="en-US" b="1" dirty="0">
                <a:latin typeface="Times New Roman" pitchFamily="18" charset="0"/>
                <a:cs typeface="Times New Roman" pitchFamily="18" charset="0"/>
              </a:rPr>
              <a:t>Using Conditional Variables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Store </a:t>
            </a:r>
            <a:r>
              <a:rPr lang="en-US" dirty="0">
                <a:latin typeface="Times New Roman" pitchFamily="18" charset="0"/>
                <a:cs typeface="Times New Roman" pitchFamily="18" charset="0"/>
              </a:rPr>
              <a:t>JSX in a variable and render it based on a condition.</a:t>
            </a:r>
          </a:p>
          <a:p>
            <a:pPr marL="0" indent="0" fontAlgn="base">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71810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F5F3E1A-AFE4-3ACA-4A83-D45DBD539F6B}"/>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6B48D9A-725B-78B8-C546-D06D973A4DF8}"/>
              </a:ext>
            </a:extLst>
          </p:cNvPr>
          <p:cNvSpPr>
            <a:spLocks noGrp="1"/>
          </p:cNvSpPr>
          <p:nvPr>
            <p:ph idx="1"/>
          </p:nvPr>
        </p:nvSpPr>
        <p:spPr>
          <a:xfrm>
            <a:off x="0" y="0"/>
            <a:ext cx="12192000" cy="6858000"/>
          </a:xfrm>
        </p:spPr>
        <p:txBody>
          <a:bodyPr>
            <a:normAutofit/>
          </a:bodyPr>
          <a:lstStyle/>
          <a:p>
            <a:pPr marL="0" indent="0" fontAlgn="base">
              <a:buNone/>
            </a:pPr>
            <a:r>
              <a:rPr lang="en-US" sz="2200" b="1" dirty="0" smtClean="0">
                <a:latin typeface="Times New Roman" pitchFamily="18" charset="0"/>
                <a:cs typeface="Times New Roman" panose="02020603050405020304" pitchFamily="18" charset="0"/>
              </a:rPr>
              <a:t>Example:</a:t>
            </a:r>
          </a:p>
          <a:p>
            <a:pPr marL="0" indent="0" fontAlgn="base">
              <a:buNone/>
            </a:pPr>
            <a:r>
              <a:rPr lang="en-US" sz="2200" dirty="0">
                <a:latin typeface="Times New Roman" panose="02020603050405020304" pitchFamily="18" charset="0"/>
                <a:cs typeface="Times New Roman" panose="02020603050405020304" pitchFamily="18" charset="0"/>
              </a:rPr>
              <a:t>function App() {</a:t>
            </a:r>
          </a:p>
          <a:p>
            <a:pPr marL="0" indent="0" fontAlgn="base">
              <a:buNone/>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const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isLoggedIn</a:t>
            </a:r>
            <a:r>
              <a:rPr lang="en-US" sz="2200" dirty="0">
                <a:latin typeface="Times New Roman" panose="02020603050405020304" pitchFamily="18" charset="0"/>
                <a:cs typeface="Times New Roman" panose="02020603050405020304" pitchFamily="18" charset="0"/>
              </a:rPr>
              <a:t> = true</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fontAlgn="base">
              <a:buNone/>
            </a:pPr>
            <a:r>
              <a:rPr lang="en-US" sz="2200" dirty="0">
                <a:latin typeface="Times New Roman" panose="02020603050405020304" pitchFamily="18" charset="0"/>
                <a:cs typeface="Times New Roman" panose="02020603050405020304" pitchFamily="18" charset="0"/>
              </a:rPr>
              <a:t>  return (</a:t>
            </a:r>
          </a:p>
          <a:p>
            <a:pPr marL="0" indent="0" fontAlgn="base">
              <a:buNone/>
            </a:pPr>
            <a:r>
              <a:rPr lang="en-US" sz="2200" dirty="0">
                <a:latin typeface="Times New Roman" panose="02020603050405020304" pitchFamily="18" charset="0"/>
                <a:cs typeface="Times New Roman" panose="02020603050405020304" pitchFamily="18" charset="0"/>
              </a:rPr>
              <a:t>    &lt;div&gt;</a:t>
            </a:r>
          </a:p>
          <a:p>
            <a:pPr marL="0" indent="0" fontAlgn="base">
              <a:buNone/>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isLoggedIn</a:t>
            </a:r>
            <a:r>
              <a:rPr lang="en-US" sz="2200" dirty="0">
                <a:latin typeface="Times New Roman" panose="02020603050405020304" pitchFamily="18" charset="0"/>
                <a:cs typeface="Times New Roman" panose="02020603050405020304" pitchFamily="18" charset="0"/>
              </a:rPr>
              <a:t> ? &lt;h2&gt;Welcome User!&lt;/h2&gt; : &lt;h2&gt;Please Login&lt;/h2&gt;}</a:t>
            </a:r>
          </a:p>
          <a:p>
            <a:pPr marL="0" indent="0" fontAlgn="base">
              <a:buNone/>
            </a:pPr>
            <a:r>
              <a:rPr lang="en-US" sz="2200" dirty="0">
                <a:latin typeface="Times New Roman" panose="02020603050405020304" pitchFamily="18" charset="0"/>
                <a:cs typeface="Times New Roman" panose="02020603050405020304" pitchFamily="18" charset="0"/>
              </a:rPr>
              <a:t>    &lt;/div</a:t>
            </a:r>
            <a:r>
              <a:rPr lang="en-US" sz="2200" dirty="0" smtClean="0">
                <a:latin typeface="Times New Roman" panose="02020603050405020304" pitchFamily="18" charset="0"/>
                <a:cs typeface="Times New Roman" panose="02020603050405020304" pitchFamily="18" charset="0"/>
              </a:rPr>
              <a:t>&gt;  </a:t>
            </a:r>
          </a:p>
          <a:p>
            <a:pPr marL="0" indent="0" fontAlgn="base">
              <a:buNone/>
            </a:pPr>
            <a:r>
              <a:rPr lang="en-US" sz="2200" dirty="0" smtClean="0">
                <a:latin typeface="Times New Roman" panose="02020603050405020304" pitchFamily="18" charset="0"/>
                <a:cs typeface="Times New Roman" panose="02020603050405020304" pitchFamily="18" charset="0"/>
              </a:rPr>
              <a:t>);  </a:t>
            </a:r>
          </a:p>
          <a:p>
            <a:pPr marL="0" indent="0" fontAlgn="base">
              <a:buNone/>
            </a:pP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fontAlgn="base">
              <a:buNone/>
            </a:pPr>
            <a:r>
              <a:rPr lang="en-US" sz="2200" dirty="0">
                <a:latin typeface="Times New Roman" panose="02020603050405020304" pitchFamily="18" charset="0"/>
                <a:cs typeface="Times New Roman" panose="02020603050405020304" pitchFamily="18" charset="0"/>
              </a:rPr>
              <a:t>export default App</a:t>
            </a:r>
            <a:r>
              <a:rPr lang="en-US" sz="2200" dirty="0" smtClean="0">
                <a:latin typeface="Times New Roman" panose="02020603050405020304" pitchFamily="18" charset="0"/>
                <a:cs typeface="Times New Roman" panose="02020603050405020304" pitchFamily="18" charset="0"/>
              </a:rPr>
              <a:t>;</a:t>
            </a:r>
          </a:p>
          <a:p>
            <a:r>
              <a:rPr lang="en-US" sz="2400" b="1" dirty="0">
                <a:latin typeface="Times New Roman" pitchFamily="18" charset="0"/>
                <a:cs typeface="Times New Roman" pitchFamily="18" charset="0"/>
              </a:rPr>
              <a:t>Advantages</a:t>
            </a:r>
          </a:p>
          <a:p>
            <a:r>
              <a:rPr lang="en-US" sz="2400" dirty="0">
                <a:latin typeface="Times New Roman" pitchFamily="18" charset="0"/>
                <a:cs typeface="Times New Roman" pitchFamily="18" charset="0"/>
              </a:rPr>
              <a:t>Makes the UI dynamic and interactive. </a:t>
            </a:r>
          </a:p>
          <a:p>
            <a:r>
              <a:rPr lang="en-US" sz="2400" dirty="0">
                <a:latin typeface="Times New Roman" pitchFamily="18" charset="0"/>
                <a:cs typeface="Times New Roman" pitchFamily="18" charset="0"/>
              </a:rPr>
              <a:t>Displays content based on user actions or application state. </a:t>
            </a:r>
          </a:p>
          <a:p>
            <a:r>
              <a:rPr lang="en-US" sz="2400" dirty="0">
                <a:latin typeface="Times New Roman" pitchFamily="18" charset="0"/>
                <a:cs typeface="Times New Roman" pitchFamily="18" charset="0"/>
              </a:rPr>
              <a:t>Improves code readability and maintainability. </a:t>
            </a:r>
          </a:p>
          <a:p>
            <a:r>
              <a:rPr lang="en-US" sz="2400" dirty="0">
                <a:latin typeface="Times New Roman" pitchFamily="18" charset="0"/>
                <a:cs typeface="Times New Roman" pitchFamily="18" charset="0"/>
              </a:rPr>
              <a:t>Reduces unnecessary rendering of components.</a:t>
            </a:r>
          </a:p>
          <a:p>
            <a:pPr marL="0" indent="0" fontAlgn="base">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645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F5F3E1A-AFE4-3ACA-4A83-D45DBD539F6B}"/>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6B48D9A-725B-78B8-C546-D06D973A4DF8}"/>
              </a:ext>
            </a:extLst>
          </p:cNvPr>
          <p:cNvSpPr>
            <a:spLocks noGrp="1"/>
          </p:cNvSpPr>
          <p:nvPr>
            <p:ph idx="1"/>
          </p:nvPr>
        </p:nvSpPr>
        <p:spPr>
          <a:xfrm>
            <a:off x="0" y="0"/>
            <a:ext cx="12192000" cy="6858000"/>
          </a:xfrm>
        </p:spPr>
        <p:txBody>
          <a:bodyPr>
            <a:noAutofit/>
          </a:bodyPr>
          <a:lstStyle/>
          <a:p>
            <a:pPr marL="0" lvl="0" indent="0" fontAlgn="base">
              <a:buNone/>
            </a:pPr>
            <a:r>
              <a:rPr lang="en-US" sz="2400" b="1" dirty="0">
                <a:latin typeface="Times New Roman" pitchFamily="18" charset="0"/>
                <a:cs typeface="Times New Roman" pitchFamily="18" charset="0"/>
              </a:rPr>
              <a:t>Lists and </a:t>
            </a:r>
            <a:r>
              <a:rPr lang="en-US" sz="2400" b="1" dirty="0" smtClean="0">
                <a:latin typeface="Times New Roman" pitchFamily="18" charset="0"/>
                <a:cs typeface="Times New Roman" pitchFamily="18" charset="0"/>
              </a:rPr>
              <a:t>Keys:</a:t>
            </a:r>
          </a:p>
          <a:p>
            <a:pPr marL="0" indent="0">
              <a:buNone/>
            </a:pPr>
            <a:r>
              <a:rPr lang="en-US" sz="2400" b="1" dirty="0" smtClean="0">
                <a:latin typeface="Times New Roman" pitchFamily="18" charset="0"/>
                <a:cs typeface="Times New Roman" pitchFamily="18" charset="0"/>
              </a:rPr>
              <a:t>Lists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in React are used to display multiple items by rendering an array of data. </a:t>
            </a:r>
            <a:r>
              <a:rPr lang="en-US" sz="2400" dirty="0" smtClean="0">
                <a:latin typeface="Times New Roman" pitchFamily="18" charset="0"/>
                <a:cs typeface="Times New Roman" pitchFamily="18" charset="0"/>
              </a:rPr>
              <a:t>The </a:t>
            </a:r>
            <a:r>
              <a:rPr lang="en-US" sz="2400" b="1" dirty="0">
                <a:latin typeface="Times New Roman" pitchFamily="18" charset="0"/>
                <a:cs typeface="Times New Roman" pitchFamily="18" charset="0"/>
              </a:rPr>
              <a:t>map()</a:t>
            </a:r>
            <a:r>
              <a:rPr lang="en-US" sz="2400" dirty="0">
                <a:latin typeface="Times New Roman" pitchFamily="18" charset="0"/>
                <a:cs typeface="Times New Roman" pitchFamily="18" charset="0"/>
              </a:rPr>
              <a:t> function is commonly used to create a list of JSX elements.</a:t>
            </a:r>
          </a:p>
          <a:p>
            <a:pPr marL="0" indent="0">
              <a:buNone/>
            </a:pPr>
            <a:r>
              <a:rPr lang="en-US" sz="2400" b="1" dirty="0" smtClean="0">
                <a:latin typeface="Times New Roman" pitchFamily="18" charset="0"/>
                <a:cs typeface="Times New Roman" pitchFamily="18" charset="0"/>
              </a:rPr>
              <a:t>Keys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are unique identifiers assigned to each list item. </a:t>
            </a:r>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help React identify which items have changed, been added, or removed, improving rendering </a:t>
            </a:r>
            <a:endParaRPr lang="en-US" sz="2400" dirty="0" smtClean="0">
              <a:latin typeface="Times New Roman" pitchFamily="18" charset="0"/>
              <a:cs typeface="Times New Roman" pitchFamily="18" charset="0"/>
            </a:endParaRPr>
          </a:p>
          <a:p>
            <a:pPr marL="0" indent="0">
              <a:buNone/>
            </a:pPr>
            <a:r>
              <a:rPr lang="en-US" sz="2400" dirty="0" smtClean="0">
                <a:latin typeface="Times New Roman" pitchFamily="18" charset="0"/>
                <a:cs typeface="Times New Roman" pitchFamily="18" charset="0"/>
              </a:rPr>
              <a:t>performance.</a:t>
            </a:r>
          </a:p>
          <a:p>
            <a:pPr marL="0" indent="0">
              <a:buNone/>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a:t>
            </a:r>
          </a:p>
          <a:p>
            <a:pPr marL="0" indent="0">
              <a:buNone/>
            </a:pPr>
            <a:r>
              <a:rPr lang="en-US" sz="2400" dirty="0">
                <a:latin typeface="Times New Roman" pitchFamily="18" charset="0"/>
                <a:cs typeface="Times New Roman" pitchFamily="18" charset="0"/>
              </a:rPr>
              <a:t>function App() {</a:t>
            </a: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const</a:t>
            </a:r>
            <a:r>
              <a:rPr lang="en-US" sz="2400" dirty="0">
                <a:latin typeface="Times New Roman" pitchFamily="18" charset="0"/>
                <a:cs typeface="Times New Roman" pitchFamily="18" charset="0"/>
              </a:rPr>
              <a:t> fruits = ["Apple", "Banana", "Mango</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return </a:t>
            </a:r>
            <a:r>
              <a:rPr lang="en-US" sz="2400" dirty="0" smtClean="0">
                <a:latin typeface="Times New Roman" pitchFamily="18" charset="0"/>
                <a:cs typeface="Times New Roman" pitchFamily="18" charset="0"/>
              </a:rPr>
              <a:t>(  &lt;</a:t>
            </a:r>
            <a:r>
              <a:rPr lang="en-US" sz="2400" dirty="0" err="1">
                <a:latin typeface="Times New Roman" pitchFamily="18" charset="0"/>
                <a:cs typeface="Times New Roman" pitchFamily="18" charset="0"/>
              </a:rPr>
              <a:t>ul</a:t>
            </a:r>
            <a:r>
              <a:rPr lang="en-US" sz="2400" dirty="0">
                <a:latin typeface="Times New Roman" pitchFamily="18" charset="0"/>
                <a:cs typeface="Times New Roman" pitchFamily="18" charset="0"/>
              </a:rPr>
              <a:t>&gt;</a:t>
            </a: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fruits.map</a:t>
            </a:r>
            <a:r>
              <a:rPr lang="en-US" sz="2400" dirty="0">
                <a:latin typeface="Times New Roman" pitchFamily="18" charset="0"/>
                <a:cs typeface="Times New Roman" pitchFamily="18" charset="0"/>
              </a:rPr>
              <a:t>((fruit, index) =&gt; (</a:t>
            </a:r>
          </a:p>
          <a:p>
            <a:pPr marL="0" indent="0">
              <a:buNone/>
            </a:pPr>
            <a:r>
              <a:rPr lang="en-US" sz="2400" dirty="0">
                <a:latin typeface="Times New Roman" pitchFamily="18" charset="0"/>
                <a:cs typeface="Times New Roman" pitchFamily="18" charset="0"/>
              </a:rPr>
              <a:t>        &lt;li key={index}&gt;{fruit}&lt;/li&gt;</a:t>
            </a:r>
          </a:p>
          <a:p>
            <a:pPr marL="0" indent="0">
              <a:buNone/>
            </a:pPr>
            <a:r>
              <a:rPr lang="en-US" sz="2400" dirty="0">
                <a:latin typeface="Times New Roman" pitchFamily="18" charset="0"/>
                <a:cs typeface="Times New Roman" pitchFamily="18" charset="0"/>
              </a:rPr>
              <a:t>      ))}</a:t>
            </a:r>
          </a:p>
          <a:p>
            <a:pPr marL="0" indent="0">
              <a:buNone/>
            </a:pP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ul</a:t>
            </a:r>
            <a:r>
              <a:rPr lang="en-US" sz="2400" dirty="0" smtClean="0">
                <a:latin typeface="Times New Roman" pitchFamily="18" charset="0"/>
                <a:cs typeface="Times New Roman" pitchFamily="18" charset="0"/>
              </a:rPr>
              <a:t>&gt;   ); }</a:t>
            </a:r>
          </a:p>
          <a:p>
            <a:pPr marL="0" indent="0">
              <a:buNone/>
            </a:pPr>
            <a:r>
              <a:rPr lang="en-US" sz="2400" dirty="0" smtClean="0">
                <a:latin typeface="Times New Roman" pitchFamily="18" charset="0"/>
                <a:cs typeface="Times New Roman" pitchFamily="18" charset="0"/>
              </a:rPr>
              <a:t>export </a:t>
            </a:r>
            <a:r>
              <a:rPr lang="en-US" sz="2400" dirty="0">
                <a:latin typeface="Times New Roman" pitchFamily="18" charset="0"/>
                <a:cs typeface="Times New Roman" pitchFamily="18" charset="0"/>
              </a:rPr>
              <a:t>default App;</a:t>
            </a:r>
          </a:p>
          <a:p>
            <a:pPr marL="0" lvl="0" indent="0" fontAlgn="base">
              <a:buNone/>
            </a:pPr>
            <a:endParaRPr lang="en-US" sz="2400" dirty="0">
              <a:latin typeface="Times New Roman" pitchFamily="18" charset="0"/>
              <a:cs typeface="Times New Roman" pitchFamily="18" charset="0"/>
            </a:endParaRPr>
          </a:p>
          <a:p>
            <a:pPr marL="0" indent="0" fontAlgn="base">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459595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F5F3E1A-AFE4-3ACA-4A83-D45DBD539F6B}"/>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6B48D9A-725B-78B8-C546-D06D973A4DF8}"/>
              </a:ext>
            </a:extLst>
          </p:cNvPr>
          <p:cNvSpPr>
            <a:spLocks noGrp="1"/>
          </p:cNvSpPr>
          <p:nvPr>
            <p:ph idx="1"/>
          </p:nvPr>
        </p:nvSpPr>
        <p:spPr>
          <a:xfrm>
            <a:off x="0" y="0"/>
            <a:ext cx="12192000" cy="6858000"/>
          </a:xfrm>
        </p:spPr>
        <p:txBody>
          <a:bodyPr>
            <a:normAutofit/>
          </a:bodyPr>
          <a:lstStyle/>
          <a:p>
            <a:r>
              <a:rPr lang="en-US" sz="2400" b="1" dirty="0" smtClean="0">
                <a:latin typeface="Times New Roman" pitchFamily="18" charset="0"/>
                <a:cs typeface="Times New Roman" pitchFamily="18" charset="0"/>
              </a:rPr>
              <a:t>Why </a:t>
            </a:r>
            <a:r>
              <a:rPr lang="en-US" sz="2400" b="1" dirty="0">
                <a:latin typeface="Times New Roman" pitchFamily="18" charset="0"/>
                <a:cs typeface="Times New Roman" pitchFamily="18" charset="0"/>
              </a:rPr>
              <a:t>are Keys Important?</a:t>
            </a:r>
          </a:p>
          <a:p>
            <a:pPr marL="0" indent="0">
              <a:buNone/>
            </a:pPr>
            <a:r>
              <a:rPr lang="en-US" sz="2400" dirty="0">
                <a:latin typeface="Times New Roman" pitchFamily="18" charset="0"/>
                <a:cs typeface="Times New Roman" pitchFamily="18" charset="0"/>
              </a:rPr>
              <a:t>Identify each list item uniquely. </a:t>
            </a:r>
          </a:p>
          <a:p>
            <a:pPr marL="0" indent="0">
              <a:buNone/>
            </a:pPr>
            <a:r>
              <a:rPr lang="en-US" sz="2400" dirty="0">
                <a:latin typeface="Times New Roman" pitchFamily="18" charset="0"/>
                <a:cs typeface="Times New Roman" pitchFamily="18" charset="0"/>
              </a:rPr>
              <a:t>Help React update the UI efficiently. </a:t>
            </a:r>
          </a:p>
          <a:p>
            <a:pPr marL="0" indent="0">
              <a:buNone/>
            </a:pPr>
            <a:r>
              <a:rPr lang="en-US" sz="2400" dirty="0">
                <a:latin typeface="Times New Roman" pitchFamily="18" charset="0"/>
                <a:cs typeface="Times New Roman" pitchFamily="18" charset="0"/>
              </a:rPr>
              <a:t>Improve rendering performance. </a:t>
            </a:r>
          </a:p>
          <a:p>
            <a:pPr marL="0" indent="0">
              <a:buNone/>
            </a:pPr>
            <a:r>
              <a:rPr lang="en-US" sz="2400" dirty="0">
                <a:latin typeface="Times New Roman" pitchFamily="18" charset="0"/>
                <a:cs typeface="Times New Roman" pitchFamily="18" charset="0"/>
              </a:rPr>
              <a:t>Prevent unnecessary re-rendering of components.</a:t>
            </a:r>
          </a:p>
          <a:p>
            <a:r>
              <a:rPr lang="en-US" sz="2400" b="1" dirty="0">
                <a:latin typeface="Times New Roman" pitchFamily="18" charset="0"/>
                <a:cs typeface="Times New Roman" pitchFamily="18" charset="0"/>
              </a:rPr>
              <a:t>Advantages</a:t>
            </a:r>
          </a:p>
          <a:p>
            <a:pPr marL="0" indent="0">
              <a:buNone/>
            </a:pPr>
            <a:r>
              <a:rPr lang="en-US" sz="2400" dirty="0">
                <a:latin typeface="Times New Roman" pitchFamily="18" charset="0"/>
                <a:cs typeface="Times New Roman" pitchFamily="18" charset="0"/>
              </a:rPr>
              <a:t>Makes it easy to render dynamic data. </a:t>
            </a:r>
          </a:p>
          <a:p>
            <a:pPr marL="0" indent="0">
              <a:buNone/>
            </a:pPr>
            <a:r>
              <a:rPr lang="en-US" sz="2400" dirty="0">
                <a:latin typeface="Times New Roman" pitchFamily="18" charset="0"/>
                <a:cs typeface="Times New Roman" pitchFamily="18" charset="0"/>
              </a:rPr>
              <a:t>Reduces repetitive code. </a:t>
            </a:r>
          </a:p>
          <a:p>
            <a:pPr marL="0" indent="0">
              <a:buNone/>
            </a:pPr>
            <a:r>
              <a:rPr lang="en-US" sz="2400" dirty="0">
                <a:latin typeface="Times New Roman" pitchFamily="18" charset="0"/>
                <a:cs typeface="Times New Roman" pitchFamily="18" charset="0"/>
              </a:rPr>
              <a:t>Improves application performance. </a:t>
            </a:r>
          </a:p>
          <a:p>
            <a:pPr marL="0" indent="0">
              <a:buNone/>
            </a:pPr>
            <a:r>
              <a:rPr lang="en-US" sz="2400" dirty="0">
                <a:latin typeface="Times New Roman" pitchFamily="18" charset="0"/>
                <a:cs typeface="Times New Roman" pitchFamily="18" charset="0"/>
              </a:rPr>
              <a:t>Simplifies updating and managing lists.</a:t>
            </a:r>
          </a:p>
          <a:p>
            <a:pPr marL="0" indent="0" fontAlgn="base">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2674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1920</TotalTime>
  <Words>2343</Words>
  <Application>Microsoft Office PowerPoint</Application>
  <PresentationFormat>Custom</PresentationFormat>
  <Paragraphs>413</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Props, State, React Hooks, and Event Handling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BCS</dc:creator>
  <cp:lastModifiedBy>pc121</cp:lastModifiedBy>
  <cp:revision>135</cp:revision>
  <dcterms:created xsi:type="dcterms:W3CDTF">2025-07-24T04:16:38Z</dcterms:created>
  <dcterms:modified xsi:type="dcterms:W3CDTF">2026-09-24T09:48:39Z</dcterms:modified>
</cp:coreProperties>
</file>