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9" r:id="rId4"/>
    <p:sldId id="270" r:id="rId5"/>
    <p:sldId id="268" r:id="rId6"/>
    <p:sldId id="267" r:id="rId7"/>
    <p:sldId id="265" r:id="rId8"/>
    <p:sldId id="272" r:id="rId9"/>
    <p:sldId id="281" r:id="rId10"/>
    <p:sldId id="280" r:id="rId11"/>
    <p:sldId id="279" r:id="rId12"/>
    <p:sldId id="278" r:id="rId13"/>
    <p:sldId id="277" r:id="rId14"/>
    <p:sldId id="276" r:id="rId15"/>
    <p:sldId id="275" r:id="rId16"/>
    <p:sldId id="274" r:id="rId17"/>
    <p:sldId id="273" r:id="rId18"/>
    <p:sldId id="266" r:id="rId19"/>
    <p:sldId id="264" r:id="rId20"/>
    <p:sldId id="263" r:id="rId21"/>
    <p:sldId id="262" r:id="rId22"/>
    <p:sldId id="282" r:id="rId23"/>
    <p:sldId id="261" r:id="rId24"/>
    <p:sldId id="260" r:id="rId25"/>
    <p:sldId id="25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C856DA-9806-46DF-8151-3748A37C5E1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3927298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C856DA-9806-46DF-8151-3748A37C5E1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36609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C856DA-9806-46DF-8151-3748A37C5E1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70666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C856DA-9806-46DF-8151-3748A37C5E1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43392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C856DA-9806-46DF-8151-3748A37C5E1C}"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182454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C856DA-9806-46DF-8151-3748A37C5E1C}"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71164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C856DA-9806-46DF-8151-3748A37C5E1C}"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1374874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C856DA-9806-46DF-8151-3748A37C5E1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54901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C856DA-9806-46DF-8151-3748A37C5E1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389033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C856DA-9806-46DF-8151-3748A37C5E1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3298525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C856DA-9806-46DF-8151-3748A37C5E1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FD84B0-D88A-4278-A157-F35C61405745}" type="slidenum">
              <a:rPr lang="en-US" smtClean="0"/>
              <a:t>‹#›</a:t>
            </a:fld>
            <a:endParaRPr lang="en-US"/>
          </a:p>
        </p:txBody>
      </p:sp>
    </p:spTree>
    <p:extLst>
      <p:ext uri="{BB962C8B-B14F-4D97-AF65-F5344CB8AC3E}">
        <p14:creationId xmlns:p14="http://schemas.microsoft.com/office/powerpoint/2010/main" val="4221321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856DA-9806-46DF-8151-3748A37C5E1C}"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FD84B0-D88A-4278-A157-F35C61405745}" type="slidenum">
              <a:rPr lang="en-US" smtClean="0"/>
              <a:t>‹#›</a:t>
            </a:fld>
            <a:endParaRPr lang="en-US"/>
          </a:p>
        </p:txBody>
      </p:sp>
    </p:spTree>
    <p:extLst>
      <p:ext uri="{BB962C8B-B14F-4D97-AF65-F5344CB8AC3E}">
        <p14:creationId xmlns:p14="http://schemas.microsoft.com/office/powerpoint/2010/main" val="1165330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3600"/>
            <a:ext cx="7772400" cy="1470025"/>
          </a:xfrm>
        </p:spPr>
        <p:txBody>
          <a:bodyPr/>
          <a:lstStyle/>
          <a:p>
            <a:r>
              <a:rPr lang="en-US" b="1" dirty="0">
                <a:latin typeface="Times New Roman" panose="02020603050405020304" pitchFamily="18" charset="0"/>
                <a:cs typeface="Times New Roman" panose="02020603050405020304" pitchFamily="18" charset="0"/>
              </a:rPr>
              <a:t>FLUX, REDUX</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133600" y="3886200"/>
            <a:ext cx="6400800" cy="1752600"/>
          </a:xfrm>
        </p:spPr>
        <p:txBody>
          <a:bodyPr>
            <a:normAutofit/>
          </a:bodyPr>
          <a:lstStyle/>
          <a:p>
            <a:pPr algn="r"/>
            <a:r>
              <a:rPr lang="en-US" sz="2400" dirty="0" smtClean="0">
                <a:solidFill>
                  <a:schemeClr val="tx1"/>
                </a:solidFill>
                <a:latin typeface="Times New Roman" panose="02020603050405020304" pitchFamily="18" charset="0"/>
                <a:cs typeface="Times New Roman" panose="02020603050405020304" pitchFamily="18" charset="0"/>
              </a:rPr>
              <a:t>By Prof. </a:t>
            </a:r>
            <a:r>
              <a:rPr lang="en-US" sz="2400" dirty="0" err="1" smtClean="0">
                <a:solidFill>
                  <a:schemeClr val="tx1"/>
                </a:solidFill>
                <a:latin typeface="Times New Roman" panose="02020603050405020304" pitchFamily="18" charset="0"/>
                <a:cs typeface="Times New Roman" panose="02020603050405020304" pitchFamily="18" charset="0"/>
              </a:rPr>
              <a:t>Soleha</a:t>
            </a:r>
            <a:r>
              <a:rPr lang="en-US" sz="2400" dirty="0" smtClean="0">
                <a:solidFill>
                  <a:schemeClr val="tx1"/>
                </a:solidFill>
                <a:latin typeface="Times New Roman" panose="02020603050405020304" pitchFamily="18" charset="0"/>
                <a:cs typeface="Times New Roman" panose="02020603050405020304" pitchFamily="18" charset="0"/>
              </a:rPr>
              <a:t> A </a:t>
            </a:r>
            <a:r>
              <a:rPr lang="en-US" sz="2400" dirty="0" err="1" smtClean="0">
                <a:solidFill>
                  <a:schemeClr val="tx1"/>
                </a:solidFill>
                <a:latin typeface="Times New Roman" panose="02020603050405020304" pitchFamily="18" charset="0"/>
                <a:cs typeface="Times New Roman" panose="02020603050405020304" pitchFamily="18" charset="0"/>
              </a:rPr>
              <a:t>Sayyed</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9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Introduction to </a:t>
            </a:r>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Flux</a:t>
            </a:r>
          </a:p>
          <a:p>
            <a:pPr marL="0" indent="0">
              <a:buNone/>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Flux is a programming concept, where the data is </a:t>
            </a:r>
            <a:r>
              <a:rPr lang="en-US" sz="2400" dirty="0" err="1">
                <a:solidFill>
                  <a:schemeClr val="tx1">
                    <a:lumMod val="95000"/>
                    <a:lumOff val="5000"/>
                  </a:schemeClr>
                </a:solidFill>
                <a:latin typeface="Times New Roman" panose="02020603050405020304" pitchFamily="18" charset="0"/>
                <a:cs typeface="Times New Roman" panose="02020603050405020304" pitchFamily="18" charset="0"/>
              </a:rPr>
              <a:t>uni</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-directional. </a:t>
            </a:r>
            <a:endPar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This </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data enters the app and flows through it in one </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direction </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until it is rendered on the screen</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a:t>
            </a:r>
          </a:p>
          <a:p>
            <a:pPr marL="0" indent="0">
              <a:buNone/>
            </a:pP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Flux Elements</a:t>
            </a:r>
          </a:p>
          <a:p>
            <a:pPr marL="0" indent="0">
              <a:buNone/>
            </a:pP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Following is a simple explanation of the flux concept. In the next chapter, we will learn how to implement this into the app</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a:t>
            </a:r>
          </a:p>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Actions</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 Actions are sent to the dispatcher to trigger the data flow.</a:t>
            </a:r>
          </a:p>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Dispatcher</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 This is a central hub of the app. All the data is dispatched and sent to the stores.</a:t>
            </a:r>
          </a:p>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Store</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 Store is the place where the application state and logic are held. Every store is maintaining a particular state and it will update when needed.</a:t>
            </a:r>
          </a:p>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View</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 The </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view</a:t>
            </a: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will receive data from the store and re-render the app.</a:t>
            </a:r>
          </a:p>
          <a:p>
            <a:pPr marL="0" indent="0">
              <a:buNone/>
            </a:pPr>
            <a:endPar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350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fontAlgn="base">
              <a:buNone/>
            </a:pPr>
            <a:r>
              <a:rPr lang="en-US" sz="2400" b="1" dirty="0" smtClean="0">
                <a:latin typeface="Times New Roman" panose="02020603050405020304" pitchFamily="18" charset="0"/>
                <a:cs typeface="Times New Roman" panose="02020603050405020304" pitchFamily="18" charset="0"/>
              </a:rPr>
              <a:t>Flux Architecture:</a:t>
            </a:r>
          </a:p>
          <a:p>
            <a:pPr marL="457200" indent="-457200" fontAlgn="base">
              <a:buFont typeface="+mj-lt"/>
              <a:buAutoNum type="arabicPeriod"/>
            </a:pPr>
            <a:r>
              <a:rPr lang="en-US" sz="2400" b="1" dirty="0">
                <a:latin typeface="Times New Roman" panose="02020603050405020304" pitchFamily="18" charset="0"/>
                <a:cs typeface="Times New Roman" panose="02020603050405020304" pitchFamily="18" charset="0"/>
              </a:rPr>
              <a:t>Flux Architecture</a:t>
            </a:r>
            <a:r>
              <a:rPr lang="en-US" sz="2400" dirty="0">
                <a:latin typeface="Times New Roman" panose="02020603050405020304" pitchFamily="18" charset="0"/>
                <a:cs typeface="Times New Roman" panose="02020603050405020304" pitchFamily="18" charset="0"/>
              </a:rPr>
              <a:t> is an application architecture introduced </a:t>
            </a:r>
            <a:r>
              <a:rPr lang="en-US" sz="2400" dirty="0" smtClean="0">
                <a:latin typeface="Times New Roman" panose="02020603050405020304" pitchFamily="18" charset="0"/>
                <a:cs typeface="Times New Roman" panose="02020603050405020304" pitchFamily="18" charset="0"/>
              </a:rPr>
              <a:t>by Facebook for </a:t>
            </a:r>
            <a:r>
              <a:rPr lang="en-US" sz="2400" dirty="0">
                <a:latin typeface="Times New Roman" panose="02020603050405020304" pitchFamily="18" charset="0"/>
                <a:cs typeface="Times New Roman" panose="02020603050405020304" pitchFamily="18" charset="0"/>
              </a:rPr>
              <a:t>building predictable and maintainable user interfaces, especially with React. </a:t>
            </a:r>
            <a:endParaRPr lang="en-US" sz="2400" dirty="0" smtClean="0">
              <a:latin typeface="Times New Roman" panose="02020603050405020304" pitchFamily="18" charset="0"/>
              <a:cs typeface="Times New Roman" panose="02020603050405020304" pitchFamily="18" charset="0"/>
            </a:endParaRPr>
          </a:p>
          <a:p>
            <a:pPr marL="457200" indent="-457200" fontAlgn="base">
              <a:buFont typeface="+mj-lt"/>
              <a:buAutoNum type="arabicPeriod"/>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uses a </a:t>
            </a:r>
            <a:r>
              <a:rPr lang="en-US" sz="2400" b="1" dirty="0">
                <a:latin typeface="Times New Roman" panose="02020603050405020304" pitchFamily="18" charset="0"/>
                <a:cs typeface="Times New Roman" panose="02020603050405020304" pitchFamily="18" charset="0"/>
              </a:rPr>
              <a:t>one-way data flow</a:t>
            </a:r>
            <a:r>
              <a:rPr lang="en-US" sz="2400" dirty="0">
                <a:latin typeface="Times New Roman" panose="02020603050405020304" pitchFamily="18" charset="0"/>
                <a:cs typeface="Times New Roman" panose="02020603050405020304" pitchFamily="18" charset="0"/>
              </a:rPr>
              <a:t>, making it easier to understand how data changes over time.</a:t>
            </a:r>
            <a:endParaRPr lang="en-US" sz="2400" b="1" dirty="0" smtClean="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362200"/>
            <a:ext cx="3762632"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descr="Top 70 React Interview Questions &amp; Answers in 2025 [Upda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159000"/>
            <a:ext cx="4343398" cy="289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00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Actions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Represent </a:t>
            </a:r>
            <a:r>
              <a:rPr lang="en-US" sz="2400" dirty="0">
                <a:latin typeface="Times New Roman" panose="02020603050405020304" pitchFamily="18" charset="0"/>
                <a:cs typeface="Times New Roman" panose="02020603050405020304" pitchFamily="18" charset="0"/>
              </a:rPr>
              <a:t>events or user interactions. </a:t>
            </a:r>
          </a:p>
          <a:p>
            <a:r>
              <a:rPr lang="en-US" sz="2400" dirty="0">
                <a:latin typeface="Times New Roman" panose="02020603050405020304" pitchFamily="18" charset="0"/>
                <a:cs typeface="Times New Roman" panose="02020603050405020304" pitchFamily="18" charset="0"/>
              </a:rPr>
              <a:t>Carry data (payload) to the dispatcher. </a:t>
            </a:r>
          </a:p>
          <a:p>
            <a:r>
              <a:rPr lang="en-US" sz="2400" dirty="0">
                <a:latin typeface="Times New Roman" panose="02020603050405020304" pitchFamily="18" charset="0"/>
                <a:cs typeface="Times New Roman" panose="02020603050405020304" pitchFamily="18" charset="0"/>
              </a:rPr>
              <a:t>Example: Clicking a "Submit" button creates a SUBMIT_FORM action. </a:t>
            </a:r>
          </a:p>
          <a:p>
            <a:pPr marL="457200" indent="-457200">
              <a:buAutoNum type="arabicPeriod" startAt="2"/>
            </a:pPr>
            <a:r>
              <a:rPr lang="en-US" sz="2400" b="1" dirty="0" smtClean="0">
                <a:latin typeface="Times New Roman" panose="02020603050405020304" pitchFamily="18" charset="0"/>
                <a:cs typeface="Times New Roman" panose="02020603050405020304" pitchFamily="18" charset="0"/>
              </a:rPr>
              <a:t>Dispatcher</a:t>
            </a:r>
            <a:r>
              <a:rPr lang="en-US" sz="2400" dirty="0" smtClean="0">
                <a:latin typeface="Times New Roman" panose="02020603050405020304" pitchFamily="18" charset="0"/>
                <a:cs typeface="Times New Roman" panose="02020603050405020304" pitchFamily="18" charset="0"/>
              </a:rPr>
              <a:t> </a:t>
            </a: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central hub that receives actions. </a:t>
            </a:r>
          </a:p>
          <a:p>
            <a:r>
              <a:rPr lang="en-US" sz="2400" dirty="0">
                <a:latin typeface="Times New Roman" panose="02020603050405020304" pitchFamily="18" charset="0"/>
                <a:cs typeface="Times New Roman" panose="02020603050405020304" pitchFamily="18" charset="0"/>
              </a:rPr>
              <a:t>Sends each action to all registered stores. </a:t>
            </a:r>
          </a:p>
          <a:p>
            <a:r>
              <a:rPr lang="en-US" sz="2400" dirty="0">
                <a:latin typeface="Times New Roman" panose="02020603050405020304" pitchFamily="18" charset="0"/>
                <a:cs typeface="Times New Roman" panose="02020603050405020304" pitchFamily="18" charset="0"/>
              </a:rPr>
              <a:t>Ensures a controlled flow of data. </a:t>
            </a:r>
          </a:p>
          <a:p>
            <a:pPr marL="457200" indent="-457200">
              <a:buAutoNum type="arabicPeriod" startAt="3"/>
            </a:pPr>
            <a:r>
              <a:rPr lang="en-US" sz="2400" b="1" dirty="0" smtClean="0">
                <a:latin typeface="Times New Roman" panose="02020603050405020304" pitchFamily="18" charset="0"/>
                <a:cs typeface="Times New Roman" panose="02020603050405020304" pitchFamily="18" charset="0"/>
              </a:rPr>
              <a:t>Stores</a:t>
            </a:r>
            <a:r>
              <a:rPr lang="en-US" sz="2400" dirty="0" smtClean="0">
                <a:latin typeface="Times New Roman" panose="02020603050405020304" pitchFamily="18" charset="0"/>
                <a:cs typeface="Times New Roman" panose="02020603050405020304" pitchFamily="18" charset="0"/>
              </a:rPr>
              <a:t> </a:t>
            </a:r>
          </a:p>
          <a:p>
            <a:r>
              <a:rPr lang="en-US" sz="2400" dirty="0" smtClean="0">
                <a:latin typeface="Times New Roman" panose="02020603050405020304" pitchFamily="18" charset="0"/>
                <a:cs typeface="Times New Roman" panose="02020603050405020304" pitchFamily="18" charset="0"/>
              </a:rPr>
              <a:t>Hold </a:t>
            </a:r>
            <a:r>
              <a:rPr lang="en-US" sz="2400" dirty="0">
                <a:latin typeface="Times New Roman" panose="02020603050405020304" pitchFamily="18" charset="0"/>
                <a:cs typeface="Times New Roman" panose="02020603050405020304" pitchFamily="18" charset="0"/>
              </a:rPr>
              <a:t>the application's state and business logic. </a:t>
            </a:r>
          </a:p>
          <a:p>
            <a:r>
              <a:rPr lang="en-US" sz="2400" dirty="0">
                <a:latin typeface="Times New Roman" panose="02020603050405020304" pitchFamily="18" charset="0"/>
                <a:cs typeface="Times New Roman" panose="02020603050405020304" pitchFamily="18" charset="0"/>
              </a:rPr>
              <a:t>Update their data in response to dispatched actions. </a:t>
            </a:r>
          </a:p>
          <a:p>
            <a:r>
              <a:rPr lang="en-US" sz="2400" dirty="0">
                <a:latin typeface="Times New Roman" panose="02020603050405020304" pitchFamily="18" charset="0"/>
                <a:cs typeface="Times New Roman" panose="02020603050405020304" pitchFamily="18" charset="0"/>
              </a:rPr>
              <a:t>Notify views when data changes. </a:t>
            </a:r>
          </a:p>
          <a:p>
            <a:pPr marL="457200" indent="-457200">
              <a:buAutoNum type="arabicPeriod" startAt="4"/>
            </a:pPr>
            <a:r>
              <a:rPr lang="en-US" sz="2400" b="1" dirty="0" smtClean="0">
                <a:latin typeface="Times New Roman" panose="02020603050405020304" pitchFamily="18" charset="0"/>
                <a:cs typeface="Times New Roman" panose="02020603050405020304" pitchFamily="18" charset="0"/>
              </a:rPr>
              <a:t>Views </a:t>
            </a:r>
            <a:r>
              <a:rPr lang="en-US" sz="2400" b="1" dirty="0">
                <a:latin typeface="Times New Roman" panose="02020603050405020304" pitchFamily="18" charset="0"/>
                <a:cs typeface="Times New Roman" panose="02020603050405020304" pitchFamily="18" charset="0"/>
              </a:rPr>
              <a:t>(React Components)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Display </a:t>
            </a:r>
            <a:r>
              <a:rPr lang="en-US" sz="2400" dirty="0">
                <a:latin typeface="Times New Roman" panose="02020603050405020304" pitchFamily="18" charset="0"/>
                <a:cs typeface="Times New Roman" panose="02020603050405020304" pitchFamily="18" charset="0"/>
              </a:rPr>
              <a:t>data from the stores. </a:t>
            </a:r>
          </a:p>
          <a:p>
            <a:r>
              <a:rPr lang="en-US" sz="2400" dirty="0">
                <a:latin typeface="Times New Roman" panose="02020603050405020304" pitchFamily="18" charset="0"/>
                <a:cs typeface="Times New Roman" panose="02020603050405020304" pitchFamily="18" charset="0"/>
              </a:rPr>
              <a:t>Listen for store updates and re-render when data changes. </a:t>
            </a:r>
          </a:p>
          <a:p>
            <a:r>
              <a:rPr lang="en-US" sz="2400" dirty="0">
                <a:latin typeface="Times New Roman" panose="02020603050405020304" pitchFamily="18" charset="0"/>
                <a:cs typeface="Times New Roman" panose="02020603050405020304" pitchFamily="18" charset="0"/>
              </a:rPr>
              <a:t>Trigger new actions based on user interactions.</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4746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smtClean="0">
                <a:latin typeface="Times New Roman" panose="02020603050405020304" pitchFamily="18" charset="0"/>
                <a:cs typeface="Times New Roman" panose="02020603050405020304" pitchFamily="18" charset="0"/>
              </a:rPr>
              <a:t>Data Flow in Flux</a:t>
            </a:r>
          </a:p>
          <a:p>
            <a:pPr marL="0" indent="0">
              <a:buNone/>
            </a:pPr>
            <a:r>
              <a:rPr lang="en-US" sz="2400" dirty="0">
                <a:latin typeface="Times New Roman" panose="02020603050405020304" pitchFamily="18" charset="0"/>
                <a:cs typeface="Times New Roman" panose="02020603050405020304" pitchFamily="18" charset="0"/>
              </a:rPr>
              <a:t>User Action</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Action</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Dispatcher</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Store</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View</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User sees updated UI</a:t>
            </a:r>
          </a:p>
        </p:txBody>
      </p:sp>
      <p:sp>
        <p:nvSpPr>
          <p:cNvPr id="2" name="TextBox 1"/>
          <p:cNvSpPr txBox="1"/>
          <p:nvPr/>
        </p:nvSpPr>
        <p:spPr>
          <a:xfrm>
            <a:off x="2959100" y="1219200"/>
            <a:ext cx="6101350" cy="3046988"/>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Example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Suppose a user clicks a </a:t>
            </a:r>
            <a:r>
              <a:rPr lang="en-US" sz="2400" b="1" dirty="0">
                <a:latin typeface="Times New Roman" panose="02020603050405020304" pitchFamily="18" charset="0"/>
                <a:cs typeface="Times New Roman" panose="02020603050405020304" pitchFamily="18" charset="0"/>
              </a:rPr>
              <a:t>Like</a:t>
            </a:r>
            <a:r>
              <a:rPr lang="en-US" sz="2400" dirty="0">
                <a:latin typeface="Times New Roman" panose="02020603050405020304" pitchFamily="18" charset="0"/>
                <a:cs typeface="Times New Roman" panose="02020603050405020304" pitchFamily="18" charset="0"/>
              </a:rPr>
              <a:t> button:</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User clicks </a:t>
            </a:r>
            <a:r>
              <a:rPr lang="en-US" sz="2400" b="1" dirty="0">
                <a:latin typeface="Times New Roman" panose="02020603050405020304" pitchFamily="18" charset="0"/>
                <a:cs typeface="Times New Roman" panose="02020603050405020304" pitchFamily="18" charset="0"/>
              </a:rPr>
              <a:t>Like</a:t>
            </a:r>
            <a:r>
              <a:rPr lang="en-US"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An action LIKE_POST is created.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dispatcher sends the action to the store.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store updates the like count.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view re-renders with the updated count.</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8944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smtClean="0">
                <a:latin typeface="Times New Roman" panose="02020603050405020304" pitchFamily="18" charset="0"/>
                <a:cs typeface="Times New Roman" panose="02020603050405020304" pitchFamily="18" charset="0"/>
              </a:rPr>
              <a:t>Advantages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Predictable and easy-to-follow data flow. </a:t>
            </a:r>
            <a:endParaRPr lang="en-US"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Easier </a:t>
            </a:r>
            <a:r>
              <a:rPr lang="en-US" sz="2400" dirty="0">
                <a:latin typeface="Times New Roman" panose="02020603050405020304" pitchFamily="18" charset="0"/>
                <a:cs typeface="Times New Roman" panose="02020603050405020304" pitchFamily="18" charset="0"/>
              </a:rPr>
              <a:t>debugging and testing. </a:t>
            </a:r>
            <a:endParaRPr lang="en-US" sz="240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Clear </a:t>
            </a:r>
            <a:r>
              <a:rPr lang="en-US" sz="2400" dirty="0">
                <a:latin typeface="Times New Roman" panose="02020603050405020304" pitchFamily="18" charset="0"/>
                <a:cs typeface="Times New Roman" panose="02020603050405020304" pitchFamily="18" charset="0"/>
              </a:rPr>
              <a:t>separation of concerns. Better scalability for large applications</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Disadvantages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Requires more boilerplate code than simpler state management approaches.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Can be overly complex for small applications.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Managing multiple stores can become challenging.</a:t>
            </a:r>
          </a:p>
          <a:p>
            <a:pPr marL="0" indent="0">
              <a:buNone/>
            </a:pPr>
            <a:endParaRPr lang="en-US" sz="24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733477309"/>
              </p:ext>
            </p:extLst>
          </p:nvPr>
        </p:nvGraphicFramePr>
        <p:xfrm>
          <a:off x="1219200" y="4038600"/>
          <a:ext cx="6858000" cy="2682240"/>
        </p:xfrm>
        <a:graphic>
          <a:graphicData uri="http://schemas.openxmlformats.org/drawingml/2006/table">
            <a:tbl>
              <a:tblPr firstRow="1" bandRow="1">
                <a:tableStyleId>{5940675A-B579-460E-94D1-54222C63F5DA}</a:tableStyleId>
              </a:tblPr>
              <a:tblGrid>
                <a:gridCol w="3429000"/>
                <a:gridCol w="3429000"/>
              </a:tblGrid>
              <a:tr h="370840">
                <a:tc>
                  <a:txBody>
                    <a:bodyPr/>
                    <a:lstStyle/>
                    <a:p>
                      <a:pPr algn="ctr"/>
                      <a:r>
                        <a:rPr lang="en-US" sz="2000" b="1" dirty="0" smtClean="0">
                          <a:latin typeface="Times New Roman" panose="02020603050405020304" pitchFamily="18" charset="0"/>
                          <a:cs typeface="Times New Roman" panose="02020603050405020304" pitchFamily="18" charset="0"/>
                        </a:rPr>
                        <a:t>Flux</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b="1" dirty="0" smtClean="0">
                          <a:latin typeface="Times New Roman" panose="02020603050405020304" pitchFamily="18" charset="0"/>
                          <a:cs typeface="Times New Roman" panose="02020603050405020304" pitchFamily="18" charset="0"/>
                        </a:rPr>
                        <a:t>MVC</a:t>
                      </a:r>
                      <a:endParaRPr lang="en-US" sz="2000" b="1" dirty="0">
                        <a:latin typeface="Times New Roman" panose="02020603050405020304" pitchFamily="18" charset="0"/>
                        <a:cs typeface="Times New Roman" panose="02020603050405020304" pitchFamily="18" charset="0"/>
                      </a:endParaRPr>
                    </a:p>
                  </a:txBody>
                  <a:tcPr/>
                </a:tc>
              </a:tr>
              <a:tr h="370840">
                <a:tc>
                  <a:txBody>
                    <a:bodyPr/>
                    <a:lstStyle/>
                    <a:p>
                      <a:r>
                        <a:rPr lang="en-US" sz="2000" dirty="0">
                          <a:latin typeface="Times New Roman" panose="02020603050405020304" pitchFamily="18" charset="0"/>
                          <a:cs typeface="Times New Roman" panose="02020603050405020304" pitchFamily="18" charset="0"/>
                        </a:rPr>
                        <a:t>One-way data flow</a:t>
                      </a:r>
                    </a:p>
                  </a:txBody>
                  <a:tcPr anchor="ctr"/>
                </a:tc>
                <a:tc>
                  <a:txBody>
                    <a:bodyPr/>
                    <a:lstStyle/>
                    <a:p>
                      <a:r>
                        <a:rPr lang="en-US" sz="2000">
                          <a:latin typeface="Times New Roman" panose="02020603050405020304" pitchFamily="18" charset="0"/>
                          <a:cs typeface="Times New Roman" panose="02020603050405020304" pitchFamily="18" charset="0"/>
                        </a:rPr>
                        <a:t>Two-way data flow</a:t>
                      </a:r>
                    </a:p>
                  </a:txBody>
                  <a:tcPr anchor="ctr"/>
                </a:tc>
              </a:tr>
              <a:tr h="370840">
                <a:tc>
                  <a:txBody>
                    <a:bodyPr/>
                    <a:lstStyle/>
                    <a:p>
                      <a:r>
                        <a:rPr lang="en-US" sz="2000" dirty="0">
                          <a:latin typeface="Times New Roman" panose="02020603050405020304" pitchFamily="18" charset="0"/>
                          <a:cs typeface="Times New Roman" panose="02020603050405020304" pitchFamily="18" charset="0"/>
                        </a:rPr>
                        <a:t>Central dispatcher</a:t>
                      </a:r>
                    </a:p>
                  </a:txBody>
                  <a:tcPr anchor="ctr"/>
                </a:tc>
                <a:tc>
                  <a:txBody>
                    <a:bodyPr/>
                    <a:lstStyle/>
                    <a:p>
                      <a:r>
                        <a:rPr lang="en-US" sz="2000">
                          <a:latin typeface="Times New Roman" panose="02020603050405020304" pitchFamily="18" charset="0"/>
                          <a:cs typeface="Times New Roman" panose="02020603050405020304" pitchFamily="18" charset="0"/>
                        </a:rPr>
                        <a:t>Controller manages updates</a:t>
                      </a:r>
                    </a:p>
                  </a:txBody>
                  <a:tcPr anchor="ctr"/>
                </a:tc>
              </a:tr>
              <a:tr h="370840">
                <a:tc>
                  <a:txBody>
                    <a:bodyPr/>
                    <a:lstStyle/>
                    <a:p>
                      <a:r>
                        <a:rPr lang="en-US" sz="2000" dirty="0">
                          <a:latin typeface="Times New Roman" panose="02020603050405020304" pitchFamily="18" charset="0"/>
                          <a:cs typeface="Times New Roman" panose="02020603050405020304" pitchFamily="18" charset="0"/>
                        </a:rPr>
                        <a:t>Stores manage state</a:t>
                      </a:r>
                    </a:p>
                  </a:txBody>
                  <a:tcPr anchor="ctr"/>
                </a:tc>
                <a:tc>
                  <a:txBody>
                    <a:bodyPr/>
                    <a:lstStyle/>
                    <a:p>
                      <a:r>
                        <a:rPr lang="en-US" sz="2000">
                          <a:latin typeface="Times New Roman" panose="02020603050405020304" pitchFamily="18" charset="0"/>
                          <a:cs typeface="Times New Roman" panose="02020603050405020304" pitchFamily="18" charset="0"/>
                        </a:rPr>
                        <a:t>Models manage data</a:t>
                      </a:r>
                    </a:p>
                  </a:txBody>
                  <a:tcPr anchor="ctr"/>
                </a:tc>
              </a:tr>
              <a:tr h="370840">
                <a:tc>
                  <a:txBody>
                    <a:bodyPr/>
                    <a:lstStyle/>
                    <a:p>
                      <a:r>
                        <a:rPr lang="en-US" sz="2000" dirty="0">
                          <a:latin typeface="Times New Roman" panose="02020603050405020304" pitchFamily="18" charset="0"/>
                          <a:cs typeface="Times New Roman" panose="02020603050405020304" pitchFamily="18" charset="0"/>
                        </a:rPr>
                        <a:t>Easier to trace state changes</a:t>
                      </a:r>
                    </a:p>
                  </a:txBody>
                  <a:tcPr anchor="ctr"/>
                </a:tc>
                <a:tc>
                  <a:txBody>
                    <a:bodyPr/>
                    <a:lstStyle/>
                    <a:p>
                      <a:r>
                        <a:rPr lang="en-US" sz="2000" dirty="0">
                          <a:latin typeface="Times New Roman" panose="02020603050405020304" pitchFamily="18" charset="0"/>
                          <a:cs typeface="Times New Roman" panose="02020603050405020304" pitchFamily="18" charset="0"/>
                        </a:rPr>
                        <a:t>More complex in large applications</a:t>
                      </a:r>
                    </a:p>
                  </a:txBody>
                  <a:tcPr anchor="ctr"/>
                </a:tc>
              </a:tr>
              <a:tr h="370840">
                <a:tc>
                  <a:txBody>
                    <a:bodyPr/>
                    <a:lstStyle/>
                    <a:p>
                      <a:r>
                        <a:rPr lang="en-US" sz="2000">
                          <a:latin typeface="Times New Roman" panose="02020603050405020304" pitchFamily="18" charset="0"/>
                          <a:cs typeface="Times New Roman" panose="02020603050405020304" pitchFamily="18" charset="0"/>
                        </a:rPr>
                        <a:t>Well-suited for React</a:t>
                      </a:r>
                    </a:p>
                  </a:txBody>
                  <a:tcPr anchor="ctr"/>
                </a:tc>
                <a:tc>
                  <a:txBody>
                    <a:bodyPr/>
                    <a:lstStyle/>
                    <a:p>
                      <a:r>
                        <a:rPr lang="en-US" sz="2000" dirty="0">
                          <a:latin typeface="Times New Roman" panose="02020603050405020304" pitchFamily="18" charset="0"/>
                          <a:cs typeface="Times New Roman" panose="02020603050405020304" pitchFamily="18" charset="0"/>
                        </a:rPr>
                        <a:t>General-purpose architecture</a:t>
                      </a:r>
                    </a:p>
                  </a:txBody>
                  <a:tcPr anchor="ctr"/>
                </a:tc>
              </a:tr>
            </a:tbl>
          </a:graphicData>
        </a:graphic>
      </p:graphicFrame>
    </p:spTree>
    <p:extLst>
      <p:ext uri="{BB962C8B-B14F-4D97-AF65-F5344CB8AC3E}">
        <p14:creationId xmlns:p14="http://schemas.microsoft.com/office/powerpoint/2010/main" val="284852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lvl="0" indent="0">
              <a:buNone/>
            </a:pPr>
            <a:r>
              <a:rPr lang="en-US" sz="2800" b="1" dirty="0">
                <a:latin typeface="Times New Roman" panose="02020603050405020304" pitchFamily="18" charset="0"/>
                <a:cs typeface="Times New Roman" panose="02020603050405020304" pitchFamily="18" charset="0"/>
              </a:rPr>
              <a:t>Flux Components</a:t>
            </a:r>
          </a:p>
          <a:p>
            <a:pPr marL="0" indent="0" fontAlgn="base">
              <a:buNone/>
            </a:pPr>
            <a:r>
              <a:rPr lang="en-US" sz="2800" b="1" dirty="0">
                <a:latin typeface="Times New Roman" panose="02020603050405020304" pitchFamily="18" charset="0"/>
                <a:cs typeface="Times New Roman" panose="02020603050405020304" pitchFamily="18" charset="0"/>
              </a:rPr>
              <a:t>Four major components of Flux:</a:t>
            </a:r>
            <a:endParaRPr lang="en-US" sz="2800" dirty="0">
              <a:latin typeface="Times New Roman" panose="02020603050405020304" pitchFamily="18" charset="0"/>
              <a:cs typeface="Times New Roman" panose="02020603050405020304" pitchFamily="18" charset="0"/>
            </a:endParaRPr>
          </a:p>
          <a:p>
            <a:pPr marL="0" indent="0" fontAlgn="base">
              <a:buNone/>
            </a:pPr>
            <a:r>
              <a:rPr lang="en-US" sz="2800" b="1" dirty="0">
                <a:latin typeface="Times New Roman" panose="02020603050405020304" pitchFamily="18" charset="0"/>
                <a:cs typeface="Times New Roman" panose="02020603050405020304" pitchFamily="18" charset="0"/>
              </a:rPr>
              <a:t>Dispatcher: </a:t>
            </a:r>
            <a:r>
              <a:rPr lang="en-US" sz="2800" dirty="0">
                <a:latin typeface="Times New Roman" panose="02020603050405020304" pitchFamily="18" charset="0"/>
                <a:cs typeface="Times New Roman" panose="02020603050405020304" pitchFamily="18" charset="0"/>
              </a:rPr>
              <a:t>It coordinates actions and updates to stores.</a:t>
            </a:r>
          </a:p>
          <a:p>
            <a:pPr marL="0" indent="0" fontAlgn="base">
              <a:buNone/>
            </a:pPr>
            <a:r>
              <a:rPr lang="en-US" sz="2800" b="1" dirty="0">
                <a:latin typeface="Times New Roman" panose="02020603050405020304" pitchFamily="18" charset="0"/>
                <a:cs typeface="Times New Roman" panose="02020603050405020304" pitchFamily="18" charset="0"/>
              </a:rPr>
              <a:t>Stores: </a:t>
            </a:r>
            <a:r>
              <a:rPr lang="en-US" sz="2800" dirty="0">
                <a:latin typeface="Times New Roman" panose="02020603050405020304" pitchFamily="18" charset="0"/>
                <a:cs typeface="Times New Roman" panose="02020603050405020304" pitchFamily="18" charset="0"/>
              </a:rPr>
              <a:t>It serves as a container for the app state and logic</a:t>
            </a:r>
          </a:p>
          <a:p>
            <a:pPr marL="0" indent="0" fontAlgn="base">
              <a:buNone/>
            </a:pPr>
            <a:r>
              <a:rPr lang="en-US" sz="2800" b="1" dirty="0">
                <a:latin typeface="Times New Roman" panose="02020603050405020304" pitchFamily="18" charset="0"/>
                <a:cs typeface="Times New Roman" panose="02020603050405020304" pitchFamily="18" charset="0"/>
              </a:rPr>
              <a:t>Actions: </a:t>
            </a:r>
            <a:r>
              <a:rPr lang="en-US" sz="2800" dirty="0">
                <a:latin typeface="Times New Roman" panose="02020603050405020304" pitchFamily="18" charset="0"/>
                <a:cs typeface="Times New Roman" panose="02020603050405020304" pitchFamily="18" charset="0"/>
              </a:rPr>
              <a:t>It enables data passing to the dispatcher</a:t>
            </a:r>
          </a:p>
          <a:p>
            <a:pPr marL="0" indent="0" fontAlgn="base">
              <a:buNone/>
            </a:pPr>
            <a:r>
              <a:rPr lang="en-US" sz="2800" b="1" dirty="0">
                <a:latin typeface="Times New Roman" panose="02020603050405020304" pitchFamily="18" charset="0"/>
                <a:cs typeface="Times New Roman" panose="02020603050405020304" pitchFamily="18" charset="0"/>
              </a:rPr>
              <a:t>Views: </a:t>
            </a:r>
            <a:r>
              <a:rPr lang="en-US" sz="2800" dirty="0">
                <a:latin typeface="Times New Roman" panose="02020603050405020304" pitchFamily="18" charset="0"/>
                <a:cs typeface="Times New Roman" panose="02020603050405020304" pitchFamily="18" charset="0"/>
              </a:rPr>
              <a:t>It is the same as the view in MVC architecture but in the context of React components</a:t>
            </a:r>
            <a:r>
              <a:rPr lang="en-US" sz="2800" dirty="0" smtClean="0">
                <a:latin typeface="Times New Roman" panose="02020603050405020304" pitchFamily="18" charset="0"/>
                <a:cs typeface="Times New Roman" panose="02020603050405020304" pitchFamily="18" charset="0"/>
              </a:rPr>
              <a:t>.</a:t>
            </a:r>
          </a:p>
          <a:p>
            <a:pPr marL="0" indent="0" fontAlgn="base">
              <a:buNone/>
            </a:pPr>
            <a:r>
              <a:rPr lang="en-US" sz="2800" b="1" dirty="0" smtClean="0">
                <a:latin typeface="Times New Roman" panose="02020603050405020304" pitchFamily="18" charset="0"/>
                <a:cs typeface="Times New Roman" panose="02020603050405020304" pitchFamily="18" charset="0"/>
              </a:rPr>
              <a:t>Flow:</a:t>
            </a:r>
          </a:p>
          <a:p>
            <a:pPr marL="0" indent="0" fontAlgn="base">
              <a:buNone/>
            </a:pPr>
            <a:r>
              <a:rPr lang="en-US" sz="2800" dirty="0">
                <a:latin typeface="Times New Roman" panose="02020603050405020304" pitchFamily="18" charset="0"/>
                <a:cs typeface="Times New Roman" panose="02020603050405020304" pitchFamily="18" charset="0"/>
              </a:rPr>
              <a:t>Action =&gt; Dispatcher =&gt; Store =&gt; View</a:t>
            </a:r>
          </a:p>
          <a:p>
            <a:pPr marL="0" indent="0">
              <a:buNone/>
            </a:pPr>
            <a:endParaRPr lang="en-US" sz="28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648200"/>
            <a:ext cx="571658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0255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a:bodyPr>
          <a:lstStyle/>
          <a:p>
            <a:pPr marL="0" indent="0" fontAlgn="base">
              <a:buNone/>
            </a:pPr>
            <a:r>
              <a:rPr lang="en-US" sz="2800" b="1" dirty="0">
                <a:latin typeface="Times New Roman" panose="02020603050405020304" pitchFamily="18" charset="0"/>
                <a:cs typeface="Times New Roman" panose="02020603050405020304" pitchFamily="18" charset="0"/>
              </a:rPr>
              <a:t>Dispatcher:</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dispatcher is the central hub that manages all Data flow in a flux application, essentially a registry of callbacks into the stores having no intelligence of its own, or we can say that it is a simple mechanism for distributing the actions to the stores.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is the epicenter of the data flow in any Flux application</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controls what flows into the stores of the Flux application.</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servers as the housing place for the callbacks that are created by the stores and which are linked to the dispatcher.</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Each store in the application creates a callback that registers it with the dispatcher.</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When an action creator sends a new action to the dispatcher, the dispatcher ensures that due to the callback provided all the registered stores get that action.</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354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fontAlgn="base">
              <a:buNone/>
            </a:pPr>
            <a:r>
              <a:rPr lang="en-US" sz="2800" b="1" dirty="0">
                <a:latin typeface="Times New Roman" panose="02020603050405020304" pitchFamily="18" charset="0"/>
                <a:cs typeface="Times New Roman" panose="02020603050405020304" pitchFamily="18" charset="0"/>
              </a:rPr>
              <a:t>Stores: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store is the hub of the application's state and logic, the role is similar to a model in a traditional MVC. </a:t>
            </a:r>
            <a:endParaRPr lang="en-US" sz="2800" dirty="0" smtClean="0">
              <a:latin typeface="Times New Roman" panose="02020603050405020304" pitchFamily="18" charset="0"/>
              <a:cs typeface="Times New Roman" panose="02020603050405020304" pitchFamily="18" charset="0"/>
            </a:endParaRPr>
          </a:p>
          <a:p>
            <a:pPr marL="514350" indent="-514350" fontAlgn="base">
              <a:buFont typeface="+mj-lt"/>
              <a:buAutoNum type="arabicPeriod"/>
            </a:pP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registers itself with the dispatcher and provides it with a callback, and this receives action as the parameter.</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contains the logic and state of the Flux application.</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Instead of representing a single data structure like a traditional model, the store in Flux can actually represent the state of management of many objects.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registers itself with a dispatcher and provides it with a callback.</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callback passed to have a parameter that is known as the action, passed to it via the dispatcher.</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561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marL="0" indent="0" fontAlgn="base">
              <a:buNone/>
            </a:pPr>
            <a:r>
              <a:rPr lang="en-US" sz="2800" b="1" dirty="0">
                <a:latin typeface="Times New Roman" panose="02020603050405020304" pitchFamily="18" charset="0"/>
                <a:cs typeface="Times New Roman" panose="02020603050405020304" pitchFamily="18" charset="0"/>
              </a:rPr>
              <a:t>Actions: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When dispatcher exposes a method that allows us to trigger a dispatch to the stores, and to include a payload of data, which we call an action. </a:t>
            </a:r>
            <a:endParaRPr lang="en-US" sz="2800" dirty="0" smtClean="0">
              <a:latin typeface="Times New Roman" panose="02020603050405020304" pitchFamily="18" charset="0"/>
              <a:cs typeface="Times New Roman" panose="02020603050405020304" pitchFamily="18" charset="0"/>
            </a:endParaRPr>
          </a:p>
          <a:p>
            <a:pPr marL="514350" indent="-514350" fontAlgn="base">
              <a:buFont typeface="+mj-lt"/>
              <a:buAutoNum type="arabicPeriod"/>
            </a:pPr>
            <a:r>
              <a:rPr lang="en-US" sz="2800" dirty="0" smtClean="0">
                <a:latin typeface="Times New Roman" panose="02020603050405020304" pitchFamily="18" charset="0"/>
                <a:cs typeface="Times New Roman" panose="02020603050405020304" pitchFamily="18" charset="0"/>
              </a:rPr>
              <a:t>Actions </a:t>
            </a:r>
            <a:r>
              <a:rPr lang="en-US" sz="2800" dirty="0">
                <a:latin typeface="Times New Roman" panose="02020603050405020304" pitchFamily="18" charset="0"/>
                <a:cs typeface="Times New Roman" panose="02020603050405020304" pitchFamily="18" charset="0"/>
              </a:rPr>
              <a:t>may also come from other places such as servers for example types data during initialization or when the server returns an error code or when the servers have updates to provide to the application.</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Actions define the methods, which will be called by the view.</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is the form of data that has been dispatched to the stores.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methods contain arguments, which contain further instructions on how the view wants to change the store.</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action is responsible for translating dispatch calls to events; which are understandable by the Stores.</a:t>
            </a:r>
          </a:p>
          <a:p>
            <a:pPr marL="514350" indent="-514350">
              <a:buFont typeface="+mj-lt"/>
              <a:buAutoNum type="arabicPeriod"/>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8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fontAlgn="base">
              <a:buNone/>
            </a:pPr>
            <a:r>
              <a:rPr lang="en-US" sz="2800" b="1" dirty="0">
                <a:latin typeface="Times New Roman" panose="02020603050405020304" pitchFamily="18" charset="0"/>
                <a:cs typeface="Times New Roman" panose="02020603050405020304" pitchFamily="18" charset="0"/>
              </a:rPr>
              <a:t>Views: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It's not a technical part of Flux but at the same time, views are obviously a critical part of our application. </a:t>
            </a:r>
            <a:endParaRPr lang="en-US" sz="2800" dirty="0" smtClean="0">
              <a:latin typeface="Times New Roman" panose="02020603050405020304" pitchFamily="18" charset="0"/>
              <a:cs typeface="Times New Roman" panose="02020603050405020304" pitchFamily="18" charset="0"/>
            </a:endParaRPr>
          </a:p>
          <a:p>
            <a:pPr marL="514350" indent="-514350" fontAlgn="base">
              <a:buFont typeface="+mj-lt"/>
              <a:buAutoNum type="arabicPeriod"/>
            </a:pPr>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is mostly understood as the part of our architecture that's responsible for displaying data to the user, It's the last stop of our data flow architecture. </a:t>
            </a:r>
            <a:endParaRPr lang="en-US" sz="2800" dirty="0" smtClean="0">
              <a:latin typeface="Times New Roman" panose="02020603050405020304" pitchFamily="18" charset="0"/>
              <a:cs typeface="Times New Roman" panose="02020603050405020304" pitchFamily="18" charset="0"/>
            </a:endParaRPr>
          </a:p>
          <a:p>
            <a:pPr marL="514350" indent="-514350" fontAlgn="base">
              <a:buFont typeface="+mj-lt"/>
              <a:buAutoNum type="arabicPeriod"/>
            </a:pPr>
            <a:r>
              <a:rPr lang="en-US" sz="2800" dirty="0" smtClean="0">
                <a:latin typeface="Times New Roman" panose="02020603050405020304" pitchFamily="18" charset="0"/>
                <a:cs typeface="Times New Roman" panose="02020603050405020304" pitchFamily="18" charset="0"/>
              </a:rPr>
              <a:t>Views </a:t>
            </a:r>
            <a:r>
              <a:rPr lang="en-US" sz="2800" dirty="0">
                <a:latin typeface="Times New Roman" panose="02020603050405020304" pitchFamily="18" charset="0"/>
                <a:cs typeface="Times New Roman" panose="02020603050405020304" pitchFamily="18" charset="0"/>
              </a:rPr>
              <a:t>exist outside of flux but are constrained by the unidirectional nature of Flux.</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is simply the composition of the components.</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It is the part of the architecture that's responsible for displaying data to the user.</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The view layer is the layer where React fits into this architecture.</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143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Introduction to One Store</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What is Redux</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Redux is a state managing library used in JavaScript apps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It simply manages the state of your application or in other words, it is used to manage the data of the</a:t>
            </a:r>
          </a:p>
          <a:p>
            <a:pPr marL="0" indent="0">
              <a:buNone/>
            </a:pPr>
            <a:r>
              <a:rPr lang="en-US" sz="2400" dirty="0">
                <a:latin typeface="Times New Roman" panose="02020603050405020304" pitchFamily="18" charset="0"/>
                <a:cs typeface="Times New Roman" panose="02020603050405020304" pitchFamily="18" charset="0"/>
              </a:rPr>
              <a:t>application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Why Redux</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It makes easier to manage state and data as the complexity of our application increases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the start, it is hard to understand but it really helps to build complex applications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In starting, it feels like a lot of work, but it is really helpful</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Benefits of Redux</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Predictable </a:t>
            </a:r>
            <a:r>
              <a:rPr lang="en-US" sz="2400" dirty="0" smtClean="0">
                <a:latin typeface="Times New Roman" panose="02020603050405020304" pitchFamily="18" charset="0"/>
                <a:cs typeface="Times New Roman" panose="02020603050405020304" pitchFamily="18" charset="0"/>
              </a:rPr>
              <a:t>State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Easier </a:t>
            </a:r>
            <a:r>
              <a:rPr lang="en-US" sz="2400" dirty="0" smtClean="0">
                <a:latin typeface="Times New Roman" panose="02020603050405020304" pitchFamily="18" charset="0"/>
                <a:cs typeface="Times New Roman" panose="02020603050405020304" pitchFamily="18" charset="0"/>
              </a:rPr>
              <a:t>Debugging</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Maintainability    Testability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780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Provider, Component , Actions, Reducers, Sagas , Selector</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Provider</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The &lt;Provider&gt; component from react-redux is a higher-order component that makes the Redux </a:t>
            </a:r>
            <a:r>
              <a:rPr lang="en-US" sz="2400" dirty="0" smtClean="0">
                <a:latin typeface="Times New Roman" panose="02020603050405020304" pitchFamily="18" charset="0"/>
                <a:cs typeface="Times New Roman" panose="02020603050405020304" pitchFamily="18" charset="0"/>
              </a:rPr>
              <a:t>store available </a:t>
            </a:r>
            <a:r>
              <a:rPr lang="en-US" sz="2400" dirty="0">
                <a:latin typeface="Times New Roman" panose="02020603050405020304" pitchFamily="18" charset="0"/>
                <a:cs typeface="Times New Roman" panose="02020603050405020304" pitchFamily="18" charset="0"/>
              </a:rPr>
              <a:t>to all connected components within its subtree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It wraps the entire application or the part of the application that needs access to the Redux store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Example</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import { Provider } from 'react-redux</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import store from './store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Your Redux </a:t>
            </a:r>
            <a:r>
              <a:rPr lang="en-US" sz="2400" dirty="0" smtClean="0">
                <a:latin typeface="Times New Roman" panose="02020603050405020304" pitchFamily="18" charset="0"/>
                <a:cs typeface="Times New Roman" panose="02020603050405020304" pitchFamily="18" charset="0"/>
              </a:rPr>
              <a:t>store</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function App() </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return (</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&lt;Provider store={store</a:t>
            </a:r>
            <a:r>
              <a:rPr lang="en-US" sz="2400" dirty="0" smtClean="0">
                <a:latin typeface="Times New Roman" panose="02020603050405020304" pitchFamily="18" charset="0"/>
                <a:cs typeface="Times New Roman" panose="02020603050405020304" pitchFamily="18" charset="0"/>
              </a:rPr>
              <a:t>}&gt;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&lt;/</a:t>
            </a:r>
            <a:r>
              <a:rPr lang="en-US" sz="2400" dirty="0">
                <a:latin typeface="Times New Roman" panose="02020603050405020304" pitchFamily="18" charset="0"/>
                <a:cs typeface="Times New Roman" panose="02020603050405020304" pitchFamily="18" charset="0"/>
              </a:rPr>
              <a:t>Provider</a:t>
            </a:r>
            <a:r>
              <a:rPr lang="en-US" sz="2400" dirty="0" smtClean="0">
                <a:latin typeface="Times New Roman" panose="02020603050405020304" pitchFamily="18" charset="0"/>
                <a:cs typeface="Times New Roman" panose="02020603050405020304" pitchFamily="18" charset="0"/>
              </a:rPr>
              <a:t>&gt;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3937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sz="2800" b="1" dirty="0">
                <a:latin typeface="Times New Roman" panose="02020603050405020304" pitchFamily="18" charset="0"/>
                <a:cs typeface="Times New Roman" panose="02020603050405020304" pitchFamily="18" charset="0"/>
              </a:rPr>
              <a:t>Component</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A standard React component that renders UI and can interact with the Redux store by </a:t>
            </a:r>
            <a:r>
              <a:rPr lang="en-US" sz="2800" dirty="0" smtClean="0">
                <a:latin typeface="Times New Roman" panose="02020603050405020304" pitchFamily="18" charset="0"/>
                <a:cs typeface="Times New Roman" panose="02020603050405020304" pitchFamily="18" charset="0"/>
              </a:rPr>
              <a:t>dispatching actions </a:t>
            </a:r>
            <a:r>
              <a:rPr lang="en-US" sz="2800" dirty="0">
                <a:latin typeface="Times New Roman" panose="02020603050405020304" pitchFamily="18" charset="0"/>
                <a:cs typeface="Times New Roman" panose="02020603050405020304" pitchFamily="18" charset="0"/>
              </a:rPr>
              <a:t>or consuming state via selectors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Components can be "connected" to the store using connect from react-redux or Redux hooks </a:t>
            </a:r>
            <a:r>
              <a:rPr lang="en-US" sz="2800" dirty="0" smtClean="0">
                <a:latin typeface="Times New Roman" panose="02020603050405020304" pitchFamily="18" charset="0"/>
                <a:cs typeface="Times New Roman" panose="02020603050405020304" pitchFamily="18" charset="0"/>
              </a:rPr>
              <a:t>like </a:t>
            </a:r>
            <a:r>
              <a:rPr lang="en-US" sz="2800" dirty="0" err="1" smtClean="0">
                <a:latin typeface="Times New Roman" panose="02020603050405020304" pitchFamily="18" charset="0"/>
                <a:cs typeface="Times New Roman" panose="02020603050405020304" pitchFamily="18" charset="0"/>
              </a:rPr>
              <a:t>useSelector</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a:t>
            </a:r>
            <a:r>
              <a:rPr lang="en-US" sz="2800" dirty="0" err="1">
                <a:latin typeface="Times New Roman" panose="02020603050405020304" pitchFamily="18" charset="0"/>
                <a:cs typeface="Times New Roman" panose="02020603050405020304" pitchFamily="18" charset="0"/>
              </a:rPr>
              <a:t>useDispatch</a:t>
            </a:r>
            <a:r>
              <a:rPr lang="en-US" sz="2800" dirty="0">
                <a:latin typeface="Times New Roman" panose="02020603050405020304" pitchFamily="18" charset="0"/>
                <a:cs typeface="Times New Roman" panose="02020603050405020304" pitchFamily="18" charset="0"/>
              </a:rPr>
              <a:t>.</a:t>
            </a:r>
          </a:p>
          <a:p>
            <a:pPr marL="0" indent="0">
              <a:buNone/>
            </a:pPr>
            <a:r>
              <a:rPr lang="en-US" sz="2800" b="1" dirty="0" smtClean="0">
                <a:latin typeface="Times New Roman" panose="02020603050405020304" pitchFamily="18" charset="0"/>
                <a:cs typeface="Times New Roman" panose="02020603050405020304" pitchFamily="18" charset="0"/>
              </a:rPr>
              <a:t>Actions:</a:t>
            </a:r>
            <a:endParaRPr lang="en-US" sz="28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Plain JavaScript objects that describe what happened in the application</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They are the only way to trigger a state change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Actions typically have a type property and may include a payload with relevant data</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Example</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0" indent="0">
              <a:buNone/>
            </a:pP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addTodo</a:t>
            </a:r>
            <a:r>
              <a:rPr lang="en-US" sz="2800" dirty="0">
                <a:latin typeface="Times New Roman" panose="02020603050405020304" pitchFamily="18" charset="0"/>
                <a:cs typeface="Times New Roman" panose="02020603050405020304" pitchFamily="18" charset="0"/>
              </a:rPr>
              <a:t> = (text) =&gt;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type: 'ADD_TODO</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payload: { text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2025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marL="0" indent="0">
              <a:buNone/>
            </a:pPr>
            <a:r>
              <a:rPr lang="en-US" sz="2800" b="1" dirty="0">
                <a:latin typeface="Times New Roman" panose="02020603050405020304" pitchFamily="18" charset="0"/>
                <a:cs typeface="Times New Roman" panose="02020603050405020304" pitchFamily="18" charset="0"/>
              </a:rPr>
              <a:t>Reducers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Pure functions that take the current state and an action as arguments, and return a new state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Reducers specify how the application's state changes in response to actions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They must not mutate the original state directly</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Example</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0" indent="0">
              <a:buNone/>
            </a:pP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todosReducer</a:t>
            </a:r>
            <a:r>
              <a:rPr lang="en-US" sz="2800" dirty="0">
                <a:latin typeface="Times New Roman" panose="02020603050405020304" pitchFamily="18" charset="0"/>
                <a:cs typeface="Times New Roman" panose="02020603050405020304" pitchFamily="18" charset="0"/>
              </a:rPr>
              <a:t> = (state = [], action) =&gt;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switch (</a:t>
            </a:r>
            <a:r>
              <a:rPr lang="en-US" sz="2800" dirty="0" err="1">
                <a:latin typeface="Times New Roman" panose="02020603050405020304" pitchFamily="18" charset="0"/>
                <a:cs typeface="Times New Roman" panose="02020603050405020304" pitchFamily="18" charset="0"/>
              </a:rPr>
              <a:t>action.type</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case 'ADD_TODO</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return [...state, { id: </a:t>
            </a:r>
            <a:r>
              <a:rPr lang="en-US" sz="2800" dirty="0" err="1">
                <a:latin typeface="Times New Roman" panose="02020603050405020304" pitchFamily="18" charset="0"/>
                <a:cs typeface="Times New Roman" panose="02020603050405020304" pitchFamily="18" charset="0"/>
              </a:rPr>
              <a:t>Date.now</a:t>
            </a:r>
            <a:r>
              <a:rPr lang="en-US" sz="2800" dirty="0">
                <a:latin typeface="Times New Roman" panose="02020603050405020304" pitchFamily="18" charset="0"/>
                <a:cs typeface="Times New Roman" panose="02020603050405020304" pitchFamily="18" charset="0"/>
              </a:rPr>
              <a:t>(), text: </a:t>
            </a:r>
            <a:r>
              <a:rPr lang="en-US" sz="2800" dirty="0" err="1">
                <a:latin typeface="Times New Roman" panose="02020603050405020304" pitchFamily="18" charset="0"/>
                <a:cs typeface="Times New Roman" panose="02020603050405020304" pitchFamily="18" charset="0"/>
              </a:rPr>
              <a:t>action.payload.text</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default</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return state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56118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sz="2800" b="1" dirty="0">
                <a:latin typeface="Times New Roman" panose="02020603050405020304" pitchFamily="18" charset="0"/>
                <a:cs typeface="Times New Roman" panose="02020603050405020304" pitchFamily="18" charset="0"/>
              </a:rPr>
              <a:t>Sagas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Redux Sagas are a middleware library used for managing side effects (e.g., asynchronous </a:t>
            </a:r>
            <a:r>
              <a:rPr lang="en-US" sz="2800" dirty="0" smtClean="0">
                <a:latin typeface="Times New Roman" panose="02020603050405020304" pitchFamily="18" charset="0"/>
                <a:cs typeface="Times New Roman" panose="02020603050405020304" pitchFamily="18" charset="0"/>
              </a:rPr>
              <a:t>operations like </a:t>
            </a:r>
            <a:r>
              <a:rPr lang="en-US" sz="2800" dirty="0">
                <a:latin typeface="Times New Roman" panose="02020603050405020304" pitchFamily="18" charset="0"/>
                <a:cs typeface="Times New Roman" panose="02020603050405020304" pitchFamily="18" charset="0"/>
              </a:rPr>
              <a:t>API calls) in Redux applications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Sagas listen for specific actions and execute logic in response, dispatching new actions </a:t>
            </a:r>
            <a:r>
              <a:rPr lang="en-US" sz="2800" dirty="0" smtClean="0">
                <a:latin typeface="Times New Roman" panose="02020603050405020304" pitchFamily="18" charset="0"/>
                <a:cs typeface="Times New Roman" panose="02020603050405020304" pitchFamily="18" charset="0"/>
              </a:rPr>
              <a:t>upon completion </a:t>
            </a:r>
            <a:r>
              <a:rPr lang="en-US" sz="2800" dirty="0">
                <a:latin typeface="Times New Roman" panose="02020603050405020304" pitchFamily="18" charset="0"/>
                <a:cs typeface="Times New Roman" panose="02020603050405020304" pitchFamily="18" charset="0"/>
              </a:rPr>
              <a:t>or error</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Example</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import { </a:t>
            </a:r>
            <a:r>
              <a:rPr lang="en-US" sz="2800" dirty="0" err="1">
                <a:latin typeface="Times New Roman" panose="02020603050405020304" pitchFamily="18" charset="0"/>
                <a:cs typeface="Times New Roman" panose="02020603050405020304" pitchFamily="18" charset="0"/>
              </a:rPr>
              <a:t>takeEvery</a:t>
            </a:r>
            <a:r>
              <a:rPr lang="en-US" sz="2800" dirty="0">
                <a:latin typeface="Times New Roman" panose="02020603050405020304" pitchFamily="18" charset="0"/>
                <a:cs typeface="Times New Roman" panose="02020603050405020304" pitchFamily="18" charset="0"/>
              </a:rPr>
              <a:t>, put } from 'redux-saga/effects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function* </a:t>
            </a:r>
            <a:r>
              <a:rPr lang="en-US" sz="2800" dirty="0" err="1">
                <a:latin typeface="Times New Roman" panose="02020603050405020304" pitchFamily="18" charset="0"/>
                <a:cs typeface="Times New Roman" panose="02020603050405020304" pitchFamily="18" charset="0"/>
              </a:rPr>
              <a:t>fetchUserSaga</a:t>
            </a:r>
            <a:r>
              <a:rPr lang="en-US" sz="2800" dirty="0">
                <a:latin typeface="Times New Roman" panose="02020603050405020304" pitchFamily="18" charset="0"/>
                <a:cs typeface="Times New Roman" panose="02020603050405020304" pitchFamily="18" charset="0"/>
              </a:rPr>
              <a:t>(action)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try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user = yield call(</a:t>
            </a:r>
            <a:r>
              <a:rPr lang="en-US" sz="2800" dirty="0" err="1">
                <a:latin typeface="Times New Roman" panose="02020603050405020304" pitchFamily="18" charset="0"/>
                <a:cs typeface="Times New Roman" panose="02020603050405020304" pitchFamily="18" charset="0"/>
              </a:rPr>
              <a:t>api.fetchUser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action.payload.userId</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yield put({ type: 'FETCH_USER_SUCCESS', payload: user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catch (error)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yield put({ type: 'FETCH_USER_FAILURE', error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function* </a:t>
            </a:r>
            <a:r>
              <a:rPr lang="en-US" sz="2800" dirty="0" err="1">
                <a:latin typeface="Times New Roman" panose="02020603050405020304" pitchFamily="18" charset="0"/>
                <a:cs typeface="Times New Roman" panose="02020603050405020304" pitchFamily="18" charset="0"/>
              </a:rPr>
              <a:t>rootSaga</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yield </a:t>
            </a:r>
            <a:r>
              <a:rPr lang="en-US" sz="2800" dirty="0" err="1">
                <a:latin typeface="Times New Roman" panose="02020603050405020304" pitchFamily="18" charset="0"/>
                <a:cs typeface="Times New Roman" panose="02020603050405020304" pitchFamily="18" charset="0"/>
              </a:rPr>
              <a:t>takeEvery</a:t>
            </a:r>
            <a:r>
              <a:rPr lang="en-US" sz="2800" dirty="0">
                <a:latin typeface="Times New Roman" panose="02020603050405020304" pitchFamily="18" charset="0"/>
                <a:cs typeface="Times New Roman" panose="02020603050405020304" pitchFamily="18" charset="0"/>
              </a:rPr>
              <a:t>('FETCH_USER_REQUEST', </a:t>
            </a:r>
            <a:r>
              <a:rPr lang="en-US" sz="2800" dirty="0" err="1">
                <a:latin typeface="Times New Roman" panose="02020603050405020304" pitchFamily="18" charset="0"/>
                <a:cs typeface="Times New Roman" panose="02020603050405020304" pitchFamily="18" charset="0"/>
              </a:rPr>
              <a:t>fetchUserSaga</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92396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Selectors</a:t>
            </a:r>
            <a:r>
              <a:rPr lang="en-US" sz="2800" b="1"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Functions that extract specific pieces of data from the Redux state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They help to encapsulate state access logic, improve performance by </a:t>
            </a:r>
            <a:r>
              <a:rPr lang="en-US" sz="2800" dirty="0" err="1">
                <a:latin typeface="Times New Roman" panose="02020603050405020304" pitchFamily="18" charset="0"/>
                <a:cs typeface="Times New Roman" panose="02020603050405020304" pitchFamily="18" charset="0"/>
              </a:rPr>
              <a:t>memoization</a:t>
            </a:r>
            <a:r>
              <a:rPr lang="en-US" sz="2800" dirty="0">
                <a:latin typeface="Times New Roman" panose="02020603050405020304" pitchFamily="18" charset="0"/>
                <a:cs typeface="Times New Roman" panose="02020603050405020304" pitchFamily="18" charset="0"/>
              </a:rPr>
              <a:t> (e.g., </a:t>
            </a:r>
            <a:r>
              <a:rPr lang="en-US" sz="2800" dirty="0" smtClean="0">
                <a:latin typeface="Times New Roman" panose="02020603050405020304" pitchFamily="18" charset="0"/>
                <a:cs typeface="Times New Roman" panose="02020603050405020304" pitchFamily="18" charset="0"/>
              </a:rPr>
              <a:t>using reselect</a:t>
            </a:r>
            <a:r>
              <a:rPr lang="en-US" sz="2800" dirty="0">
                <a:latin typeface="Times New Roman" panose="02020603050405020304" pitchFamily="18" charset="0"/>
                <a:cs typeface="Times New Roman" panose="02020603050405020304" pitchFamily="18" charset="0"/>
              </a:rPr>
              <a:t>), and make components more reusable as they don't directly manipulate the state structure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Example</a:t>
            </a:r>
            <a:r>
              <a:rPr lang="en-US" sz="2800" b="1"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err="1">
                <a:latin typeface="Times New Roman" panose="02020603050405020304" pitchFamily="18" charset="0"/>
                <a:cs typeface="Times New Roman" panose="02020603050405020304" pitchFamily="18" charset="0"/>
              </a:rPr>
              <a:t>const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getVisibleTodos</a:t>
            </a:r>
            <a:r>
              <a:rPr lang="en-US" sz="2800" dirty="0">
                <a:latin typeface="Times New Roman" panose="02020603050405020304" pitchFamily="18" charset="0"/>
                <a:cs typeface="Times New Roman" panose="02020603050405020304" pitchFamily="18" charset="0"/>
              </a:rPr>
              <a:t> = (state) =&gt; </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Logic to filter </a:t>
            </a:r>
            <a:r>
              <a:rPr lang="en-US" sz="2800" dirty="0" err="1">
                <a:latin typeface="Times New Roman" panose="02020603050405020304" pitchFamily="18" charset="0"/>
                <a:cs typeface="Times New Roman" panose="02020603050405020304" pitchFamily="18" charset="0"/>
              </a:rPr>
              <a:t>todos</a:t>
            </a:r>
            <a:r>
              <a:rPr lang="en-US" sz="2800" dirty="0">
                <a:latin typeface="Times New Roman" panose="02020603050405020304" pitchFamily="18" charset="0"/>
                <a:cs typeface="Times New Roman" panose="02020603050405020304" pitchFamily="18" charset="0"/>
              </a:rPr>
              <a:t> based on a visibility filter in </a:t>
            </a:r>
            <a:r>
              <a:rPr lang="en-US" sz="2800" dirty="0" smtClean="0">
                <a:latin typeface="Times New Roman" panose="02020603050405020304" pitchFamily="18" charset="0"/>
                <a:cs typeface="Times New Roman" panose="02020603050405020304" pitchFamily="18" charset="0"/>
              </a:rPr>
              <a:t>state</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return </a:t>
            </a:r>
            <a:r>
              <a:rPr lang="en-US" sz="2800" dirty="0" err="1">
                <a:latin typeface="Times New Roman" panose="02020603050405020304" pitchFamily="18" charset="0"/>
                <a:cs typeface="Times New Roman" panose="02020603050405020304" pitchFamily="18" charset="0"/>
              </a:rPr>
              <a:t>state.todos.filter</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todo</a:t>
            </a:r>
            <a:r>
              <a:rPr lang="en-US" sz="2800" dirty="0">
                <a:latin typeface="Times New Roman" panose="02020603050405020304" pitchFamily="18" charset="0"/>
                <a:cs typeface="Times New Roman" panose="02020603050405020304" pitchFamily="18" charset="0"/>
              </a:rPr>
              <a:t> =&gt; </a:t>
            </a:r>
            <a:r>
              <a:rPr lang="en-US" sz="2800" dirty="0" err="1">
                <a:latin typeface="Times New Roman" panose="02020603050405020304" pitchFamily="18" charset="0"/>
                <a:cs typeface="Times New Roman" panose="02020603050405020304" pitchFamily="18" charset="0"/>
              </a:rPr>
              <a:t>todo.isVisible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90709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Redux Architecture in React JS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Redux is a state management library commonly used with React applications. It helps manage and share application state in a centralized and predictable way.</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Redux is especially useful when many components need to access or modify the same data.</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667000"/>
            <a:ext cx="4038600" cy="301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2929630"/>
            <a:ext cx="4780675" cy="27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075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1. Store</a:t>
            </a: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Store</a:t>
            </a:r>
            <a:r>
              <a:rPr lang="en-US" sz="2400" dirty="0">
                <a:latin typeface="Times New Roman" panose="02020603050405020304" pitchFamily="18" charset="0"/>
                <a:cs typeface="Times New Roman" panose="02020603050405020304" pitchFamily="18" charset="0"/>
              </a:rPr>
              <a:t> is the central place where the application's state is stored.</a:t>
            </a:r>
          </a:p>
          <a:p>
            <a:r>
              <a:rPr lang="en-US" sz="2400" dirty="0">
                <a:latin typeface="Times New Roman" panose="02020603050405020304" pitchFamily="18" charset="0"/>
                <a:cs typeface="Times New Roman" panose="02020603050405020304" pitchFamily="18" charset="0"/>
              </a:rPr>
              <a:t>For example, an application may have</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 count</a:t>
            </a:r>
            <a:r>
              <a:rPr lang="en-US" sz="2400" dirty="0">
                <a:latin typeface="Times New Roman" panose="02020603050405020304" pitchFamily="18" charset="0"/>
                <a:cs typeface="Times New Roman" panose="02020603050405020304" pitchFamily="18" charset="0"/>
              </a:rPr>
              <a:t>: 10,</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user</a:t>
            </a:r>
            <a:r>
              <a:rPr lang="en-US" sz="2400" dirty="0">
                <a:latin typeface="Times New Roman" panose="02020603050405020304" pitchFamily="18" charset="0"/>
                <a:cs typeface="Times New Roman" panose="02020603050405020304" pitchFamily="18" charset="0"/>
              </a:rPr>
              <a:t>: "Rahul",</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loggedIn</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true }</a:t>
            </a:r>
          </a:p>
          <a:p>
            <a:pPr marL="0" indent="0">
              <a:buNone/>
            </a:pPr>
            <a:r>
              <a:rPr lang="en-US" sz="2400" b="1" dirty="0">
                <a:latin typeface="Times New Roman" panose="02020603050405020304" pitchFamily="18" charset="0"/>
                <a:cs typeface="Times New Roman" panose="02020603050405020304" pitchFamily="18" charset="0"/>
              </a:rPr>
              <a:t>2. Action</a:t>
            </a:r>
          </a:p>
          <a:p>
            <a:r>
              <a:rPr lang="en-US" sz="2400" dirty="0">
                <a:latin typeface="Times New Roman" panose="02020603050405020304" pitchFamily="18" charset="0"/>
                <a:cs typeface="Times New Roman" panose="02020603050405020304" pitchFamily="18" charset="0"/>
              </a:rPr>
              <a:t>An </a:t>
            </a:r>
            <a:r>
              <a:rPr lang="en-US" sz="2400" b="1" dirty="0">
                <a:latin typeface="Times New Roman" panose="02020603050405020304" pitchFamily="18" charset="0"/>
                <a:cs typeface="Times New Roman" panose="02020603050405020304" pitchFamily="18" charset="0"/>
              </a:rPr>
              <a:t>Action</a:t>
            </a:r>
            <a:r>
              <a:rPr lang="en-US" sz="2400" dirty="0">
                <a:latin typeface="Times New Roman" panose="02020603050405020304" pitchFamily="18" charset="0"/>
                <a:cs typeface="Times New Roman" panose="02020603050405020304" pitchFamily="18" charset="0"/>
              </a:rPr>
              <a:t> describes </a:t>
            </a:r>
            <a:r>
              <a:rPr lang="en-US" sz="2400" b="1" dirty="0">
                <a:latin typeface="Times New Roman" panose="02020603050405020304" pitchFamily="18" charset="0"/>
                <a:cs typeface="Times New Roman" panose="02020603050405020304" pitchFamily="18" charset="0"/>
              </a:rPr>
              <a:t>what happened</a:t>
            </a:r>
            <a:r>
              <a:rPr lang="en-US" sz="2400" dirty="0">
                <a:latin typeface="Times New Roman" panose="02020603050405020304" pitchFamily="18" charset="0"/>
                <a:cs typeface="Times New Roman" panose="02020603050405020304" pitchFamily="18" charset="0"/>
              </a:rPr>
              <a:t> in the application.</a:t>
            </a:r>
          </a:p>
          <a:p>
            <a:r>
              <a:rPr lang="en-US" sz="2400" dirty="0">
                <a:latin typeface="Times New Roman" panose="02020603050405020304" pitchFamily="18" charset="0"/>
                <a:cs typeface="Times New Roman" panose="02020603050405020304" pitchFamily="18" charset="0"/>
              </a:rPr>
              <a:t>An action is normally a JavaScript object containing a type</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{type</a:t>
            </a:r>
            <a:r>
              <a:rPr lang="en-US" sz="2400" dirty="0">
                <a:latin typeface="Times New Roman" panose="02020603050405020304" pitchFamily="18" charset="0"/>
                <a:cs typeface="Times New Roman" panose="02020603050405020304" pitchFamily="18" charset="0"/>
              </a:rPr>
              <a:t>: "ADD_STUDENT",</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payload</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name</a:t>
            </a:r>
            <a:r>
              <a:rPr lang="en-US" sz="2400" dirty="0">
                <a:latin typeface="Times New Roman" panose="02020603050405020304" pitchFamily="18" charset="0"/>
                <a:cs typeface="Times New Roman" panose="02020603050405020304" pitchFamily="18" charset="0"/>
              </a:rPr>
              <a:t>: "Amit",</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101  }   }</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3863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 Dispatch</a:t>
            </a:r>
          </a:p>
          <a:p>
            <a:r>
              <a:rPr lang="en-US" sz="2400" b="1" dirty="0">
                <a:latin typeface="Times New Roman" panose="02020603050405020304" pitchFamily="18" charset="0"/>
                <a:cs typeface="Times New Roman" panose="02020603050405020304" pitchFamily="18" charset="0"/>
              </a:rPr>
              <a:t>Dispatch</a:t>
            </a:r>
            <a:r>
              <a:rPr lang="en-US" sz="2400" dirty="0">
                <a:latin typeface="Times New Roman" panose="02020603050405020304" pitchFamily="18" charset="0"/>
                <a:cs typeface="Times New Roman" panose="02020603050405020304" pitchFamily="18" charset="0"/>
              </a:rPr>
              <a:t> is used to send an action to Redux.</a:t>
            </a:r>
          </a:p>
          <a:p>
            <a:r>
              <a:rPr lang="en-US" sz="2400" dirty="0">
                <a:latin typeface="Times New Roman" panose="02020603050405020304" pitchFamily="18" charset="0"/>
                <a:cs typeface="Times New Roman" panose="02020603050405020304" pitchFamily="18" charset="0"/>
              </a:rPr>
              <a:t>In React Redux, we commonly use</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dispatch({ type: "INCREMENT" </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4. Reducer</a:t>
            </a:r>
          </a:p>
          <a:p>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Reducer</a:t>
            </a:r>
            <a:r>
              <a:rPr lang="en-US" sz="2400" dirty="0">
                <a:latin typeface="Times New Roman" panose="02020603050405020304" pitchFamily="18" charset="0"/>
                <a:cs typeface="Times New Roman" panose="02020603050405020304" pitchFamily="18" charset="0"/>
              </a:rPr>
              <a:t> is a function that determines </a:t>
            </a:r>
            <a:r>
              <a:rPr lang="en-US" sz="2400" b="1" dirty="0">
                <a:latin typeface="Times New Roman" panose="02020603050405020304" pitchFamily="18" charset="0"/>
                <a:cs typeface="Times New Roman" panose="02020603050405020304" pitchFamily="18" charset="0"/>
              </a:rPr>
              <a:t>how the state should change</a:t>
            </a:r>
            <a:r>
              <a:rPr lang="en-US" sz="2400" dirty="0">
                <a:latin typeface="Times New Roman" panose="02020603050405020304" pitchFamily="18" charset="0"/>
                <a:cs typeface="Times New Roman" panose="02020603050405020304" pitchFamily="18" charset="0"/>
              </a:rPr>
              <a:t> based on the action.</a:t>
            </a:r>
          </a:p>
          <a:p>
            <a:r>
              <a:rPr lang="en-US" sz="2400" dirty="0">
                <a:latin typeface="Times New Roman" panose="02020603050405020304" pitchFamily="18" charset="0"/>
                <a:cs typeface="Times New Roman" panose="02020603050405020304" pitchFamily="18" charset="0"/>
              </a:rPr>
              <a:t>It receives:</a:t>
            </a:r>
          </a:p>
          <a:p>
            <a:pPr marL="0" indent="0">
              <a:buNone/>
            </a:pPr>
            <a:r>
              <a:rPr lang="en-US" sz="2400" dirty="0">
                <a:latin typeface="Times New Roman" panose="02020603050405020304" pitchFamily="18" charset="0"/>
                <a:cs typeface="Times New Roman" panose="02020603050405020304" pitchFamily="18" charset="0"/>
              </a:rPr>
              <a:t>Current state </a:t>
            </a:r>
          </a:p>
          <a:p>
            <a:pPr marL="0" indent="0">
              <a:buNone/>
            </a:pPr>
            <a:r>
              <a:rPr lang="en-US" sz="2400" dirty="0">
                <a:latin typeface="Times New Roman" panose="02020603050405020304" pitchFamily="18" charset="0"/>
                <a:cs typeface="Times New Roman" panose="02020603050405020304" pitchFamily="18" charset="0"/>
              </a:rPr>
              <a:t>Action </a:t>
            </a:r>
          </a:p>
          <a:p>
            <a:pPr marL="0" indent="0">
              <a:buNone/>
            </a:pPr>
            <a:r>
              <a:rPr lang="en-US" sz="2400" dirty="0">
                <a:latin typeface="Times New Roman" panose="02020603050405020304" pitchFamily="18" charset="0"/>
                <a:cs typeface="Times New Roman" panose="02020603050405020304" pitchFamily="18" charset="0"/>
              </a:rPr>
              <a:t>and returns:</a:t>
            </a:r>
          </a:p>
          <a:p>
            <a:pPr marL="0" indent="0">
              <a:buNone/>
            </a:pPr>
            <a:r>
              <a:rPr lang="en-US" sz="2400" dirty="0">
                <a:latin typeface="Times New Roman" panose="02020603050405020304" pitchFamily="18" charset="0"/>
                <a:cs typeface="Times New Roman" panose="02020603050405020304" pitchFamily="18" charset="0"/>
              </a:rPr>
              <a:t>New state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959099" y="3072348"/>
            <a:ext cx="5782352" cy="3785652"/>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Example:</a:t>
            </a:r>
          </a:p>
          <a:p>
            <a:r>
              <a:rPr lang="en-US" sz="2000" dirty="0" smtClean="0">
                <a:latin typeface="Times New Roman" panose="02020603050405020304" pitchFamily="18" charset="0"/>
                <a:cs typeface="Times New Roman" panose="02020603050405020304" pitchFamily="18" charset="0"/>
              </a:rPr>
              <a:t>function </a:t>
            </a:r>
            <a:r>
              <a:rPr lang="en-US" sz="2000" dirty="0" err="1">
                <a:latin typeface="Times New Roman" panose="02020603050405020304" pitchFamily="18" charset="0"/>
                <a:cs typeface="Times New Roman" panose="02020603050405020304" pitchFamily="18" charset="0"/>
              </a:rPr>
              <a:t>counterReducer</a:t>
            </a:r>
            <a:r>
              <a:rPr lang="en-US" sz="2000" dirty="0">
                <a:latin typeface="Times New Roman" panose="02020603050405020304" pitchFamily="18" charset="0"/>
                <a:cs typeface="Times New Roman" panose="02020603050405020304" pitchFamily="18" charset="0"/>
              </a:rPr>
              <a:t>(state = { count: 0 }, action)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switch (</a:t>
            </a:r>
            <a:r>
              <a:rPr lang="en-US" sz="2000" dirty="0" err="1">
                <a:latin typeface="Times New Roman" panose="02020603050405020304" pitchFamily="18" charset="0"/>
                <a:cs typeface="Times New Roman" panose="02020603050405020304" pitchFamily="18" charset="0"/>
              </a:rPr>
              <a:t>action.type</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case "INCREMENT":</a:t>
            </a:r>
          </a:p>
          <a:p>
            <a:r>
              <a:rPr lang="en-US" sz="2000" dirty="0">
                <a:latin typeface="Times New Roman" panose="02020603050405020304" pitchFamily="18" charset="0"/>
                <a:cs typeface="Times New Roman" panose="02020603050405020304" pitchFamily="18" charset="0"/>
              </a:rPr>
              <a:t>            return { count: </a:t>
            </a:r>
            <a:r>
              <a:rPr lang="en-US" sz="2000" dirty="0" err="1">
                <a:latin typeface="Times New Roman" panose="02020603050405020304" pitchFamily="18" charset="0"/>
                <a:cs typeface="Times New Roman" panose="02020603050405020304" pitchFamily="18" charset="0"/>
              </a:rPr>
              <a:t>state.count</a:t>
            </a:r>
            <a:r>
              <a:rPr lang="en-US" sz="2000" dirty="0">
                <a:latin typeface="Times New Roman" panose="02020603050405020304" pitchFamily="18" charset="0"/>
                <a:cs typeface="Times New Roman" panose="02020603050405020304" pitchFamily="18" charset="0"/>
              </a:rPr>
              <a:t> + 1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case "DECREMENT":</a:t>
            </a:r>
          </a:p>
          <a:p>
            <a:r>
              <a:rPr lang="en-US" sz="2000" dirty="0">
                <a:latin typeface="Times New Roman" panose="02020603050405020304" pitchFamily="18" charset="0"/>
                <a:cs typeface="Times New Roman" panose="02020603050405020304" pitchFamily="18" charset="0"/>
              </a:rPr>
              <a:t>            return { count: </a:t>
            </a:r>
            <a:r>
              <a:rPr lang="en-US" sz="2000" dirty="0" err="1">
                <a:latin typeface="Times New Roman" panose="02020603050405020304" pitchFamily="18" charset="0"/>
                <a:cs typeface="Times New Roman" panose="02020603050405020304" pitchFamily="18" charset="0"/>
              </a:rPr>
              <a:t>state.count</a:t>
            </a:r>
            <a:r>
              <a:rPr lang="en-US" sz="2000" dirty="0">
                <a:latin typeface="Times New Roman" panose="02020603050405020304" pitchFamily="18" charset="0"/>
                <a:cs typeface="Times New Roman" panose="02020603050405020304" pitchFamily="18" charset="0"/>
              </a:rPr>
              <a:t> - 1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default:</a:t>
            </a:r>
          </a:p>
          <a:p>
            <a:r>
              <a:rPr lang="en-US" sz="2000" dirty="0">
                <a:latin typeface="Times New Roman" panose="02020603050405020304" pitchFamily="18" charset="0"/>
                <a:cs typeface="Times New Roman" panose="02020603050405020304" pitchFamily="18" charset="0"/>
              </a:rPr>
              <a:t>            return state;</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02098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500" b="1" dirty="0">
                <a:latin typeface="Times New Roman" panose="02020603050405020304" pitchFamily="18" charset="0"/>
                <a:cs typeface="Times New Roman" panose="02020603050405020304" pitchFamily="18" charset="0"/>
              </a:rPr>
              <a:t>5. View / React Component</a:t>
            </a:r>
          </a:p>
          <a:p>
            <a:r>
              <a:rPr lang="en-US" sz="2500" dirty="0">
                <a:latin typeface="Times New Roman" panose="02020603050405020304" pitchFamily="18" charset="0"/>
                <a:cs typeface="Times New Roman" panose="02020603050405020304" pitchFamily="18" charset="0"/>
              </a:rPr>
              <a:t>The View is the user interface.</a:t>
            </a:r>
          </a:p>
          <a:p>
            <a:r>
              <a:rPr lang="en-US" sz="2500" dirty="0">
                <a:latin typeface="Times New Roman" panose="02020603050405020304" pitchFamily="18" charset="0"/>
                <a:cs typeface="Times New Roman" panose="02020603050405020304" pitchFamily="18" charset="0"/>
              </a:rPr>
              <a:t>In a React application, React components act as the View.</a:t>
            </a:r>
          </a:p>
          <a:p>
            <a:r>
              <a:rPr lang="en-US" sz="2500" dirty="0">
                <a:latin typeface="Times New Roman" panose="02020603050405020304" pitchFamily="18" charset="0"/>
                <a:cs typeface="Times New Roman" panose="02020603050405020304" pitchFamily="18" charset="0"/>
              </a:rPr>
              <a:t>For example</a:t>
            </a:r>
            <a:r>
              <a:rPr lang="en-US" sz="2500" dirty="0" smtClean="0">
                <a:latin typeface="Times New Roman" panose="02020603050405020304" pitchFamily="18" charset="0"/>
                <a:cs typeface="Times New Roman" panose="02020603050405020304" pitchFamily="18" charset="0"/>
              </a:rPr>
              <a:t>:</a:t>
            </a:r>
          </a:p>
          <a:p>
            <a:pPr marL="0" indent="0">
              <a:buNone/>
            </a:pPr>
            <a:r>
              <a:rPr lang="en-US" sz="2500" dirty="0">
                <a:latin typeface="Times New Roman" panose="02020603050405020304" pitchFamily="18" charset="0"/>
                <a:cs typeface="Times New Roman" panose="02020603050405020304" pitchFamily="18" charset="0"/>
              </a:rPr>
              <a:t>function Counter() {</a:t>
            </a:r>
          </a:p>
          <a:p>
            <a:pPr marL="0" indent="0">
              <a:buNone/>
            </a:pPr>
            <a:r>
              <a:rPr lang="en-US" sz="2500" dirty="0">
                <a:latin typeface="Times New Roman" panose="02020603050405020304" pitchFamily="18" charset="0"/>
                <a:cs typeface="Times New Roman" panose="02020603050405020304" pitchFamily="18" charset="0"/>
              </a:rPr>
              <a:t>    return </a:t>
            </a:r>
            <a:r>
              <a:rPr lang="en-US" sz="2500" dirty="0" smtClean="0">
                <a:latin typeface="Times New Roman" panose="02020603050405020304" pitchFamily="18" charset="0"/>
                <a:cs typeface="Times New Roman" panose="02020603050405020304" pitchFamily="18" charset="0"/>
              </a:rPr>
              <a:t>( &lt;</a:t>
            </a:r>
            <a:r>
              <a:rPr lang="en-US" sz="2500" dirty="0">
                <a:latin typeface="Times New Roman" panose="02020603050405020304" pitchFamily="18" charset="0"/>
                <a:cs typeface="Times New Roman" panose="02020603050405020304" pitchFamily="18" charset="0"/>
              </a:rPr>
              <a:t>div&gt;</a:t>
            </a:r>
          </a:p>
          <a:p>
            <a:pPr marL="0" indent="0">
              <a:buNone/>
            </a:pPr>
            <a:r>
              <a:rPr lang="en-US" sz="2500" dirty="0">
                <a:latin typeface="Times New Roman" panose="02020603050405020304" pitchFamily="18" charset="0"/>
                <a:cs typeface="Times New Roman" panose="02020603050405020304" pitchFamily="18" charset="0"/>
              </a:rPr>
              <a:t>            &lt;h2&gt;Counter&lt;/h2&gt;</a:t>
            </a:r>
          </a:p>
          <a:p>
            <a:pPr marL="0" indent="0">
              <a:buNone/>
            </a:pPr>
            <a:r>
              <a:rPr lang="en-US" sz="2500" dirty="0">
                <a:latin typeface="Times New Roman" panose="02020603050405020304" pitchFamily="18" charset="0"/>
                <a:cs typeface="Times New Roman" panose="02020603050405020304" pitchFamily="18" charset="0"/>
              </a:rPr>
              <a:t>            &lt;button&gt;Increment&lt;/button&gt;</a:t>
            </a:r>
          </a:p>
          <a:p>
            <a:pPr marL="0" indent="0">
              <a:buNone/>
            </a:pPr>
            <a:r>
              <a:rPr lang="en-US" sz="2500" dirty="0">
                <a:latin typeface="Times New Roman" panose="02020603050405020304" pitchFamily="18" charset="0"/>
                <a:cs typeface="Times New Roman" panose="02020603050405020304" pitchFamily="18" charset="0"/>
              </a:rPr>
              <a:t>        &lt;/div</a:t>
            </a:r>
            <a:r>
              <a:rPr lang="en-US" sz="2500" dirty="0" smtClean="0">
                <a:latin typeface="Times New Roman" panose="02020603050405020304" pitchFamily="18" charset="0"/>
                <a:cs typeface="Times New Roman" panose="02020603050405020304" pitchFamily="18" charset="0"/>
              </a:rPr>
              <a:t>&gt;  );  }</a:t>
            </a:r>
          </a:p>
          <a:p>
            <a:pPr marL="0" indent="0">
              <a:buNone/>
            </a:pPr>
            <a:r>
              <a:rPr lang="en-US" sz="2500" b="1" dirty="0">
                <a:latin typeface="Times New Roman" panose="02020603050405020304" pitchFamily="18" charset="0"/>
                <a:cs typeface="Times New Roman" panose="02020603050405020304" pitchFamily="18" charset="0"/>
              </a:rPr>
              <a:t>6. Selector</a:t>
            </a:r>
          </a:p>
          <a:p>
            <a:r>
              <a:rPr lang="en-US" sz="2500" dirty="0">
                <a:latin typeface="Times New Roman" panose="02020603050405020304" pitchFamily="18" charset="0"/>
                <a:cs typeface="Times New Roman" panose="02020603050405020304" pitchFamily="18" charset="0"/>
              </a:rPr>
              <a:t>A Selector is a function used to read specific data from the Redux Store.</a:t>
            </a:r>
          </a:p>
          <a:p>
            <a:r>
              <a:rPr lang="en-US" sz="2500" dirty="0">
                <a:latin typeface="Times New Roman" panose="02020603050405020304" pitchFamily="18" charset="0"/>
                <a:cs typeface="Times New Roman" panose="02020603050405020304" pitchFamily="18" charset="0"/>
              </a:rPr>
              <a:t>For example</a:t>
            </a:r>
            <a:r>
              <a:rPr lang="en-US" sz="2500" dirty="0" smtClean="0">
                <a:latin typeface="Times New Roman" panose="02020603050405020304" pitchFamily="18" charset="0"/>
                <a:cs typeface="Times New Roman" panose="02020603050405020304" pitchFamily="18" charset="0"/>
              </a:rPr>
              <a:t>:</a:t>
            </a:r>
          </a:p>
          <a:p>
            <a:pPr marL="0" indent="0">
              <a:buNone/>
            </a:pPr>
            <a:r>
              <a:rPr lang="en-US" sz="2500" dirty="0" err="1">
                <a:latin typeface="Times New Roman" panose="02020603050405020304" pitchFamily="18" charset="0"/>
                <a:cs typeface="Times New Roman" panose="02020603050405020304" pitchFamily="18" charset="0"/>
              </a:rPr>
              <a:t>const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selectCount</a:t>
            </a:r>
            <a:r>
              <a:rPr lang="en-US" sz="2500" dirty="0">
                <a:latin typeface="Times New Roman" panose="02020603050405020304" pitchFamily="18" charset="0"/>
                <a:cs typeface="Times New Roman" panose="02020603050405020304" pitchFamily="18" charset="0"/>
              </a:rPr>
              <a:t> = state =&gt; </a:t>
            </a:r>
            <a:r>
              <a:rPr lang="en-US" sz="2500" dirty="0" err="1">
                <a:latin typeface="Times New Roman" panose="02020603050405020304" pitchFamily="18" charset="0"/>
                <a:cs typeface="Times New Roman" panose="02020603050405020304" pitchFamily="18" charset="0"/>
              </a:rPr>
              <a:t>state.count</a:t>
            </a:r>
            <a:r>
              <a:rPr lang="en-US" sz="2500" dirty="0">
                <a:latin typeface="Times New Roman" panose="02020603050405020304" pitchFamily="18" charset="0"/>
                <a:cs typeface="Times New Roman" panose="02020603050405020304" pitchFamily="18" charset="0"/>
              </a:rPr>
              <a:t>;</a:t>
            </a:r>
          </a:p>
          <a:p>
            <a:pPr marL="0" indent="0">
              <a:buNone/>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02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00" y="12700"/>
            <a:ext cx="9156700" cy="68453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Example</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import { </a:t>
            </a:r>
            <a:r>
              <a:rPr lang="en-US" dirty="0" err="1">
                <a:latin typeface="Times New Roman" panose="02020603050405020304" pitchFamily="18" charset="0"/>
                <a:cs typeface="Times New Roman" panose="02020603050405020304" pitchFamily="18" charset="0"/>
              </a:rPr>
              <a:t>createStore</a:t>
            </a:r>
            <a:r>
              <a:rPr lang="en-US" dirty="0">
                <a:latin typeface="Times New Roman" panose="02020603050405020304" pitchFamily="18" charset="0"/>
                <a:cs typeface="Times New Roman" panose="02020603050405020304" pitchFamily="18" charset="0"/>
              </a:rPr>
              <a:t> } from 'redux</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function count(state = 0, action)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switch (</a:t>
            </a:r>
            <a:r>
              <a:rPr lang="en-US" dirty="0" err="1">
                <a:latin typeface="Times New Roman" panose="02020603050405020304" pitchFamily="18" charset="0"/>
                <a:cs typeface="Times New Roman" panose="02020603050405020304" pitchFamily="18" charset="0"/>
              </a:rPr>
              <a:t>action.type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case 'INCR</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return state + </a:t>
            </a: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case 'DECR</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return state </a:t>
            </a:r>
            <a:r>
              <a:rPr lang="en-US" dirty="0" smtClean="0">
                <a:latin typeface="Times New Roman" panose="02020603050405020304" pitchFamily="18" charset="0"/>
                <a:cs typeface="Times New Roman" panose="02020603050405020304" pitchFamily="18" charset="0"/>
              </a:rPr>
              <a:t>– 1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default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return </a:t>
            </a:r>
            <a:r>
              <a:rPr lang="en-US" dirty="0" smtClean="0">
                <a:latin typeface="Times New Roman" panose="02020603050405020304" pitchFamily="18" charset="0"/>
                <a:cs typeface="Times New Roman" panose="02020603050405020304" pitchFamily="18" charset="0"/>
              </a:rPr>
              <a:t>state</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let </a:t>
            </a:r>
            <a:r>
              <a:rPr lang="en-US" dirty="0" err="1">
                <a:latin typeface="Times New Roman" panose="02020603050405020304" pitchFamily="18" charset="0"/>
                <a:cs typeface="Times New Roman" panose="02020603050405020304" pitchFamily="18" charset="0"/>
              </a:rPr>
              <a:t>sample_store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createStore</a:t>
            </a:r>
            <a:r>
              <a:rPr lang="en-US" dirty="0">
                <a:latin typeface="Times New Roman" panose="02020603050405020304" pitchFamily="18" charset="0"/>
                <a:cs typeface="Times New Roman" panose="02020603050405020304" pitchFamily="18" charset="0"/>
              </a:rPr>
              <a:t>(count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sample_store.subscribe</a:t>
            </a:r>
            <a:r>
              <a:rPr lang="en-US" dirty="0">
                <a:latin typeface="Times New Roman" panose="02020603050405020304" pitchFamily="18" charset="0"/>
                <a:cs typeface="Times New Roman" panose="02020603050405020304" pitchFamily="18" charset="0"/>
              </a:rPr>
              <a:t>(() =&gt; console.log(</a:t>
            </a:r>
            <a:r>
              <a:rPr lang="en-US" dirty="0" err="1">
                <a:latin typeface="Times New Roman" panose="02020603050405020304" pitchFamily="18" charset="0"/>
                <a:cs typeface="Times New Roman" panose="02020603050405020304" pitchFamily="18" charset="0"/>
              </a:rPr>
              <a:t>sample_store.getState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sample_store.dispatch</a:t>
            </a:r>
            <a:r>
              <a:rPr lang="en-US" dirty="0">
                <a:latin typeface="Times New Roman" panose="02020603050405020304" pitchFamily="18" charset="0"/>
                <a:cs typeface="Times New Roman" panose="02020603050405020304" pitchFamily="18" charset="0"/>
              </a:rPr>
              <a:t>({ type: 'INCR' }) // Output: </a:t>
            </a: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sample_store.dispatch</a:t>
            </a:r>
            <a:r>
              <a:rPr lang="en-US" dirty="0">
                <a:latin typeface="Times New Roman" panose="02020603050405020304" pitchFamily="18" charset="0"/>
                <a:cs typeface="Times New Roman" panose="02020603050405020304" pitchFamily="18" charset="0"/>
              </a:rPr>
              <a:t>({ type: 'INCR' }) // Output: </a:t>
            </a:r>
            <a:r>
              <a:rPr lang="en-US" dirty="0" smtClean="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sample_store.dispatch</a:t>
            </a:r>
            <a:r>
              <a:rPr lang="en-US" dirty="0">
                <a:latin typeface="Times New Roman" panose="02020603050405020304" pitchFamily="18" charset="0"/>
                <a:cs typeface="Times New Roman" panose="02020603050405020304" pitchFamily="18" charset="0"/>
              </a:rPr>
              <a:t>({ type: 'DECR' }) // Output: 1</a:t>
            </a:r>
          </a:p>
        </p:txBody>
      </p:sp>
      <p:sp>
        <p:nvSpPr>
          <p:cNvPr id="4" name="TextBox 3"/>
          <p:cNvSpPr txBox="1"/>
          <p:nvPr/>
        </p:nvSpPr>
        <p:spPr>
          <a:xfrm>
            <a:off x="3124200" y="1257300"/>
            <a:ext cx="6172200"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Output: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Action Dispatched | Previous State | New State | Output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`'INCR'`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0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`'INCR'`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2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2 </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`'DECR</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 1 </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037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9144000"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Advantages and Disadvantages of Redux</a:t>
            </a:r>
            <a:endParaRPr lang="en-US" sz="2400"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0" y="533400"/>
            <a:ext cx="9144000" cy="63246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Advantages</a:t>
            </a:r>
            <a:endParaRPr lang="en-US" sz="24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dirty="0" smtClean="0">
                <a:latin typeface="Times New Roman" panose="02020603050405020304" pitchFamily="18" charset="0"/>
                <a:cs typeface="Times New Roman" panose="02020603050405020304" pitchFamily="18" charset="0"/>
              </a:rPr>
              <a:t>Centralized State</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Predictable State </a:t>
            </a:r>
            <a:r>
              <a:rPr lang="en-US" sz="2400" dirty="0" smtClean="0">
                <a:latin typeface="Times New Roman" panose="02020603050405020304" pitchFamily="18" charset="0"/>
                <a:cs typeface="Times New Roman" panose="02020603050405020304" pitchFamily="18" charset="0"/>
              </a:rPr>
              <a:t>Changes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Easy </a:t>
            </a:r>
            <a:r>
              <a:rPr lang="en-US" sz="2400" dirty="0" smtClean="0">
                <a:latin typeface="Times New Roman" panose="02020603050405020304" pitchFamily="18" charset="0"/>
                <a:cs typeface="Times New Roman" panose="02020603050405020304" pitchFamily="18" charset="0"/>
              </a:rPr>
              <a:t>Debugging</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Useful for Large </a:t>
            </a:r>
            <a:r>
              <a:rPr lang="en-US" sz="2400" dirty="0" smtClean="0">
                <a:latin typeface="Times New Roman" panose="02020603050405020304" pitchFamily="18" charset="0"/>
                <a:cs typeface="Times New Roman" panose="02020603050405020304" pitchFamily="18" charset="0"/>
              </a:rPr>
              <a:t>Applications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State Can Be </a:t>
            </a:r>
            <a:r>
              <a:rPr lang="en-US" sz="2400" dirty="0" smtClean="0">
                <a:latin typeface="Times New Roman" panose="02020603050405020304" pitchFamily="18" charset="0"/>
                <a:cs typeface="Times New Roman" panose="02020603050405020304" pitchFamily="18" charset="0"/>
              </a:rPr>
              <a:t>Shared</a:t>
            </a:r>
          </a:p>
          <a:p>
            <a:pPr marL="0" indent="0">
              <a:buNone/>
            </a:pPr>
            <a:r>
              <a:rPr lang="en-US" sz="2400" b="1" dirty="0">
                <a:latin typeface="Times New Roman" panose="02020603050405020304" pitchFamily="18" charset="0"/>
                <a:cs typeface="Times New Roman" panose="02020603050405020304" pitchFamily="18" charset="0"/>
              </a:rPr>
              <a:t>Disadvantages </a:t>
            </a:r>
            <a:endParaRPr lang="en-US" sz="2400" b="1"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can require additional code and concepts.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It may be unnecessary for small applications.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Beginners need to understand actions, reducers, store, dispatch, and selectors.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Poorly structured Redux code can become difficult to maintain.</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254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buNone/>
            </a:pPr>
            <a:r>
              <a:rPr lang="en-US" b="1" dirty="0" smtClean="0">
                <a:latin typeface="Times New Roman" panose="02020603050405020304" pitchFamily="18" charset="0"/>
                <a:cs typeface="Times New Roman" panose="02020603050405020304" pitchFamily="18" charset="0"/>
              </a:rPr>
              <a:t>Difference between Flux and Redux:</a:t>
            </a:r>
            <a:endParaRPr lang="en-US" b="1"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067010458"/>
              </p:ext>
            </p:extLst>
          </p:nvPr>
        </p:nvGraphicFramePr>
        <p:xfrm>
          <a:off x="1295400" y="1066800"/>
          <a:ext cx="7315200" cy="4754880"/>
        </p:xfrm>
        <a:graphic>
          <a:graphicData uri="http://schemas.openxmlformats.org/drawingml/2006/table">
            <a:tbl>
              <a:tblPr firstRow="1" bandRow="1">
                <a:tableStyleId>{5940675A-B579-460E-94D1-54222C63F5DA}</a:tableStyleId>
              </a:tblPr>
              <a:tblGrid>
                <a:gridCol w="3657600"/>
                <a:gridCol w="3657600"/>
              </a:tblGrid>
              <a:tr h="370840">
                <a:tc>
                  <a:txBody>
                    <a:bodyPr/>
                    <a:lstStyle/>
                    <a:p>
                      <a:pPr algn="ctr"/>
                      <a:r>
                        <a:rPr lang="en-US" sz="2400" b="1" dirty="0">
                          <a:latin typeface="Times New Roman" panose="02020603050405020304" pitchFamily="18" charset="0"/>
                          <a:cs typeface="Times New Roman" panose="02020603050405020304" pitchFamily="18" charset="0"/>
                        </a:rPr>
                        <a:t>Flux</a:t>
                      </a:r>
                    </a:p>
                  </a:txBody>
                  <a:tcPr anchor="ctr"/>
                </a:tc>
                <a:tc>
                  <a:txBody>
                    <a:bodyPr/>
                    <a:lstStyle/>
                    <a:p>
                      <a:pPr algn="ctr"/>
                      <a:r>
                        <a:rPr lang="en-US" sz="2400" b="1" dirty="0">
                          <a:latin typeface="Times New Roman" panose="02020603050405020304" pitchFamily="18" charset="0"/>
                          <a:cs typeface="Times New Roman" panose="02020603050405020304" pitchFamily="18" charset="0"/>
                        </a:rPr>
                        <a:t>Redux</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Multiple Stores can be used</a:t>
                      </a:r>
                    </a:p>
                  </a:txBody>
                  <a:tcPr anchor="ctr"/>
                </a:tc>
                <a:tc>
                  <a:txBody>
                    <a:bodyPr/>
                    <a:lstStyle/>
                    <a:p>
                      <a:r>
                        <a:rPr lang="en-US" sz="2400">
                          <a:latin typeface="Times New Roman" panose="02020603050405020304" pitchFamily="18" charset="0"/>
                          <a:cs typeface="Times New Roman" panose="02020603050405020304" pitchFamily="18" charset="0"/>
                        </a:rPr>
                        <a:t>Usually one Store</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Uses Dispatcher</a:t>
                      </a:r>
                    </a:p>
                  </a:txBody>
                  <a:tcPr anchor="ctr"/>
                </a:tc>
                <a:tc>
                  <a:txBody>
                    <a:bodyPr/>
                    <a:lstStyle/>
                    <a:p>
                      <a:r>
                        <a:rPr lang="en-US" sz="2400">
                          <a:latin typeface="Times New Roman" panose="02020603050405020304" pitchFamily="18" charset="0"/>
                          <a:cs typeface="Times New Roman" panose="02020603050405020304" pitchFamily="18" charset="0"/>
                        </a:rPr>
                        <a:t>No separate Dispatcher</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Store contains state and logic</a:t>
                      </a:r>
                    </a:p>
                  </a:txBody>
                  <a:tcPr anchor="ctr"/>
                </a:tc>
                <a:tc>
                  <a:txBody>
                    <a:bodyPr/>
                    <a:lstStyle/>
                    <a:p>
                      <a:r>
                        <a:rPr lang="en-US" sz="2400">
                          <a:latin typeface="Times New Roman" panose="02020603050405020304" pitchFamily="18" charset="0"/>
                          <a:cs typeface="Times New Roman" panose="02020603050405020304" pitchFamily="18" charset="0"/>
                        </a:rPr>
                        <a:t>Reducers handle state transitions</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Action → Dispatcher → Store</a:t>
                      </a:r>
                    </a:p>
                  </a:txBody>
                  <a:tcPr anchor="ctr"/>
                </a:tc>
                <a:tc>
                  <a:txBody>
                    <a:bodyPr/>
                    <a:lstStyle/>
                    <a:p>
                      <a:r>
                        <a:rPr lang="en-US" sz="2400">
                          <a:latin typeface="Times New Roman" panose="02020603050405020304" pitchFamily="18" charset="0"/>
                          <a:cs typeface="Times New Roman" panose="02020603050405020304" pitchFamily="18" charset="0"/>
                        </a:rPr>
                        <a:t>Action → Reducer → Store</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More flexible</a:t>
                      </a:r>
                    </a:p>
                  </a:txBody>
                  <a:tcPr anchor="ctr"/>
                </a:tc>
                <a:tc>
                  <a:txBody>
                    <a:bodyPr/>
                    <a:lstStyle/>
                    <a:p>
                      <a:r>
                        <a:rPr lang="en-US" sz="2400">
                          <a:latin typeface="Times New Roman" panose="02020603050405020304" pitchFamily="18" charset="0"/>
                          <a:cs typeface="Times New Roman" panose="02020603050405020304" pitchFamily="18" charset="0"/>
                        </a:rPr>
                        <a:t>More structured</a:t>
                      </a:r>
                    </a:p>
                  </a:txBody>
                  <a:tcPr anchor="ctr"/>
                </a:tc>
              </a:tr>
              <a:tr h="370840">
                <a:tc>
                  <a:txBody>
                    <a:bodyPr/>
                    <a:lstStyle/>
                    <a:p>
                      <a:r>
                        <a:rPr lang="en-US" sz="2400" dirty="0">
                          <a:latin typeface="Times New Roman" panose="02020603050405020304" pitchFamily="18" charset="0"/>
                          <a:cs typeface="Times New Roman" panose="02020603050405020304" pitchFamily="18" charset="0"/>
                        </a:rPr>
                        <a:t>Stores can be event-based</a:t>
                      </a:r>
                    </a:p>
                  </a:txBody>
                  <a:tcPr anchor="ctr"/>
                </a:tc>
                <a:tc>
                  <a:txBody>
                    <a:bodyPr/>
                    <a:lstStyle/>
                    <a:p>
                      <a:r>
                        <a:rPr lang="en-US" sz="2400" dirty="0">
                          <a:latin typeface="Times New Roman" panose="02020603050405020304" pitchFamily="18" charset="0"/>
                          <a:cs typeface="Times New Roman" panose="02020603050405020304" pitchFamily="18" charset="0"/>
                        </a:rPr>
                        <a:t>State updates are predictable</a:t>
                      </a:r>
                    </a:p>
                  </a:txBody>
                  <a:tcPr anchor="ctr"/>
                </a:tc>
              </a:tr>
              <a:tr h="370840">
                <a:tc>
                  <a:txBody>
                    <a:bodyPr/>
                    <a:lstStyle/>
                    <a:p>
                      <a:r>
                        <a:rPr lang="en-US" sz="2400">
                          <a:latin typeface="Times New Roman" panose="02020603050405020304" pitchFamily="18" charset="0"/>
                          <a:cs typeface="Times New Roman" panose="02020603050405020304" pitchFamily="18" charset="0"/>
                        </a:rPr>
                        <a:t>Flux</a:t>
                      </a:r>
                    </a:p>
                  </a:txBody>
                  <a:tcPr anchor="ctr"/>
                </a:tc>
                <a:tc>
                  <a:txBody>
                    <a:bodyPr/>
                    <a:lstStyle/>
                    <a:p>
                      <a:r>
                        <a:rPr lang="en-US" sz="2400" dirty="0">
                          <a:latin typeface="Times New Roman" panose="02020603050405020304" pitchFamily="18" charset="0"/>
                          <a:cs typeface="Times New Roman" panose="02020603050405020304" pitchFamily="18" charset="0"/>
                        </a:rPr>
                        <a:t>Redux</a:t>
                      </a:r>
                    </a:p>
                  </a:txBody>
                  <a:tcPr anchor="ctr"/>
                </a:tc>
              </a:tr>
            </a:tbl>
          </a:graphicData>
        </a:graphic>
      </p:graphicFrame>
    </p:spTree>
    <p:extLst>
      <p:ext uri="{BB962C8B-B14F-4D97-AF65-F5344CB8AC3E}">
        <p14:creationId xmlns:p14="http://schemas.microsoft.com/office/powerpoint/2010/main" val="389303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Principles of Redux are as follows</a:t>
            </a:r>
            <a:r>
              <a:rPr lang="en-US" sz="2200" b="1" dirty="0" smtClean="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Single Source of Truth</a:t>
            </a:r>
            <a:r>
              <a:rPr lang="en-US" sz="2200" b="1" dirty="0" smtClean="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Redux emphasizes having a single, immutable store for the entire application's state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This means all your application's data resides in one JavaScript object within this store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This principle simplifies state management and makes it easier to track changes and debug issues</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Centralized State</a:t>
            </a:r>
            <a:r>
              <a:rPr lang="en-US" sz="2200" b="1" dirty="0" smtClean="0">
                <a:latin typeface="Times New Roman" panose="02020603050405020304" pitchFamily="18" charset="0"/>
                <a:cs typeface="Times New Roman" panose="02020603050405020304" pitchFamily="18" charset="0"/>
              </a:rPr>
              <a:t>:</a:t>
            </a:r>
            <a:endParaRPr lang="en-US" sz="2200" b="1"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Instead of individual React components managing their own isolated pieces of state, the store </a:t>
            </a:r>
            <a:r>
              <a:rPr lang="en-US" sz="2200" dirty="0" smtClean="0">
                <a:latin typeface="Times New Roman" panose="02020603050405020304" pitchFamily="18" charset="0"/>
                <a:cs typeface="Times New Roman" panose="02020603050405020304" pitchFamily="18" charset="0"/>
              </a:rPr>
              <a:t>provides a </a:t>
            </a:r>
            <a:r>
              <a:rPr lang="en-US" sz="2200" dirty="0">
                <a:latin typeface="Times New Roman" panose="02020603050405020304" pitchFamily="18" charset="0"/>
                <a:cs typeface="Times New Roman" panose="02020603050405020304" pitchFamily="18" charset="0"/>
              </a:rPr>
              <a:t>global state that can be accessed and updated by any component that needs it</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This is particularly useful for sharing data between components that are not directly related in </a:t>
            </a:r>
            <a:r>
              <a:rPr lang="en-US" sz="2200" dirty="0" smtClean="0">
                <a:latin typeface="Times New Roman" panose="02020603050405020304" pitchFamily="18" charset="0"/>
                <a:cs typeface="Times New Roman" panose="02020603050405020304" pitchFamily="18" charset="0"/>
              </a:rPr>
              <a:t>the component </a:t>
            </a:r>
            <a:r>
              <a:rPr lang="en-US" sz="2200" dirty="0">
                <a:latin typeface="Times New Roman" panose="02020603050405020304" pitchFamily="18" charset="0"/>
                <a:cs typeface="Times New Roman" panose="02020603050405020304" pitchFamily="18" charset="0"/>
              </a:rPr>
              <a:t>tree</a:t>
            </a:r>
            <a:r>
              <a:rPr lang="en-US" sz="2200" dirty="0" smtClean="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Immutability:</a:t>
            </a:r>
          </a:p>
          <a:p>
            <a:pPr marL="0" indent="0">
              <a:buNone/>
            </a:pPr>
            <a:r>
              <a:rPr lang="en-US" sz="2200" dirty="0">
                <a:latin typeface="Times New Roman" panose="02020603050405020304" pitchFamily="18" charset="0"/>
                <a:cs typeface="Times New Roman" panose="02020603050405020304" pitchFamily="18" charset="0"/>
              </a:rPr>
              <a:t>The store's state is designed to be immutable.</a:t>
            </a:r>
          </a:p>
          <a:p>
            <a:pPr marL="0" indent="0">
              <a:buNone/>
            </a:pPr>
            <a:r>
              <a:rPr lang="en-US" sz="2200" dirty="0">
                <a:latin typeface="Times New Roman" panose="02020603050405020304" pitchFamily="18" charset="0"/>
                <a:cs typeface="Times New Roman" panose="02020603050405020304" pitchFamily="18" charset="0"/>
              </a:rPr>
              <a:t>When a state change occurs, a new state object is created, rather than directly modifying the </a:t>
            </a:r>
            <a:r>
              <a:rPr lang="en-US" sz="2200" dirty="0" smtClean="0">
                <a:latin typeface="Times New Roman" panose="02020603050405020304" pitchFamily="18" charset="0"/>
                <a:cs typeface="Times New Roman" panose="02020603050405020304" pitchFamily="18" charset="0"/>
              </a:rPr>
              <a:t>existing one</a:t>
            </a:r>
            <a:r>
              <a:rPr lang="en-US" sz="2200" dirty="0">
                <a:latin typeface="Times New Roman" panose="02020603050405020304" pitchFamily="18" charset="0"/>
                <a:cs typeface="Times New Roman" panose="02020603050405020304" pitchFamily="18" charset="0"/>
              </a:rPr>
              <a:t>.</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7887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627</TotalTime>
  <Words>2126</Words>
  <Application>Microsoft Office PowerPoint</Application>
  <PresentationFormat>On-screen Show (4:3)</PresentationFormat>
  <Paragraphs>299</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FLUX, REDUX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Management and API</dc:title>
  <dc:creator>pc121</dc:creator>
  <cp:lastModifiedBy>pc121</cp:lastModifiedBy>
  <cp:revision>54</cp:revision>
  <dcterms:created xsi:type="dcterms:W3CDTF">2026-09-08T05:23:55Z</dcterms:created>
  <dcterms:modified xsi:type="dcterms:W3CDTF">2026-09-17T08:08:00Z</dcterms:modified>
</cp:coreProperties>
</file>