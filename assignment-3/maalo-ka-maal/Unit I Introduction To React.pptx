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71" r:id="rId3"/>
    <p:sldId id="272" r:id="rId4"/>
    <p:sldId id="273" r:id="rId5"/>
    <p:sldId id="274" r:id="rId6"/>
    <p:sldId id="275" r:id="rId7"/>
    <p:sldId id="276" r:id="rId8"/>
    <p:sldId id="277" r:id="rId9"/>
    <p:sldId id="278" r:id="rId10"/>
    <p:sldId id="257" r:id="rId11"/>
    <p:sldId id="279" r:id="rId12"/>
    <p:sldId id="280" r:id="rId13"/>
    <p:sldId id="258" r:id="rId14"/>
    <p:sldId id="259" r:id="rId15"/>
    <p:sldId id="281" r:id="rId16"/>
    <p:sldId id="282" r:id="rId17"/>
    <p:sldId id="283" r:id="rId18"/>
    <p:sldId id="284" r:id="rId19"/>
    <p:sldId id="261" r:id="rId20"/>
    <p:sldId id="262" r:id="rId21"/>
    <p:sldId id="263" r:id="rId22"/>
    <p:sldId id="264" r:id="rId23"/>
    <p:sldId id="285" r:id="rId24"/>
    <p:sldId id="286" r:id="rId25"/>
    <p:sldId id="287" r:id="rId26"/>
    <p:sldId id="288" r:id="rId27"/>
    <p:sldId id="289" r:id="rId28"/>
    <p:sldId id="290" r:id="rId29"/>
    <p:sldId id="291" r:id="rId30"/>
    <p:sldId id="292" r:id="rId31"/>
    <p:sldId id="293" r:id="rId32"/>
    <p:sldId id="268" r:id="rId33"/>
    <p:sldId id="296" r:id="rId34"/>
    <p:sldId id="269" r:id="rId35"/>
    <p:sldId id="294" r:id="rId36"/>
    <p:sldId id="295" r:id="rId37"/>
    <p:sldId id="270" r:id="rId38"/>
    <p:sldId id="266" r:id="rId39"/>
    <p:sldId id="26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61569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61800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41585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3293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1570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4246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63997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78024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8973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95292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57785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7/13/2026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196952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41E22-94FC-4A26-908C-74CCF15862DE}"/>
              </a:ext>
            </a:extLst>
          </p:cNvPr>
          <p:cNvSpPr>
            <a:spLocks noGrp="1"/>
          </p:cNvSpPr>
          <p:nvPr>
            <p:ph type="ctrTitle"/>
          </p:nvPr>
        </p:nvSpPr>
        <p:spPr>
          <a:xfrm>
            <a:off x="1595269" y="1125661"/>
            <a:ext cx="9001462" cy="2387600"/>
          </a:xfrm>
        </p:spPr>
        <p:txBody>
          <a:bodyPr/>
          <a:lstStyle/>
          <a:p>
            <a:r>
              <a:rPr lang="en-US" b="1" dirty="0">
                <a:latin typeface="Times New Roman" panose="02020603050405020304" pitchFamily="18" charset="0"/>
                <a:cs typeface="Times New Roman" panose="02020603050405020304" pitchFamily="18" charset="0"/>
              </a:rPr>
              <a:t>Introduction To React</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07E2EA1-3CB8-42A3-BC19-412E8438CAD8}"/>
              </a:ext>
            </a:extLst>
          </p:cNvPr>
          <p:cNvSpPr>
            <a:spLocks noGrp="1"/>
          </p:cNvSpPr>
          <p:nvPr>
            <p:ph type="subTitle" idx="1"/>
          </p:nvPr>
        </p:nvSpPr>
        <p:spPr>
          <a:xfrm>
            <a:off x="2500791" y="3602038"/>
            <a:ext cx="9001462" cy="1655762"/>
          </a:xfrm>
        </p:spPr>
        <p:txBody>
          <a:bodyPr/>
          <a:lstStyle/>
          <a:p>
            <a:pPr algn="r"/>
            <a:endParaRPr lang="en-US" b="1" dirty="0">
              <a:latin typeface="Times New Roman" panose="02020603050405020304" pitchFamily="18" charset="0"/>
              <a:cs typeface="Times New Roman" panose="02020603050405020304" pitchFamily="18" charset="0"/>
            </a:endParaRPr>
          </a:p>
          <a:p>
            <a:pPr algn="r"/>
            <a:r>
              <a:rPr lang="en-US" b="1" dirty="0">
                <a:latin typeface="Times New Roman" panose="02020603050405020304" pitchFamily="18" charset="0"/>
                <a:cs typeface="Times New Roman" panose="02020603050405020304" pitchFamily="18" charset="0"/>
              </a:rPr>
              <a:t>By Prof. Soleha . A . Sayyed</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2526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C2C6F-ABA8-1575-FB38-F3E44FBED04C}"/>
              </a:ext>
            </a:extLst>
          </p:cNvPr>
          <p:cNvSpPr>
            <a:spLocks noGrp="1"/>
          </p:cNvSpPr>
          <p:nvPr>
            <p:ph type="title"/>
          </p:nvPr>
        </p:nvSpPr>
        <p:spPr>
          <a:xfrm>
            <a:off x="0" y="18256"/>
            <a:ext cx="5936776" cy="541302"/>
          </a:xfrm>
        </p:spPr>
        <p:txBody>
          <a:bodyPr>
            <a:normAutofit/>
          </a:bodyPr>
          <a:lstStyle/>
          <a:p>
            <a:r>
              <a:rPr lang="en-US" sz="2800" b="1" dirty="0">
                <a:latin typeface="Times New Roman" panose="02020603050405020304" pitchFamily="18" charset="0"/>
                <a:cs typeface="Times New Roman" panose="02020603050405020304" pitchFamily="18" charset="0"/>
              </a:rPr>
              <a:t>Evolution of Front-end Frameworks:</a:t>
            </a:r>
          </a:p>
        </p:txBody>
      </p:sp>
      <p:sp>
        <p:nvSpPr>
          <p:cNvPr id="3" name="Content Placeholder 2">
            <a:extLst>
              <a:ext uri="{FF2B5EF4-FFF2-40B4-BE49-F238E27FC236}">
                <a16:creationId xmlns:a16="http://schemas.microsoft.com/office/drawing/2014/main" id="{C958489F-EB24-B6BA-493E-038BCF2F20FE}"/>
              </a:ext>
            </a:extLst>
          </p:cNvPr>
          <p:cNvSpPr>
            <a:spLocks noGrp="1"/>
          </p:cNvSpPr>
          <p:nvPr>
            <p:ph idx="1"/>
          </p:nvPr>
        </p:nvSpPr>
        <p:spPr>
          <a:xfrm>
            <a:off x="0" y="665566"/>
            <a:ext cx="12192000" cy="6192434"/>
          </a:xfrm>
        </p:spPr>
        <p:txBody>
          <a:bodyPr>
            <a:normAutofit lnSpcReduction="10000"/>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evolution of frontend frameworks witnesses Angular and React emerge as widely popular JS frameworks utilized by Software Professionals globally.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They are instrumental in creating rich content and interactive web applications, particularly focusing on frontend development, shaping what users see and visualize.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For example, giants like Facebook, Amazon, and Google have already been widely using these frameworks to increase their popularity.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Explore the evolution of frontend frameworks with these versatile tools.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React, which gave developers the flexibility to build applications using a centralized immutable state approach (all of the data in the application is in one place, remaining unchanged as opposed to MVC), such as Redux, whilst having the freedom to use any other libraries alongside this lightweight, but powerful centerpiece of the application.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Facebook then became a major contributor to the Front-End Developer community.</a:t>
            </a:r>
          </a:p>
        </p:txBody>
      </p:sp>
    </p:spTree>
    <p:extLst>
      <p:ext uri="{BB962C8B-B14F-4D97-AF65-F5344CB8AC3E}">
        <p14:creationId xmlns:p14="http://schemas.microsoft.com/office/powerpoint/2010/main" val="2675334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F73CD2-7510-3DA3-484C-2430DD02EE44}"/>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Single Page Application</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A Single Page Application (SPA) is a web app that loads content dynamically without refreshing the whole page. </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It uses JavaScript to update only the required parts of the screen based on user actions. </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This creates a smooth, fast, and app-like user experience.</a:t>
            </a:r>
          </a:p>
          <a:p>
            <a:pPr fontAlgn="base"/>
            <a:r>
              <a:rPr lang="en-US" dirty="0">
                <a:latin typeface="Times New Roman" panose="02020603050405020304" pitchFamily="18" charset="0"/>
                <a:cs typeface="Times New Roman" panose="02020603050405020304" pitchFamily="18" charset="0"/>
              </a:rPr>
              <a:t>Eliminates full page reloads for better performance</a:t>
            </a:r>
          </a:p>
          <a:p>
            <a:pPr fontAlgn="base"/>
            <a:r>
              <a:rPr lang="en-US" dirty="0">
                <a:latin typeface="Times New Roman" panose="02020603050405020304" pitchFamily="18" charset="0"/>
                <a:cs typeface="Times New Roman" panose="02020603050405020304" pitchFamily="18" charset="0"/>
              </a:rPr>
              <a:t>Sends and updates only the necessary data from the server</a:t>
            </a:r>
          </a:p>
          <a:p>
            <a:pPr fontAlgn="base"/>
            <a:r>
              <a:rPr lang="en-US" dirty="0">
                <a:latin typeface="Times New Roman" panose="02020603050405020304" pitchFamily="18" charset="0"/>
                <a:cs typeface="Times New Roman" panose="02020603050405020304" pitchFamily="18" charset="0"/>
              </a:rPr>
              <a:t>Provides a more responsive and seamless interface</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2B5E703-1C7F-742B-FA46-45FAADD1B611}"/>
              </a:ext>
            </a:extLst>
          </p:cNvPr>
          <p:cNvPicPr>
            <a:picLocks noChangeAspect="1"/>
          </p:cNvPicPr>
          <p:nvPr/>
        </p:nvPicPr>
        <p:blipFill>
          <a:blip r:embed="rId2"/>
          <a:stretch>
            <a:fillRect/>
          </a:stretch>
        </p:blipFill>
        <p:spPr>
          <a:xfrm>
            <a:off x="0" y="4450307"/>
            <a:ext cx="5873088" cy="2407693"/>
          </a:xfrm>
          <a:prstGeom prst="rect">
            <a:avLst/>
          </a:prstGeom>
        </p:spPr>
      </p:pic>
      <p:pic>
        <p:nvPicPr>
          <p:cNvPr id="6" name="Picture 5" descr="traditional_page_lifecycle.webp">
            <a:extLst>
              <a:ext uri="{FF2B5EF4-FFF2-40B4-BE49-F238E27FC236}">
                <a16:creationId xmlns:a16="http://schemas.microsoft.com/office/drawing/2014/main" id="{51F57634-D4AD-D387-2FDF-6E23CB4755A1}"/>
              </a:ext>
            </a:extLst>
          </p:cNvPr>
          <p:cNvPicPr>
            <a:picLocks noChangeAspect="1"/>
          </p:cNvPicPr>
          <p:nvPr/>
        </p:nvPicPr>
        <p:blipFill>
          <a:blip r:embed="rId3"/>
          <a:stretch>
            <a:fillRect/>
          </a:stretch>
        </p:blipFill>
        <p:spPr>
          <a:xfrm>
            <a:off x="6318913" y="4450307"/>
            <a:ext cx="5873088" cy="2407693"/>
          </a:xfrm>
          <a:prstGeom prst="rect">
            <a:avLst/>
          </a:prstGeom>
        </p:spPr>
      </p:pic>
    </p:spTree>
    <p:extLst>
      <p:ext uri="{BB962C8B-B14F-4D97-AF65-F5344CB8AC3E}">
        <p14:creationId xmlns:p14="http://schemas.microsoft.com/office/powerpoint/2010/main" val="2586961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0B5499-E010-76EB-8EA4-1586A1CA18BF}"/>
              </a:ext>
            </a:extLst>
          </p:cNvPr>
          <p:cNvSpPr>
            <a:spLocks noGrp="1"/>
          </p:cNvSpPr>
          <p:nvPr>
            <p:ph idx="1"/>
          </p:nvPr>
        </p:nvSpPr>
        <p:spPr>
          <a:xfrm>
            <a:off x="0" y="0"/>
            <a:ext cx="12192000" cy="6858000"/>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Scenarios to Use SPA</a:t>
            </a:r>
          </a:p>
          <a:p>
            <a:pPr fontAlgn="base"/>
            <a:r>
              <a:rPr lang="en-US" b="1" dirty="0">
                <a:latin typeface="Times New Roman" panose="02020603050405020304" pitchFamily="18" charset="0"/>
                <a:cs typeface="Times New Roman" panose="02020603050405020304" pitchFamily="18" charset="0"/>
              </a:rPr>
              <a:t>Dynamic Interactions:</a:t>
            </a:r>
            <a:r>
              <a:rPr lang="en-US" dirty="0">
                <a:latin typeface="Times New Roman" panose="02020603050405020304" pitchFamily="18" charset="0"/>
                <a:cs typeface="Times New Roman" panose="02020603050405020304" pitchFamily="18" charset="0"/>
              </a:rPr>
              <a:t> Choose SPAs for applications requiring frequent user interactions without full page reloads.</a:t>
            </a:r>
          </a:p>
          <a:p>
            <a:pPr fontAlgn="base"/>
            <a:r>
              <a:rPr lang="en-US" b="1" dirty="0">
                <a:latin typeface="Times New Roman" panose="02020603050405020304" pitchFamily="18" charset="0"/>
                <a:cs typeface="Times New Roman" panose="02020603050405020304" pitchFamily="18" charset="0"/>
              </a:rPr>
              <a:t>Real-Time Updates:</a:t>
            </a:r>
            <a:r>
              <a:rPr lang="en-US" dirty="0">
                <a:latin typeface="Times New Roman" panose="02020603050405020304" pitchFamily="18" charset="0"/>
                <a:cs typeface="Times New Roman" panose="02020603050405020304" pitchFamily="18" charset="0"/>
              </a:rPr>
              <a:t> To decide for SPAs when real-time responsiveness is crucial for a seamless user experience.</a:t>
            </a:r>
          </a:p>
          <a:p>
            <a:pPr fontAlgn="base"/>
            <a:r>
              <a:rPr lang="en-US" b="1" dirty="0">
                <a:latin typeface="Times New Roman" panose="02020603050405020304" pitchFamily="18" charset="0"/>
                <a:cs typeface="Times New Roman" panose="02020603050405020304" pitchFamily="18" charset="0"/>
              </a:rPr>
              <a:t>Mobile-Friendly:</a:t>
            </a:r>
            <a:r>
              <a:rPr lang="en-US" dirty="0">
                <a:latin typeface="Times New Roman" panose="02020603050405020304" pitchFamily="18" charset="0"/>
                <a:cs typeface="Times New Roman" panose="02020603050405020304" pitchFamily="18" charset="0"/>
              </a:rPr>
              <a:t> Use SPAs for mobile-friendly apps, providing an app-like feel with smooth transitions.</a:t>
            </a:r>
          </a:p>
          <a:p>
            <a:pPr fontAlgn="base"/>
            <a:r>
              <a:rPr lang="en-US" b="1" dirty="0">
                <a:latin typeface="Times New Roman" panose="02020603050405020304" pitchFamily="18" charset="0"/>
                <a:cs typeface="Times New Roman" panose="02020603050405020304" pitchFamily="18" charset="0"/>
              </a:rPr>
              <a:t>Rich User Interfaces:</a:t>
            </a:r>
            <a:r>
              <a:rPr lang="en-US" dirty="0">
                <a:latin typeface="Times New Roman" panose="02020603050405020304" pitchFamily="18" charset="0"/>
                <a:cs typeface="Times New Roman" panose="02020603050405020304" pitchFamily="18" charset="0"/>
              </a:rPr>
              <a:t> Consider SPAs for interactive interfaces with features like animations and dynamic content.</a:t>
            </a:r>
          </a:p>
          <a:p>
            <a:pPr fontAlgn="base"/>
            <a:r>
              <a:rPr lang="en-US" b="1" dirty="0">
                <a:latin typeface="Times New Roman" panose="02020603050405020304" pitchFamily="18" charset="0"/>
                <a:cs typeface="Times New Roman" panose="02020603050405020304" pitchFamily="18" charset="0"/>
              </a:rPr>
              <a:t>Minimized Server Load:</a:t>
            </a:r>
            <a:r>
              <a:rPr lang="en-US" dirty="0">
                <a:latin typeface="Times New Roman" panose="02020603050405020304" pitchFamily="18" charset="0"/>
                <a:cs typeface="Times New Roman" panose="02020603050405020304" pitchFamily="18" charset="0"/>
              </a:rPr>
              <a:t> Utilize SPAs when reducing server load and bandwidth usage is a priority.</a:t>
            </a:r>
          </a:p>
          <a:p>
            <a:pPr fontAlgn="base"/>
            <a:r>
              <a:rPr lang="en-US" b="1" dirty="0">
                <a:latin typeface="Times New Roman" panose="02020603050405020304" pitchFamily="18" charset="0"/>
                <a:cs typeface="Times New Roman" panose="02020603050405020304" pitchFamily="18" charset="0"/>
              </a:rPr>
              <a:t>Single-Page Content:</a:t>
            </a:r>
            <a:r>
              <a:rPr lang="en-US" dirty="0">
                <a:latin typeface="Times New Roman" panose="02020603050405020304" pitchFamily="18" charset="0"/>
                <a:cs typeface="Times New Roman" panose="02020603050405020304" pitchFamily="18" charset="0"/>
              </a:rPr>
              <a:t> Prefer SPAs for content logically presented on a single page, avoiding the need for multiple pages.</a:t>
            </a:r>
          </a:p>
          <a:p>
            <a:pPr fontAlgn="base"/>
            <a:r>
              <a:rPr lang="en-US" b="1" dirty="0">
                <a:latin typeface="Times New Roman" panose="02020603050405020304" pitchFamily="18" charset="0"/>
                <a:cs typeface="Times New Roman" panose="02020603050405020304" pitchFamily="18" charset="0"/>
              </a:rPr>
              <a:t>Cross-Platform Consistency:</a:t>
            </a:r>
            <a:r>
              <a:rPr lang="en-US" dirty="0">
                <a:latin typeface="Times New Roman" panose="02020603050405020304" pitchFamily="18" charset="0"/>
                <a:cs typeface="Times New Roman" panose="02020603050405020304" pitchFamily="18" charset="0"/>
              </a:rPr>
              <a:t> Choose SPAs for maintaining a consistent user experience across various devices and platforms.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660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BED9F9-5F69-689C-F6D8-6A45F3144B92}"/>
              </a:ext>
            </a:extLst>
          </p:cNvPr>
          <p:cNvSpPr>
            <a:spLocks noGrp="1"/>
          </p:cNvSpPr>
          <p:nvPr>
            <p:ph idx="1"/>
          </p:nvPr>
        </p:nvSpPr>
        <p:spPr>
          <a:xfrm>
            <a:off x="0" y="24120"/>
            <a:ext cx="12192000" cy="6833879"/>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SPA Architecture and its Working</a:t>
            </a:r>
          </a:p>
          <a:p>
            <a:pPr marL="0" indent="0">
              <a:buNone/>
            </a:pPr>
            <a:r>
              <a:rPr lang="en-US" dirty="0">
                <a:latin typeface="Times New Roman" panose="02020603050405020304" pitchFamily="18" charset="0"/>
                <a:cs typeface="Times New Roman" panose="02020603050405020304" pitchFamily="18" charset="0"/>
              </a:rPr>
              <a:t>A Single Page Application (SPA) loads once and then updates content without reloading the page, giving a fast and smooth user experience.</a:t>
            </a:r>
          </a:p>
          <a:p>
            <a:pPr marL="0" indent="0">
              <a:buNone/>
            </a:pPr>
            <a:r>
              <a:rPr lang="en-US" dirty="0">
                <a:latin typeface="Times New Roman" panose="02020603050405020304" pitchFamily="18" charset="0"/>
                <a:cs typeface="Times New Roman" panose="02020603050405020304" pitchFamily="18" charset="0"/>
              </a:rPr>
              <a:t>It includes three renderings :</a:t>
            </a:r>
          </a:p>
          <a:p>
            <a:pPr marL="0" indent="0" fontAlgn="base">
              <a:buNone/>
            </a:pPr>
            <a:r>
              <a:rPr lang="en-US" b="1" dirty="0">
                <a:latin typeface="Times New Roman" panose="02020603050405020304" pitchFamily="18" charset="0"/>
                <a:cs typeface="Times New Roman" panose="02020603050405020304" pitchFamily="18" charset="0"/>
              </a:rPr>
              <a:t>1. Client-side rendering</a:t>
            </a:r>
          </a:p>
          <a:p>
            <a:pPr fontAlgn="base"/>
            <a:r>
              <a:rPr lang="en-US" dirty="0">
                <a:latin typeface="Times New Roman" panose="02020603050405020304" pitchFamily="18" charset="0"/>
                <a:cs typeface="Times New Roman" panose="02020603050405020304" pitchFamily="18" charset="0"/>
              </a:rPr>
              <a:t> First, the browser requests HTML from the server.</a:t>
            </a:r>
          </a:p>
          <a:p>
            <a:pPr fontAlgn="base"/>
            <a:r>
              <a:rPr lang="en-US" dirty="0">
                <a:latin typeface="Times New Roman" panose="02020603050405020304" pitchFamily="18" charset="0"/>
                <a:cs typeface="Times New Roman" panose="02020603050405020304" pitchFamily="18" charset="0"/>
              </a:rPr>
              <a:t> Then the server swiftly responds with a basic HTML file and linked styles/scripts.</a:t>
            </a:r>
          </a:p>
          <a:p>
            <a:pPr fontAlgn="base"/>
            <a:r>
              <a:rPr lang="en-US" dirty="0">
                <a:latin typeface="Times New Roman" panose="02020603050405020304" pitchFamily="18" charset="0"/>
                <a:cs typeface="Times New Roman" panose="02020603050405020304" pitchFamily="18" charset="0"/>
              </a:rPr>
              <a:t> Now the user sees a blank page or loader while JavaScript executes.</a:t>
            </a:r>
          </a:p>
          <a:p>
            <a:pPr fontAlgn="base"/>
            <a:r>
              <a:rPr lang="en-US" dirty="0">
                <a:latin typeface="Times New Roman" panose="02020603050405020304" pitchFamily="18" charset="0"/>
                <a:cs typeface="Times New Roman" panose="02020603050405020304" pitchFamily="18" charset="0"/>
              </a:rPr>
              <a:t>App fetches data, creates views, and injects them into the DOM.</a:t>
            </a:r>
          </a:p>
          <a:p>
            <a:pPr fontAlgn="base"/>
            <a:r>
              <a:rPr lang="en-US" dirty="0">
                <a:latin typeface="Times New Roman" panose="02020603050405020304" pitchFamily="18" charset="0"/>
                <a:cs typeface="Times New Roman" panose="02020603050405020304" pitchFamily="18" charset="0"/>
              </a:rPr>
              <a:t>Client-Side Rendering (CSR) can be slower for basic websites because it uses a lot of device resources. </a:t>
            </a:r>
          </a:p>
          <a:p>
            <a:pPr fontAlgn="base"/>
            <a:r>
              <a:rPr lang="en-US" dirty="0">
                <a:latin typeface="Times New Roman" panose="02020603050405020304" pitchFamily="18" charset="0"/>
                <a:cs typeface="Times New Roman" panose="02020603050405020304" pitchFamily="18" charset="0"/>
              </a:rPr>
              <a:t>Yet, it's good for busy websites, making things faster for users. Just remember, if you want different social sharing options, you might need Server-Side Rendering (SSR) or Static Site Generation (SSG) instead.</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1938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79A5D8-9425-DEE3-E701-54B610CD67DF}"/>
              </a:ext>
            </a:extLst>
          </p:cNvPr>
          <p:cNvSpPr>
            <a:spLocks noGrp="1"/>
          </p:cNvSpPr>
          <p:nvPr>
            <p:ph idx="1"/>
          </p:nvPr>
        </p:nvSpPr>
        <p:spPr>
          <a:xfrm>
            <a:off x="0" y="10472"/>
            <a:ext cx="12192000" cy="6847527"/>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2. Server-side rendering (SSR)</a:t>
            </a:r>
          </a:p>
          <a:p>
            <a:pPr fontAlgn="base"/>
            <a:r>
              <a:rPr lang="en-US" dirty="0">
                <a:latin typeface="Times New Roman" panose="02020603050405020304" pitchFamily="18" charset="0"/>
                <a:cs typeface="Times New Roman" panose="02020603050405020304" pitchFamily="18" charset="0"/>
              </a:rPr>
              <a:t>The browser first asks the server for an HTML file.</a:t>
            </a:r>
          </a:p>
          <a:p>
            <a:pPr fontAlgn="base"/>
            <a:r>
              <a:rPr lang="en-US" dirty="0">
                <a:latin typeface="Times New Roman" panose="02020603050405020304" pitchFamily="18" charset="0"/>
                <a:cs typeface="Times New Roman" panose="02020603050405020304" pitchFamily="18" charset="0"/>
              </a:rPr>
              <a:t> Now the server gathers necessary data, builds the SPA, and creates an HTML file instantly.</a:t>
            </a:r>
          </a:p>
          <a:p>
            <a:pPr fontAlgn="base"/>
            <a:r>
              <a:rPr lang="en-US" dirty="0">
                <a:latin typeface="Times New Roman" panose="02020603050405020304" pitchFamily="18" charset="0"/>
                <a:cs typeface="Times New Roman" panose="02020603050405020304" pitchFamily="18" charset="0"/>
              </a:rPr>
              <a:t> Now the user sees the content ready to go.</a:t>
            </a:r>
          </a:p>
          <a:p>
            <a:pPr fontAlgn="base"/>
            <a:r>
              <a:rPr lang="en-US" dirty="0">
                <a:latin typeface="Times New Roman" panose="02020603050405020304" pitchFamily="18" charset="0"/>
                <a:cs typeface="Times New Roman" panose="02020603050405020304" pitchFamily="18" charset="0"/>
              </a:rPr>
              <a:t>Single-page app structure adds events, makes a virtual DOM, and gets things ready.</a:t>
            </a:r>
          </a:p>
          <a:p>
            <a:pPr fontAlgn="base"/>
            <a:r>
              <a:rPr lang="en-US" dirty="0">
                <a:latin typeface="Times New Roman" panose="02020603050405020304" pitchFamily="18" charset="0"/>
                <a:cs typeface="Times New Roman" panose="02020603050405020304" pitchFamily="18" charset="0"/>
              </a:rPr>
              <a:t>Now, the application is set for use.</a:t>
            </a:r>
          </a:p>
          <a:p>
            <a:pPr fontAlgn="base"/>
            <a:r>
              <a:rPr lang="en-US" dirty="0">
                <a:latin typeface="Times New Roman" panose="02020603050405020304" pitchFamily="18" charset="0"/>
                <a:cs typeface="Times New Roman" panose="02020603050405020304" pitchFamily="18" charset="0"/>
              </a:rPr>
              <a:t>HUSPI opts for server-side rendering to achieve a swift application experience, balancing the speed of single-page applications without burdening the user's browser, ensuring optimal app performance.</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9A63653-FC5D-51E8-A1AD-AB45C0C42E26}"/>
              </a:ext>
            </a:extLst>
          </p:cNvPr>
          <p:cNvPicPr>
            <a:picLocks noChangeAspect="1"/>
          </p:cNvPicPr>
          <p:nvPr/>
        </p:nvPicPr>
        <p:blipFill>
          <a:blip r:embed="rId2"/>
          <a:stretch>
            <a:fillRect/>
          </a:stretch>
        </p:blipFill>
        <p:spPr>
          <a:xfrm>
            <a:off x="6625988" y="4664359"/>
            <a:ext cx="5211169" cy="2193641"/>
          </a:xfrm>
          <a:prstGeom prst="rect">
            <a:avLst/>
          </a:prstGeom>
        </p:spPr>
      </p:pic>
    </p:spTree>
    <p:extLst>
      <p:ext uri="{BB962C8B-B14F-4D97-AF65-F5344CB8AC3E}">
        <p14:creationId xmlns:p14="http://schemas.microsoft.com/office/powerpoint/2010/main" val="3138359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74C865-74A8-822C-6A66-12AD1F421107}"/>
              </a:ext>
            </a:extLst>
          </p:cNvPr>
          <p:cNvSpPr>
            <a:spLocks noGrp="1"/>
          </p:cNvSpPr>
          <p:nvPr>
            <p:ph idx="1"/>
          </p:nvPr>
        </p:nvSpPr>
        <p:spPr>
          <a:xfrm>
            <a:off x="0" y="24120"/>
            <a:ext cx="12192000" cy="6833879"/>
          </a:xfrm>
        </p:spPr>
        <p:txBody>
          <a:bodyPr/>
          <a:lstStyle/>
          <a:p>
            <a:pPr marL="0" indent="0" fontAlgn="base">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Static site generator (SSG)</a:t>
            </a:r>
          </a:p>
          <a:p>
            <a:pPr fontAlgn="base"/>
            <a:r>
              <a:rPr lang="en-US" dirty="0">
                <a:latin typeface="Times New Roman" panose="02020603050405020304" pitchFamily="18" charset="0"/>
                <a:cs typeface="Times New Roman" panose="02020603050405020304" pitchFamily="18" charset="0"/>
              </a:rPr>
              <a:t>Browsers ask for HTML; SSGs quickly provide pre-made static pages.</a:t>
            </a:r>
          </a:p>
          <a:p>
            <a:pPr fontAlgn="base"/>
            <a:r>
              <a:rPr lang="en-US" dirty="0">
                <a:latin typeface="Times New Roman" panose="02020603050405020304" pitchFamily="18" charset="0"/>
                <a:cs typeface="Times New Roman" panose="02020603050405020304" pitchFamily="18" charset="0"/>
              </a:rPr>
              <a:t>The server shows users the static page for fast loading.</a:t>
            </a:r>
          </a:p>
          <a:p>
            <a:pPr fontAlgn="base"/>
            <a:r>
              <a:rPr lang="en-US" dirty="0">
                <a:latin typeface="Times New Roman" panose="02020603050405020304" pitchFamily="18" charset="0"/>
                <a:cs typeface="Times New Roman" panose="02020603050405020304" pitchFamily="18" charset="0"/>
              </a:rPr>
              <a:t>SPAs in the page fetch data and make dynamic changes to the page.</a:t>
            </a:r>
          </a:p>
          <a:p>
            <a:pPr fontAlgn="base"/>
            <a:r>
              <a:rPr lang="en-US" dirty="0">
                <a:latin typeface="Times New Roman" panose="02020603050405020304" pitchFamily="18" charset="0"/>
                <a:cs typeface="Times New Roman" panose="02020603050405020304" pitchFamily="18" charset="0"/>
              </a:rPr>
              <a:t>SPA is ready for smooth user interaction after data is added.</a:t>
            </a:r>
          </a:p>
          <a:p>
            <a:pPr fontAlgn="base"/>
            <a:r>
              <a:rPr lang="en-US" dirty="0">
                <a:latin typeface="Times New Roman" panose="02020603050405020304" pitchFamily="18" charset="0"/>
                <a:cs typeface="Times New Roman" panose="02020603050405020304" pitchFamily="18" charset="0"/>
              </a:rPr>
              <a:t>SSGs are great for fast static pages but may not be ideal for highly dynamic websites.</a:t>
            </a:r>
          </a:p>
          <a:p>
            <a:pPr fontAlgn="base"/>
            <a:r>
              <a:rPr lang="en-US" dirty="0">
                <a:latin typeface="Times New Roman" panose="02020603050405020304" pitchFamily="18" charset="0"/>
                <a:cs typeface="Times New Roman" panose="02020603050405020304" pitchFamily="18" charset="0"/>
              </a:rPr>
              <a:t>While static site generators offer a quick and efficient solution, it's crucial to note that they might not be the perfect fit for websites with dynamic content. Their strength lies in static pages, aligning with their name.</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34AD7E5-229E-4656-5135-FD9FA367808D}"/>
              </a:ext>
            </a:extLst>
          </p:cNvPr>
          <p:cNvPicPr>
            <a:picLocks noChangeAspect="1"/>
          </p:cNvPicPr>
          <p:nvPr/>
        </p:nvPicPr>
        <p:blipFill>
          <a:blip r:embed="rId2"/>
          <a:stretch>
            <a:fillRect/>
          </a:stretch>
        </p:blipFill>
        <p:spPr>
          <a:xfrm>
            <a:off x="5929952" y="4681183"/>
            <a:ext cx="5247564" cy="2176817"/>
          </a:xfrm>
          <a:prstGeom prst="rect">
            <a:avLst/>
          </a:prstGeom>
        </p:spPr>
      </p:pic>
    </p:spTree>
    <p:extLst>
      <p:ext uri="{BB962C8B-B14F-4D97-AF65-F5344CB8AC3E}">
        <p14:creationId xmlns:p14="http://schemas.microsoft.com/office/powerpoint/2010/main" val="597012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611E6B-2728-86EA-290D-23865AE2D4AE}"/>
              </a:ext>
            </a:extLst>
          </p:cNvPr>
          <p:cNvSpPr>
            <a:spLocks noGrp="1"/>
          </p:cNvSpPr>
          <p:nvPr>
            <p:ph idx="1"/>
          </p:nvPr>
        </p:nvSpPr>
        <p:spPr>
          <a:xfrm>
            <a:off x="0" y="0"/>
            <a:ext cx="12192000" cy="6858000"/>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Advantages of SPAs</a:t>
            </a:r>
          </a:p>
          <a:p>
            <a:pPr marL="0" indent="0" fontAlgn="base">
              <a:buNone/>
            </a:pPr>
            <a:r>
              <a:rPr lang="en-US" b="1" dirty="0">
                <a:latin typeface="Times New Roman" panose="02020603050405020304" pitchFamily="18" charset="0"/>
                <a:cs typeface="Times New Roman" panose="02020603050405020304" pitchFamily="18" charset="0"/>
              </a:rPr>
              <a:t>Faster User Experience:</a:t>
            </a:r>
            <a:r>
              <a:rPr lang="en-US" dirty="0">
                <a:latin typeface="Times New Roman" panose="02020603050405020304" pitchFamily="18" charset="0"/>
                <a:cs typeface="Times New Roman" panose="02020603050405020304" pitchFamily="18" charset="0"/>
              </a:rPr>
              <a:t> SPAs load only once and update data as needed, which reduces page reloads and makes the application feel smooth and fast.</a:t>
            </a:r>
          </a:p>
          <a:p>
            <a:pPr marL="0" indent="0" fontAlgn="base">
              <a:buNone/>
            </a:pPr>
            <a:r>
              <a:rPr lang="en-US" b="1" dirty="0">
                <a:latin typeface="Times New Roman" panose="02020603050405020304" pitchFamily="18" charset="0"/>
                <a:cs typeface="Times New Roman" panose="02020603050405020304" pitchFamily="18" charset="0"/>
              </a:rPr>
              <a:t>Offline Access with Caching:</a:t>
            </a:r>
            <a:r>
              <a:rPr lang="en-US" dirty="0">
                <a:latin typeface="Times New Roman" panose="02020603050405020304" pitchFamily="18" charset="0"/>
                <a:cs typeface="Times New Roman" panose="02020603050405020304" pitchFamily="18" charset="0"/>
              </a:rPr>
              <a:t> SPAs can store data in the browser, allowing users to access some features even without an internet connection.</a:t>
            </a:r>
          </a:p>
          <a:p>
            <a:pPr marL="0" indent="0" fontAlgn="base">
              <a:buNone/>
            </a:pPr>
            <a:r>
              <a:rPr lang="en-US" b="1" dirty="0">
                <a:latin typeface="Times New Roman" panose="02020603050405020304" pitchFamily="18" charset="0"/>
                <a:cs typeface="Times New Roman" panose="02020603050405020304" pitchFamily="18" charset="0"/>
              </a:rPr>
              <a:t>Better Performance:</a:t>
            </a:r>
            <a:r>
              <a:rPr lang="en-US" dirty="0">
                <a:latin typeface="Times New Roman" panose="02020603050405020304" pitchFamily="18" charset="0"/>
                <a:cs typeface="Times New Roman" panose="02020603050405020304" pitchFamily="18" charset="0"/>
              </a:rPr>
              <a:t> Since only required data is loaded and updated, server requests are reduced, leading to faster load times.</a:t>
            </a:r>
          </a:p>
          <a:p>
            <a:pPr marL="0" indent="0" fontAlgn="base">
              <a:buNone/>
            </a:pPr>
            <a:r>
              <a:rPr lang="en-US" b="1" dirty="0">
                <a:latin typeface="Times New Roman" panose="02020603050405020304" pitchFamily="18" charset="0"/>
                <a:cs typeface="Times New Roman" panose="02020603050405020304" pitchFamily="18" charset="0"/>
              </a:rPr>
              <a:t>Lower Bandwidth Usage:</a:t>
            </a:r>
            <a:r>
              <a:rPr lang="en-US" dirty="0">
                <a:latin typeface="Times New Roman" panose="02020603050405020304" pitchFamily="18" charset="0"/>
                <a:cs typeface="Times New Roman" panose="02020603050405020304" pitchFamily="18" charset="0"/>
              </a:rPr>
              <a:t> SPAs transfer only necessary data instead of reloading full pages, saving internet bandwidth.</a:t>
            </a:r>
          </a:p>
          <a:p>
            <a:pPr marL="0" indent="0" fontAlgn="base">
              <a:buNone/>
            </a:pPr>
            <a:r>
              <a:rPr lang="en-US" b="1" dirty="0">
                <a:latin typeface="Times New Roman" panose="02020603050405020304" pitchFamily="18" charset="0"/>
                <a:cs typeface="Times New Roman" panose="02020603050405020304" pitchFamily="18" charset="0"/>
              </a:rPr>
              <a:t>Highly Responsive:</a:t>
            </a:r>
            <a:r>
              <a:rPr lang="en-US" dirty="0">
                <a:latin typeface="Times New Roman" panose="02020603050405020304" pitchFamily="18" charset="0"/>
                <a:cs typeface="Times New Roman" panose="02020603050405020304" pitchFamily="18" charset="0"/>
              </a:rPr>
              <a:t> Content updates happen instantly without refreshing the page, improving user interaction.</a:t>
            </a:r>
          </a:p>
          <a:p>
            <a:pPr marL="0" indent="0" fontAlgn="base">
              <a:buNone/>
            </a:pPr>
            <a:r>
              <a:rPr lang="en-US" b="1" dirty="0">
                <a:latin typeface="Times New Roman" panose="02020603050405020304" pitchFamily="18" charset="0"/>
                <a:cs typeface="Times New Roman" panose="02020603050405020304" pitchFamily="18" charset="0"/>
              </a:rPr>
              <a:t>Smooth Navigation:</a:t>
            </a:r>
            <a:r>
              <a:rPr lang="en-US" dirty="0">
                <a:latin typeface="Times New Roman" panose="02020603050405020304" pitchFamily="18" charset="0"/>
                <a:cs typeface="Times New Roman" panose="02020603050405020304" pitchFamily="18" charset="0"/>
              </a:rPr>
              <a:t> Client-side routing allows users to move between sections without page reloads.</a:t>
            </a:r>
          </a:p>
          <a:p>
            <a:pPr marL="0" indent="0" fontAlgn="base">
              <a:buNone/>
            </a:pPr>
            <a:r>
              <a:rPr lang="en-US" b="1" dirty="0">
                <a:latin typeface="Times New Roman" panose="02020603050405020304" pitchFamily="18" charset="0"/>
                <a:cs typeface="Times New Roman" panose="02020603050405020304" pitchFamily="18" charset="0"/>
              </a:rPr>
              <a:t>Works Across Devices:</a:t>
            </a:r>
            <a:r>
              <a:rPr lang="en-US" dirty="0">
                <a:latin typeface="Times New Roman" panose="02020603050405020304" pitchFamily="18" charset="0"/>
                <a:cs typeface="Times New Roman" panose="02020603050405020304" pitchFamily="18" charset="0"/>
              </a:rPr>
              <a:t> SPAs run smoothly on desktops, tablets, and mobile devices, ensuring a consistent experience.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111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1A1704-7DAD-DD48-49C4-D81987055A90}"/>
              </a:ext>
            </a:extLst>
          </p:cNvPr>
          <p:cNvSpPr>
            <a:spLocks noGrp="1"/>
          </p:cNvSpPr>
          <p:nvPr>
            <p:ph idx="1"/>
          </p:nvPr>
        </p:nvSpPr>
        <p:spPr>
          <a:xfrm>
            <a:off x="0" y="0"/>
            <a:ext cx="12192000" cy="6858000"/>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Disadvantages of SPAs</a:t>
            </a:r>
          </a:p>
          <a:p>
            <a:pPr marL="0" indent="0" fontAlgn="base">
              <a:buNone/>
            </a:pPr>
            <a:r>
              <a:rPr lang="en-US" b="1" dirty="0">
                <a:latin typeface="Times New Roman" panose="02020603050405020304" pitchFamily="18" charset="0"/>
                <a:cs typeface="Times New Roman" panose="02020603050405020304" pitchFamily="18" charset="0"/>
              </a:rPr>
              <a:t>Slower Initial Load:</a:t>
            </a:r>
            <a:r>
              <a:rPr lang="en-US" dirty="0">
                <a:latin typeface="Times New Roman" panose="02020603050405020304" pitchFamily="18" charset="0"/>
                <a:cs typeface="Times New Roman" panose="02020603050405020304" pitchFamily="18" charset="0"/>
              </a:rPr>
              <a:t> Can be slower initially, affecting users with slower internet.</a:t>
            </a:r>
          </a:p>
          <a:p>
            <a:pPr marL="0" indent="0" fontAlgn="base">
              <a:buNone/>
            </a:pPr>
            <a:r>
              <a:rPr lang="en-US" b="1" dirty="0">
                <a:latin typeface="Times New Roman" panose="02020603050405020304" pitchFamily="18" charset="0"/>
                <a:cs typeface="Times New Roman" panose="02020603050405020304" pitchFamily="18" charset="0"/>
              </a:rPr>
              <a:t>SEO Challenges</a:t>
            </a:r>
            <a:r>
              <a:rPr lang="en-US" dirty="0">
                <a:latin typeface="Times New Roman" panose="02020603050405020304" pitchFamily="18" charset="0"/>
                <a:cs typeface="Times New Roman" panose="02020603050405020304" pitchFamily="18" charset="0"/>
              </a:rPr>
              <a:t>: SEO can be tricky due to heavy reliance on JavaScript.</a:t>
            </a:r>
          </a:p>
          <a:p>
            <a:pPr marL="0" indent="0" fontAlgn="base">
              <a:buNone/>
            </a:pPr>
            <a:r>
              <a:rPr lang="en-US" b="1" dirty="0">
                <a:latin typeface="Times New Roman" panose="02020603050405020304" pitchFamily="18" charset="0"/>
                <a:cs typeface="Times New Roman" panose="02020603050405020304" pitchFamily="18" charset="0"/>
              </a:rPr>
              <a:t>Limited Browser Support:</a:t>
            </a:r>
            <a:r>
              <a:rPr lang="en-US" dirty="0">
                <a:latin typeface="Times New Roman" panose="02020603050405020304" pitchFamily="18" charset="0"/>
                <a:cs typeface="Times New Roman" panose="02020603050405020304" pitchFamily="18" charset="0"/>
              </a:rPr>
              <a:t> Advanced features may not work well on older browsers.</a:t>
            </a:r>
          </a:p>
          <a:p>
            <a:pPr marL="0" indent="0" fontAlgn="base">
              <a:buNone/>
            </a:pPr>
            <a:r>
              <a:rPr lang="en-US" b="1" dirty="0">
                <a:latin typeface="Times New Roman" panose="02020603050405020304" pitchFamily="18" charset="0"/>
                <a:cs typeface="Times New Roman" panose="02020603050405020304" pitchFamily="18" charset="0"/>
              </a:rPr>
              <a:t>Security Risks:</a:t>
            </a:r>
            <a:r>
              <a:rPr lang="en-US" dirty="0">
                <a:latin typeface="Times New Roman" panose="02020603050405020304" pitchFamily="18" charset="0"/>
                <a:cs typeface="Times New Roman" panose="02020603050405020304" pitchFamily="18" charset="0"/>
              </a:rPr>
              <a:t> Vulnerable to security issues like Cross-Site Scripting (XSS).</a:t>
            </a:r>
          </a:p>
          <a:p>
            <a:pPr marL="0" indent="0" fontAlgn="base">
              <a:buNone/>
            </a:pPr>
            <a:r>
              <a:rPr lang="en-US" b="1" dirty="0">
                <a:latin typeface="Times New Roman" panose="02020603050405020304" pitchFamily="18" charset="0"/>
                <a:cs typeface="Times New Roman" panose="02020603050405020304" pitchFamily="18" charset="0"/>
              </a:rPr>
              <a:t>Client-Side Resource Intensity: </a:t>
            </a:r>
            <a:r>
              <a:rPr lang="en-US" dirty="0">
                <a:latin typeface="Times New Roman" panose="02020603050405020304" pitchFamily="18" charset="0"/>
                <a:cs typeface="Times New Roman" panose="02020603050405020304" pitchFamily="18" charset="0"/>
              </a:rPr>
              <a:t>Places a heavy load on the client side, impacting older devices.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6823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56D37-0505-432F-BE3A-18BF25B304E0}"/>
              </a:ext>
            </a:extLst>
          </p:cNvPr>
          <p:cNvSpPr>
            <a:spLocks noGrp="1"/>
          </p:cNvSpPr>
          <p:nvPr>
            <p:ph idx="1"/>
          </p:nvPr>
        </p:nvSpPr>
        <p:spPr>
          <a:xfrm>
            <a:off x="0" y="0"/>
            <a:ext cx="12192000" cy="6858000"/>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What is React?</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ReactJS is a </a:t>
            </a:r>
            <a:r>
              <a:rPr lang="en-US" sz="2500" b="1" dirty="0">
                <a:latin typeface="Times New Roman" panose="02020603050405020304" pitchFamily="18" charset="0"/>
                <a:cs typeface="Times New Roman" panose="02020603050405020304" pitchFamily="18" charset="0"/>
              </a:rPr>
              <a:t>component-based</a:t>
            </a:r>
            <a:r>
              <a:rPr lang="en-US" sz="2500" dirty="0">
                <a:latin typeface="Times New Roman" panose="02020603050405020304" pitchFamily="18" charset="0"/>
                <a:cs typeface="Times New Roman" panose="02020603050405020304" pitchFamily="18" charset="0"/>
              </a:rPr>
              <a:t> JavaScript library used to build dynamic and interactive user interfaces. </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It simplifies the creation of single-page applications (SPAs) with a focus on performance and maintainability.</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Uses reusable components for better code organization.</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Improves performance with a virtual DOM.</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Supports unidirectional data flow for predictable behavior.</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It is developed by Facebook.</a:t>
            </a:r>
          </a:p>
          <a:p>
            <a:pPr marL="0" indent="0" fontAlgn="base">
              <a:buNone/>
            </a:pPr>
            <a:endParaRPr lang="en-US" sz="2500" dirty="0">
              <a:latin typeface="Times New Roman" panose="02020603050405020304" pitchFamily="18" charset="0"/>
              <a:cs typeface="Times New Roman" panose="02020603050405020304" pitchFamily="18" charset="0"/>
            </a:endParaRP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endParaRPr lang="en-IN" sz="2500" dirty="0">
              <a:latin typeface="Times New Roman" panose="02020603050405020304" pitchFamily="18" charset="0"/>
              <a:cs typeface="Times New Roman" panose="02020603050405020304" pitchFamily="18" charset="0"/>
            </a:endParaRPr>
          </a:p>
        </p:txBody>
      </p:sp>
      <p:pic>
        <p:nvPicPr>
          <p:cNvPr id="4" name="Picture 3" descr="425537439.webp">
            <a:extLst>
              <a:ext uri="{FF2B5EF4-FFF2-40B4-BE49-F238E27FC236}">
                <a16:creationId xmlns:a16="http://schemas.microsoft.com/office/drawing/2014/main" id="{D10348CE-780B-8985-4C75-5D692EFB91D6}"/>
              </a:ext>
            </a:extLst>
          </p:cNvPr>
          <p:cNvPicPr>
            <a:picLocks noChangeAspect="1"/>
          </p:cNvPicPr>
          <p:nvPr/>
        </p:nvPicPr>
        <p:blipFill>
          <a:blip r:embed="rId2"/>
          <a:stretch>
            <a:fillRect/>
          </a:stretch>
        </p:blipFill>
        <p:spPr>
          <a:xfrm>
            <a:off x="449240" y="4162568"/>
            <a:ext cx="5485263" cy="2695432"/>
          </a:xfrm>
          <a:prstGeom prst="rect">
            <a:avLst/>
          </a:prstGeom>
        </p:spPr>
      </p:pic>
      <p:pic>
        <p:nvPicPr>
          <p:cNvPr id="6" name="Picture 5">
            <a:extLst>
              <a:ext uri="{FF2B5EF4-FFF2-40B4-BE49-F238E27FC236}">
                <a16:creationId xmlns:a16="http://schemas.microsoft.com/office/drawing/2014/main" id="{A73D664C-7310-B2D7-157B-ED69E89D09D6}"/>
              </a:ext>
            </a:extLst>
          </p:cNvPr>
          <p:cNvPicPr>
            <a:picLocks noChangeAspect="1"/>
          </p:cNvPicPr>
          <p:nvPr/>
        </p:nvPicPr>
        <p:blipFill>
          <a:blip r:embed="rId3"/>
          <a:stretch>
            <a:fillRect/>
          </a:stretch>
        </p:blipFill>
        <p:spPr>
          <a:xfrm>
            <a:off x="6096000" y="4162568"/>
            <a:ext cx="5042848" cy="2695432"/>
          </a:xfrm>
          <a:prstGeom prst="rect">
            <a:avLst/>
          </a:prstGeom>
        </p:spPr>
      </p:pic>
    </p:spTree>
    <p:extLst>
      <p:ext uri="{BB962C8B-B14F-4D97-AF65-F5344CB8AC3E}">
        <p14:creationId xmlns:p14="http://schemas.microsoft.com/office/powerpoint/2010/main" val="2045960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9B5CFC-E418-9AB7-B874-4FF301398CE6}"/>
              </a:ext>
            </a:extLst>
          </p:cNvPr>
          <p:cNvSpPr>
            <a:spLocks noGrp="1"/>
          </p:cNvSpPr>
          <p:nvPr>
            <p:ph idx="1"/>
          </p:nvPr>
        </p:nvSpPr>
        <p:spPr>
          <a:xfrm>
            <a:off x="0" y="10472"/>
            <a:ext cx="12192000" cy="6847527"/>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First "Hello, World!" Program in React</a:t>
            </a:r>
          </a:p>
          <a:p>
            <a:pPr marL="0" indent="0">
              <a:buNone/>
            </a:pPr>
            <a:r>
              <a:rPr lang="en-US" sz="2500" b="1" dirty="0">
                <a:latin typeface="Times New Roman" panose="02020603050405020304" pitchFamily="18" charset="0"/>
                <a:cs typeface="Times New Roman" panose="02020603050405020304" pitchFamily="18" charset="0"/>
              </a:rPr>
              <a:t>import React from "react";</a:t>
            </a:r>
          </a:p>
          <a:p>
            <a:pPr marL="0" indent="0">
              <a:buNone/>
            </a:pPr>
            <a:r>
              <a:rPr lang="en-US" sz="2500" b="1" dirty="0">
                <a:latin typeface="Times New Roman" panose="02020603050405020304" pitchFamily="18" charset="0"/>
                <a:cs typeface="Times New Roman" panose="02020603050405020304" pitchFamily="18" charset="0"/>
              </a:rPr>
              <a:t>function App()</a:t>
            </a:r>
          </a:p>
          <a:p>
            <a:pPr marL="0" indent="0">
              <a:buNone/>
            </a:pPr>
            <a:r>
              <a:rPr lang="en-US" sz="2500" b="1" dirty="0">
                <a:latin typeface="Times New Roman" panose="02020603050405020304" pitchFamily="18" charset="0"/>
                <a:cs typeface="Times New Roman" panose="02020603050405020304" pitchFamily="18" charset="0"/>
              </a:rPr>
              <a:t>{</a:t>
            </a:r>
          </a:p>
          <a:p>
            <a:pPr marL="0" indent="0">
              <a:buNone/>
            </a:pPr>
            <a:r>
              <a:rPr lang="en-US" sz="2500" b="1" dirty="0">
                <a:latin typeface="Times New Roman" panose="02020603050405020304" pitchFamily="18" charset="0"/>
                <a:cs typeface="Times New Roman" panose="02020603050405020304" pitchFamily="18" charset="0"/>
              </a:rPr>
              <a:t>    return (&lt;div&gt;&lt;h1&gt;Hello, World!&lt;/h1&gt;</a:t>
            </a:r>
          </a:p>
          <a:p>
            <a:pPr marL="0" indent="0">
              <a:buNone/>
            </a:pPr>
            <a:r>
              <a:rPr lang="en-US" sz="2500" b="1" dirty="0">
                <a:latin typeface="Times New Roman" panose="02020603050405020304" pitchFamily="18" charset="0"/>
                <a:cs typeface="Times New Roman" panose="02020603050405020304" pitchFamily="18" charset="0"/>
              </a:rPr>
              <a:t>    &lt;/div&gt;);</a:t>
            </a:r>
          </a:p>
          <a:p>
            <a:pPr marL="0" indent="0">
              <a:buNone/>
            </a:pPr>
            <a:r>
              <a:rPr lang="en-US" sz="2500" b="1" dirty="0">
                <a:latin typeface="Times New Roman" panose="02020603050405020304" pitchFamily="18" charset="0"/>
                <a:cs typeface="Times New Roman" panose="02020603050405020304" pitchFamily="18" charset="0"/>
              </a:rPr>
              <a:t>}</a:t>
            </a:r>
          </a:p>
          <a:p>
            <a:pPr marL="0" indent="0">
              <a:buNone/>
            </a:pPr>
            <a:r>
              <a:rPr lang="en-US" sz="2500" b="1" dirty="0">
                <a:latin typeface="Times New Roman" panose="02020603050405020304" pitchFamily="18" charset="0"/>
                <a:cs typeface="Times New Roman" panose="02020603050405020304" pitchFamily="18" charset="0"/>
              </a:rPr>
              <a:t>export default App;</a:t>
            </a:r>
          </a:p>
          <a:p>
            <a:pPr marL="0" indent="0" fontAlgn="base">
              <a:buNone/>
            </a:pPr>
            <a:r>
              <a:rPr lang="en-US" dirty="0">
                <a:latin typeface="Times New Roman" panose="02020603050405020304" pitchFamily="18" charset="0"/>
                <a:cs typeface="Times New Roman" panose="02020603050405020304" pitchFamily="18" charset="0"/>
              </a:rPr>
              <a:t>In this code,</a:t>
            </a:r>
          </a:p>
          <a:p>
            <a:pPr marL="0" indent="0" fontAlgn="base">
              <a:buNone/>
            </a:pPr>
            <a:r>
              <a:rPr lang="en-US" dirty="0">
                <a:latin typeface="Times New Roman" panose="02020603050405020304" pitchFamily="18" charset="0"/>
                <a:cs typeface="Times New Roman" panose="02020603050405020304" pitchFamily="18" charset="0"/>
              </a:rPr>
              <a:t>import React from 'react': Imports React to create components and use JSX.</a:t>
            </a:r>
          </a:p>
          <a:p>
            <a:pPr marL="0" indent="0" fontAlgn="base">
              <a:buNone/>
            </a:pPr>
            <a:r>
              <a:rPr lang="en-US" dirty="0">
                <a:latin typeface="Times New Roman" panose="02020603050405020304" pitchFamily="18" charset="0"/>
                <a:cs typeface="Times New Roman" panose="02020603050405020304" pitchFamily="18" charset="0"/>
              </a:rPr>
              <a:t>function App() { ... }: Defines a functional component called App.</a:t>
            </a:r>
          </a:p>
          <a:p>
            <a:pPr marL="0" indent="0" fontAlgn="base">
              <a:buNone/>
            </a:pPr>
            <a:r>
              <a:rPr lang="en-US" dirty="0">
                <a:latin typeface="Times New Roman" panose="02020603050405020304" pitchFamily="18" charset="0"/>
                <a:cs typeface="Times New Roman" panose="02020603050405020304" pitchFamily="18" charset="0"/>
              </a:rPr>
              <a:t>return ( ... ): Returns JSX that represents the UI (a div with an h1 tag displaying "Hello, World!").</a:t>
            </a:r>
          </a:p>
          <a:p>
            <a:pPr marL="0" indent="0" fontAlgn="base">
              <a:buNone/>
            </a:pPr>
            <a:r>
              <a:rPr lang="en-US" dirty="0">
                <a:latin typeface="Times New Roman" panose="02020603050405020304" pitchFamily="18" charset="0"/>
                <a:cs typeface="Times New Roman" panose="02020603050405020304" pitchFamily="18" charset="0"/>
              </a:rPr>
              <a:t>export default App: Exports the App component so it can be used elsewhere.</a:t>
            </a:r>
          </a:p>
          <a:p>
            <a:pPr marL="0" indent="0">
              <a:buNone/>
            </a:pP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53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35620-3440-1437-934A-C160EBCE8FD4}"/>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Why use React JS?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main reason why React is so popular is that it offers developers an easy way to create applications with a lot of functionality at once.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It means that the app doesn't need to be as complicated as other frameworks; instead, you can focus on building features in the app rather than how to get those features up and running on the web.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This can help make your app easier for users to understand and use! There are multiple platforms based on React to create web applications, mobile applications, and cross-hybrid platforms for desktops.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Another benefit of using React is that it doesn't require any knowledge of HTML or</a:t>
            </a:r>
            <a:r>
              <a:rPr lang="en-US" u="sng"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CSS before getting started with development.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You don't need any experience with either one before using React; all you need is an understanding of JavaScript syntax and how functions work within the language itself</a:t>
            </a:r>
          </a:p>
        </p:txBody>
      </p:sp>
    </p:spTree>
    <p:extLst>
      <p:ext uri="{BB962C8B-B14F-4D97-AF65-F5344CB8AC3E}">
        <p14:creationId xmlns:p14="http://schemas.microsoft.com/office/powerpoint/2010/main" val="2158306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B23B15-1C79-4230-BF16-20F48490293B}"/>
              </a:ext>
            </a:extLst>
          </p:cNvPr>
          <p:cNvSpPr>
            <a:spLocks noGrp="1"/>
          </p:cNvSpPr>
          <p:nvPr>
            <p:ph idx="1"/>
          </p:nvPr>
        </p:nvSpPr>
        <p:spPr>
          <a:xfrm>
            <a:off x="0" y="0"/>
            <a:ext cx="12192000" cy="6858000"/>
          </a:xfrm>
        </p:spPr>
        <p:txBody>
          <a:bodyPr>
            <a:noAutofit/>
          </a:bodyPr>
          <a:lstStyle/>
          <a:p>
            <a:pPr marL="0" indent="0">
              <a:buNone/>
            </a:pPr>
            <a:r>
              <a:rPr lang="en-US" sz="2600" b="1" dirty="0">
                <a:latin typeface="Times New Roman" panose="02020603050405020304" pitchFamily="18" charset="0"/>
                <a:cs typeface="Times New Roman" panose="02020603050405020304" pitchFamily="18" charset="0"/>
              </a:rPr>
              <a:t>Advantages of React:</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Ease of Use:</a:t>
            </a:r>
            <a:r>
              <a:rPr lang="en-US" sz="2600" dirty="0">
                <a:latin typeface="Times New Roman" panose="02020603050405020304" pitchFamily="18" charset="0"/>
                <a:cs typeface="Times New Roman" panose="02020603050405020304" pitchFamily="18" charset="0"/>
              </a:rPr>
              <a:t> ReactJS does not require writing lengthy code as it supports the Components concept, so a small amount of code can be created and can be used in multiple places.</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Faster to build: </a:t>
            </a:r>
            <a:r>
              <a:rPr lang="en-US" sz="2600" dirty="0">
                <a:latin typeface="Times New Roman" panose="02020603050405020304" pitchFamily="18" charset="0"/>
                <a:cs typeface="Times New Roman" panose="02020603050405020304" pitchFamily="18" charset="0"/>
              </a:rPr>
              <a:t>Because of its component-based approach and </a:t>
            </a:r>
            <a:r>
              <a:rPr lang="en-US" sz="2600" b="1" dirty="0">
                <a:latin typeface="Times New Roman" panose="02020603050405020304" pitchFamily="18" charset="0"/>
                <a:cs typeface="Times New Roman" panose="02020603050405020304" pitchFamily="18" charset="0"/>
              </a:rPr>
              <a:t>virtual DOM</a:t>
            </a:r>
            <a:r>
              <a:rPr lang="en-US" sz="2600" dirty="0">
                <a:latin typeface="Times New Roman" panose="02020603050405020304" pitchFamily="18" charset="0"/>
                <a:cs typeface="Times New Roman" panose="02020603050405020304" pitchFamily="18" charset="0"/>
              </a:rPr>
              <a:t>, React is a lot faster than other frameworks. This means that you won't have to spend much time developing your app or website. </a:t>
            </a:r>
            <a:endParaRPr lang="en-US" sz="26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Multiple Module Support:</a:t>
            </a:r>
            <a:r>
              <a:rPr lang="en-US" sz="2600" dirty="0">
                <a:latin typeface="Times New Roman" panose="02020603050405020304" pitchFamily="18" charset="0"/>
                <a:cs typeface="Times New Roman" panose="02020603050405020304" pitchFamily="18" charset="0"/>
              </a:rPr>
              <a:t> There are so many modules in ReactJS that can be used to make your development more scalable and manageable at a fast pace.</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Multiple Apps Development:</a:t>
            </a:r>
            <a:r>
              <a:rPr lang="en-US" sz="2600" dirty="0">
                <a:latin typeface="Times New Roman" panose="02020603050405020304" pitchFamily="18" charset="0"/>
                <a:cs typeface="Times New Roman" panose="02020603050405020304" pitchFamily="18" charset="0"/>
              </a:rPr>
              <a:t> By using React knowledge, we can create Web Pages, Web Apps, Mobile Apps, and VR Apps. There are a lot of websites that are using ReactJS, like Airbnb, Cloudflare, Facebook, Instagram, etc.</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Easy Migration:</a:t>
            </a:r>
            <a:r>
              <a:rPr lang="en-US" sz="2600" dirty="0">
                <a:latin typeface="Times New Roman" panose="02020603050405020304" pitchFamily="18" charset="0"/>
                <a:cs typeface="Times New Roman" panose="02020603050405020304" pitchFamily="18" charset="0"/>
              </a:rPr>
              <a:t> Because of its easy learning curve, migration from other technologies became so easy. There are tons of resources to learn ReactJS from the basics to advanced.</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Large Community:</a:t>
            </a:r>
            <a:r>
              <a:rPr lang="en-US" sz="2600" dirty="0">
                <a:latin typeface="Times New Roman" panose="02020603050405020304" pitchFamily="18" charset="0"/>
                <a:cs typeface="Times New Roman" panose="02020603050405020304" pitchFamily="18" charset="0"/>
              </a:rPr>
              <a:t> ReactJS has one of the largest communities to help you when you are in trouble debugging your code or get stuck learning new things.</a:t>
            </a:r>
          </a:p>
        </p:txBody>
      </p:sp>
    </p:spTree>
    <p:extLst>
      <p:ext uri="{BB962C8B-B14F-4D97-AF65-F5344CB8AC3E}">
        <p14:creationId xmlns:p14="http://schemas.microsoft.com/office/powerpoint/2010/main" val="20798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954A13-AC02-44A8-AD8D-F5C391D7E827}"/>
              </a:ext>
            </a:extLst>
          </p:cNvPr>
          <p:cNvSpPr>
            <a:spLocks noGrp="1"/>
          </p:cNvSpPr>
          <p:nvPr>
            <p:ph idx="1"/>
          </p:nvPr>
        </p:nvSpPr>
        <p:spPr>
          <a:xfrm>
            <a:off x="0" y="0"/>
            <a:ext cx="12192000" cy="6858000"/>
          </a:xfrm>
        </p:spPr>
        <p:txBody>
          <a:bodyPr>
            <a:noAutofit/>
          </a:bodyPr>
          <a:lstStyle/>
          <a:p>
            <a:pPr marL="0" indent="0" algn="l">
              <a:buNone/>
            </a:pPr>
            <a:r>
              <a:rPr lang="en-US" sz="2400" b="1" dirty="0">
                <a:effectLst/>
                <a:latin typeface="Times New Roman" panose="02020603050405020304" pitchFamily="18" charset="0"/>
                <a:cs typeface="Times New Roman" panose="02020603050405020304" pitchFamily="18" charset="0"/>
              </a:rPr>
              <a:t>Applications of React:</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Web Development:</a:t>
            </a:r>
            <a:r>
              <a:rPr lang="en-US" sz="2400" dirty="0">
                <a:latin typeface="Times New Roman" panose="02020603050405020304" pitchFamily="18" charset="0"/>
                <a:cs typeface="Times New Roman" panose="02020603050405020304" pitchFamily="18" charset="0"/>
              </a:rPr>
              <a:t> React is used to build dynamic and responsive web applications, including social media platforms, e-commerce sites, and blogs.</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Mobile Apps:</a:t>
            </a:r>
            <a:r>
              <a:rPr lang="en-US" sz="2400" dirty="0">
                <a:latin typeface="Times New Roman" panose="02020603050405020304" pitchFamily="18" charset="0"/>
                <a:cs typeface="Times New Roman" panose="02020603050405020304" pitchFamily="18" charset="0"/>
              </a:rPr>
              <a:t> React Native allows developers to build mobile apps for iOS and Android using the same codebase.</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Enterprise Applications</a:t>
            </a:r>
            <a:r>
              <a:rPr lang="en-US" sz="2400" dirty="0">
                <a:latin typeface="Times New Roman" panose="02020603050405020304" pitchFamily="18" charset="0"/>
                <a:cs typeface="Times New Roman" panose="02020603050405020304" pitchFamily="18" charset="0"/>
              </a:rPr>
              <a:t>: React is used in building large-scale enterprise applications that require a highly interactive UI.</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Dashboards and Data Visualizations:</a:t>
            </a:r>
            <a:r>
              <a:rPr lang="en-US" sz="2400" dirty="0">
                <a:latin typeface="Times New Roman" panose="02020603050405020304" pitchFamily="18" charset="0"/>
                <a:cs typeface="Times New Roman" panose="02020603050405020304" pitchFamily="18" charset="0"/>
              </a:rPr>
              <a:t> React is great for building real-time dashboards and data visualization tools due to its high performance.</a:t>
            </a:r>
          </a:p>
          <a:p>
            <a:pPr marL="0" indent="0">
              <a:buNone/>
            </a:pPr>
            <a:r>
              <a:rPr lang="en-US" sz="2400" b="1" dirty="0">
                <a:latin typeface="Times New Roman" panose="02020603050405020304" pitchFamily="18" charset="0"/>
                <a:cs typeface="Times New Roman" panose="02020603050405020304" pitchFamily="18" charset="0"/>
              </a:rPr>
              <a:t>Advantages of React:</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Easy To Learn</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Faster To Build</a:t>
            </a:r>
          </a:p>
          <a:p>
            <a:pPr marL="457200" indent="-457200">
              <a:buFont typeface="+mj-lt"/>
              <a:buAutoNum type="arabicPeriod"/>
            </a:pPr>
            <a:r>
              <a:rPr lang="en-US" sz="2400" dirty="0">
                <a:effectLst/>
                <a:latin typeface="Times New Roman" panose="02020603050405020304" pitchFamily="18" charset="0"/>
                <a:cs typeface="Times New Roman" panose="02020603050405020304" pitchFamily="18" charset="0"/>
              </a:rPr>
              <a:t>Tons Of Applications in the Web Development Field</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Creating Dynamic Web Pages</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Efficient Code Reuse Facility</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Testability of Apps</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4211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272C70-7389-A0D5-4FAC-E4A60AE2866F}"/>
              </a:ext>
            </a:extLst>
          </p:cNvPr>
          <p:cNvSpPr>
            <a:spLocks noGrp="1"/>
          </p:cNvSpPr>
          <p:nvPr>
            <p:ph idx="1"/>
          </p:nvPr>
        </p:nvSpPr>
        <p:spPr>
          <a:xfrm>
            <a:off x="0" y="0"/>
            <a:ext cx="12192000" cy="68580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Features of React</a:t>
            </a:r>
          </a:p>
          <a:p>
            <a:pPr marL="0" indent="0" fontAlgn="base">
              <a:buNone/>
            </a:pPr>
            <a:r>
              <a:rPr lang="en-US" sz="2400" b="1" dirty="0">
                <a:latin typeface="Times New Roman" panose="02020603050405020304" pitchFamily="18" charset="0"/>
                <a:cs typeface="Times New Roman" panose="02020603050405020304" pitchFamily="18" charset="0"/>
              </a:rPr>
              <a:t>1. JSX(JavaScript Syntax Extension)</a:t>
            </a:r>
          </a:p>
          <a:p>
            <a:pPr marL="0" indent="0" fontAlgn="base">
              <a:buNone/>
            </a:pPr>
            <a:r>
              <a:rPr lang="en-US" sz="2400" dirty="0">
                <a:latin typeface="Times New Roman" panose="02020603050405020304" pitchFamily="18" charset="0"/>
                <a:cs typeface="Times New Roman" panose="02020603050405020304" pitchFamily="18" charset="0"/>
              </a:rPr>
              <a:t>JSX is a combination of HTML and JavaScript. You can embed JavaScript objects inside the HTML elements. JSX makes code easy and understandable. It is easy to learn if you know HTML and JavaScript.</a:t>
            </a:r>
          </a:p>
          <a:p>
            <a:pPr marL="0" indent="0">
              <a:buNone/>
            </a:pPr>
            <a:r>
              <a:rPr lang="en-US" sz="2400" dirty="0">
                <a:latin typeface="Times New Roman" panose="02020603050405020304" pitchFamily="18" charset="0"/>
                <a:cs typeface="Times New Roman" panose="02020603050405020304" pitchFamily="18" charset="0"/>
              </a:rPr>
              <a:t>const name=“Hello MCS";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const element = &lt;h1&gt;Welcome to {name}&lt;/h1&gt;;</a:t>
            </a:r>
          </a:p>
          <a:p>
            <a:pPr marL="0" indent="0" fontAlgn="base">
              <a:buNone/>
            </a:pPr>
            <a:r>
              <a:rPr lang="en-US" sz="2400" b="1" dirty="0">
                <a:latin typeface="Times New Roman" panose="02020603050405020304" pitchFamily="18" charset="0"/>
                <a:cs typeface="Times New Roman" panose="02020603050405020304" pitchFamily="18" charset="0"/>
              </a:rPr>
              <a:t>2. Virtual DOM</a:t>
            </a:r>
          </a:p>
          <a:p>
            <a:pPr marL="0" indent="0" fontAlgn="base">
              <a:buNone/>
            </a:pPr>
            <a:r>
              <a:rPr lang="en-US" sz="2400" dirty="0">
                <a:latin typeface="Times New Roman" panose="02020603050405020304" pitchFamily="18" charset="0"/>
                <a:cs typeface="Times New Roman" panose="02020603050405020304" pitchFamily="18" charset="0"/>
              </a:rPr>
              <a:t>DOM (Document Object Model), unlike traditional approaches that update the entire DOM, React uses a Virtual DOM, which is a lightweight copy of the real DOM. When changes occur, React updates the Virtual DOM first, compares it with the real DOM, and updates only the modified parts, improving performance.</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9A88022-8477-2B3B-50AB-C7A45664F4B3}"/>
              </a:ext>
            </a:extLst>
          </p:cNvPr>
          <p:cNvPicPr>
            <a:picLocks noChangeAspect="1"/>
          </p:cNvPicPr>
          <p:nvPr/>
        </p:nvPicPr>
        <p:blipFill>
          <a:blip r:embed="rId2"/>
          <a:stretch>
            <a:fillRect/>
          </a:stretch>
        </p:blipFill>
        <p:spPr>
          <a:xfrm>
            <a:off x="4448459" y="4476750"/>
            <a:ext cx="5314950" cy="2381250"/>
          </a:xfrm>
          <a:prstGeom prst="rect">
            <a:avLst/>
          </a:prstGeom>
        </p:spPr>
      </p:pic>
    </p:spTree>
    <p:extLst>
      <p:ext uri="{BB962C8B-B14F-4D97-AF65-F5344CB8AC3E}">
        <p14:creationId xmlns:p14="http://schemas.microsoft.com/office/powerpoint/2010/main" val="781573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33296-C6A9-7EF7-2F7A-01B1ED87AC96}"/>
              </a:ext>
            </a:extLst>
          </p:cNvPr>
          <p:cNvSpPr>
            <a:spLocks noGrp="1"/>
          </p:cNvSpPr>
          <p:nvPr>
            <p:ph idx="1"/>
          </p:nvPr>
        </p:nvSpPr>
        <p:spPr>
          <a:xfrm>
            <a:off x="0" y="24120"/>
            <a:ext cx="12192000" cy="6833879"/>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3. Component-based Architecture</a:t>
            </a:r>
          </a:p>
          <a:p>
            <a:pPr marL="0" indent="0" fontAlgn="base">
              <a:buNone/>
            </a:pPr>
            <a:r>
              <a:rPr lang="en-US" sz="2400" dirty="0">
                <a:latin typeface="Times New Roman" panose="02020603050405020304" pitchFamily="18" charset="0"/>
                <a:cs typeface="Times New Roman" panose="02020603050405020304" pitchFamily="18" charset="0"/>
              </a:rPr>
              <a:t>React.js divides the web page into multiple components as it is component-based. Each component is a part of the UI design, which has its own logic and design, as shown in the image below. So the component logic which is written in JavaScript, makes it easy to run faster and can be reusable.</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4. One-way Data Binding</a:t>
            </a:r>
          </a:p>
          <a:p>
            <a:pPr marL="0" indent="0" fontAlgn="base">
              <a:buNone/>
            </a:pPr>
            <a:r>
              <a:rPr lang="en-US" sz="2400" dirty="0">
                <a:latin typeface="Times New Roman" panose="02020603050405020304" pitchFamily="18" charset="0"/>
                <a:cs typeface="Times New Roman" panose="02020603050405020304" pitchFamily="18" charset="0"/>
              </a:rPr>
              <a:t>React follows one-way data binding, where data flows from parent components to child components through props. This unidirectional flow makes data easier to manage and helps maintain predictable application behavior.</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EA60013-15EA-9410-C734-3BE8505F6E63}"/>
              </a:ext>
            </a:extLst>
          </p:cNvPr>
          <p:cNvPicPr>
            <a:picLocks noChangeAspect="1"/>
          </p:cNvPicPr>
          <p:nvPr/>
        </p:nvPicPr>
        <p:blipFill>
          <a:blip r:embed="rId2"/>
          <a:stretch>
            <a:fillRect/>
          </a:stretch>
        </p:blipFill>
        <p:spPr>
          <a:xfrm>
            <a:off x="4303595" y="1653984"/>
            <a:ext cx="3992112" cy="1962674"/>
          </a:xfrm>
          <a:prstGeom prst="rect">
            <a:avLst/>
          </a:prstGeom>
        </p:spPr>
      </p:pic>
      <p:pic>
        <p:nvPicPr>
          <p:cNvPr id="6" name="Picture 5">
            <a:extLst>
              <a:ext uri="{FF2B5EF4-FFF2-40B4-BE49-F238E27FC236}">
                <a16:creationId xmlns:a16="http://schemas.microsoft.com/office/drawing/2014/main" id="{B57F7C91-F5CF-C29A-76DC-20C9A91601EA}"/>
              </a:ext>
            </a:extLst>
          </p:cNvPr>
          <p:cNvPicPr>
            <a:picLocks noChangeAspect="1"/>
          </p:cNvPicPr>
          <p:nvPr/>
        </p:nvPicPr>
        <p:blipFill>
          <a:blip r:embed="rId3"/>
          <a:stretch>
            <a:fillRect/>
          </a:stretch>
        </p:blipFill>
        <p:spPr>
          <a:xfrm>
            <a:off x="5374802" y="4541528"/>
            <a:ext cx="3632720" cy="2316471"/>
          </a:xfrm>
          <a:prstGeom prst="rect">
            <a:avLst/>
          </a:prstGeom>
        </p:spPr>
      </p:pic>
    </p:spTree>
    <p:extLst>
      <p:ext uri="{BB962C8B-B14F-4D97-AF65-F5344CB8AC3E}">
        <p14:creationId xmlns:p14="http://schemas.microsoft.com/office/powerpoint/2010/main" val="4191536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D905A4-346A-8C6B-2668-AA56FB5563CB}"/>
              </a:ext>
            </a:extLst>
          </p:cNvPr>
          <p:cNvSpPr>
            <a:spLocks noGrp="1"/>
          </p:cNvSpPr>
          <p:nvPr>
            <p:ph idx="1"/>
          </p:nvPr>
        </p:nvSpPr>
        <p:spPr>
          <a:xfrm>
            <a:off x="0" y="0"/>
            <a:ext cx="12192000" cy="6858000"/>
          </a:xfrm>
        </p:spPr>
        <p:txBody>
          <a:bodyPr>
            <a:noAutofit/>
          </a:bodyPr>
          <a:lstStyle/>
          <a:p>
            <a:pPr marL="0" indent="0" fontAlgn="base">
              <a:buNone/>
            </a:pPr>
            <a:r>
              <a:rPr lang="en-US" sz="2400" b="1" dirty="0">
                <a:latin typeface="Times New Roman" panose="02020603050405020304" pitchFamily="18" charset="0"/>
                <a:cs typeface="Times New Roman" panose="02020603050405020304" pitchFamily="18" charset="0"/>
              </a:rPr>
              <a:t>5. State Management</a:t>
            </a:r>
          </a:p>
          <a:p>
            <a:pPr marL="0" indent="0" fontAlgn="base">
              <a:buNone/>
            </a:pPr>
            <a:r>
              <a:rPr lang="en-US" sz="2400" dirty="0">
                <a:latin typeface="Times New Roman" panose="02020603050405020304" pitchFamily="18" charset="0"/>
                <a:cs typeface="Times New Roman" panose="02020603050405020304" pitchFamily="18" charset="0"/>
              </a:rPr>
              <a:t>State is used to store and manage dynamic data within a component. When the state changes, React automatically updates the affected parts of the user interface without reloading the page.</a:t>
            </a:r>
          </a:p>
          <a:p>
            <a:pPr marL="0" indent="0">
              <a:buNone/>
            </a:pPr>
            <a:r>
              <a:rPr lang="en-US" sz="2400" dirty="0">
                <a:latin typeface="Times New Roman" panose="02020603050405020304" pitchFamily="18" charset="0"/>
                <a:cs typeface="Times New Roman" panose="02020603050405020304" pitchFamily="18" charset="0"/>
              </a:rPr>
              <a:t>import { useState } from "react";</a:t>
            </a:r>
          </a:p>
          <a:p>
            <a:pPr marL="0" indent="0">
              <a:buNone/>
            </a:pPr>
            <a:r>
              <a:rPr lang="en-US" sz="2400" dirty="0">
                <a:latin typeface="Times New Roman" panose="02020603050405020304" pitchFamily="18" charset="0"/>
                <a:cs typeface="Times New Roman" panose="02020603050405020304" pitchFamily="18" charset="0"/>
              </a:rPr>
              <a:t>function Counter() {</a:t>
            </a:r>
          </a:p>
          <a:p>
            <a:pPr marL="0" indent="0">
              <a:buNone/>
            </a:pPr>
            <a:r>
              <a:rPr lang="en-US" sz="2400" dirty="0">
                <a:latin typeface="Times New Roman" panose="02020603050405020304" pitchFamily="18" charset="0"/>
                <a:cs typeface="Times New Roman" panose="02020603050405020304" pitchFamily="18" charset="0"/>
              </a:rPr>
              <a:t>  const [count,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 = useState(0);</a:t>
            </a:r>
          </a:p>
          <a:p>
            <a:pPr marL="0" indent="0">
              <a:buNone/>
            </a:pPr>
            <a:r>
              <a:rPr lang="en-US" sz="2400" dirty="0">
                <a:latin typeface="Times New Roman" panose="02020603050405020304" pitchFamily="18" charset="0"/>
                <a:cs typeface="Times New Roman" panose="02020603050405020304" pitchFamily="18" charset="0"/>
              </a:rPr>
              <a:t>  return (</a:t>
            </a:r>
          </a:p>
          <a:p>
            <a:pPr marL="0" indent="0">
              <a:buNone/>
            </a:pPr>
            <a:r>
              <a:rPr lang="en-US" sz="2400" dirty="0">
                <a:latin typeface="Times New Roman" panose="02020603050405020304" pitchFamily="18" charset="0"/>
                <a:cs typeface="Times New Roman" panose="02020603050405020304" pitchFamily="18" charset="0"/>
              </a:rPr>
              <a:t>    &lt;button </a:t>
            </a:r>
            <a:r>
              <a:rPr lang="en-US" sz="2400" dirty="0" err="1">
                <a:latin typeface="Times New Roman" panose="02020603050405020304" pitchFamily="18" charset="0"/>
                <a:cs typeface="Times New Roman" panose="02020603050405020304" pitchFamily="18" charset="0"/>
              </a:rPr>
              <a:t>onClick</a:t>
            </a:r>
            <a:r>
              <a:rPr lang="en-US" sz="2400" dirty="0">
                <a:latin typeface="Times New Roman" panose="02020603050405020304" pitchFamily="18" charset="0"/>
                <a:cs typeface="Times New Roman" panose="02020603050405020304" pitchFamily="18" charset="0"/>
              </a:rPr>
              <a:t>={() =&gt;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(count + 1)}&gt;</a:t>
            </a:r>
          </a:p>
          <a:p>
            <a:pPr marL="0" indent="0">
              <a:buNone/>
            </a:pPr>
            <a:r>
              <a:rPr lang="en-US" sz="2400" dirty="0">
                <a:latin typeface="Times New Roman" panose="02020603050405020304" pitchFamily="18" charset="0"/>
                <a:cs typeface="Times New Roman" panose="02020603050405020304" pitchFamily="18" charset="0"/>
              </a:rPr>
              <a:t>      Count: {count}</a:t>
            </a:r>
          </a:p>
          <a:p>
            <a:pPr marL="0" indent="0">
              <a:buNone/>
            </a:pPr>
            <a:r>
              <a:rPr lang="en-US" sz="2400" dirty="0">
                <a:latin typeface="Times New Roman" panose="02020603050405020304" pitchFamily="18" charset="0"/>
                <a:cs typeface="Times New Roman" panose="02020603050405020304" pitchFamily="18" charset="0"/>
              </a:rPr>
              <a:t>    &lt;/button&gt;</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t>
            </a:r>
          </a:p>
          <a:p>
            <a:pPr marL="0" indent="0" fontAlgn="base">
              <a:buNone/>
            </a:pPr>
            <a:r>
              <a:rPr lang="en-US" sz="2400" b="1" dirty="0">
                <a:latin typeface="Times New Roman" panose="02020603050405020304" pitchFamily="18" charset="0"/>
                <a:cs typeface="Times New Roman" panose="02020603050405020304" pitchFamily="18" charset="0"/>
              </a:rPr>
              <a:t>6. High Performance</a:t>
            </a:r>
          </a:p>
          <a:p>
            <a:pPr marL="0" indent="0" fontAlgn="base">
              <a:buNone/>
            </a:pPr>
            <a:r>
              <a:rPr lang="en-US" sz="2400" dirty="0">
                <a:latin typeface="Times New Roman" panose="02020603050405020304" pitchFamily="18" charset="0"/>
                <a:cs typeface="Times New Roman" panose="02020603050405020304" pitchFamily="18" charset="0"/>
              </a:rPr>
              <a:t>As we discussed earlier, React uses virtual DOM and updates only the modified parts. So, this makes the DOM run faster. DOM executes in memory, so we can create separate components, which makes the DOM run faster.</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4467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19A79-5568-7368-66D6-53C58ED42FEE}"/>
              </a:ext>
            </a:extLst>
          </p:cNvPr>
          <p:cNvSpPr>
            <a:spLocks noGrp="1"/>
          </p:cNvSpPr>
          <p:nvPr>
            <p:ph idx="1"/>
          </p:nvPr>
        </p:nvSpPr>
        <p:spPr>
          <a:xfrm>
            <a:off x="0" y="0"/>
            <a:ext cx="12192000" cy="6858000"/>
          </a:xfrm>
        </p:spPr>
        <p:txBody>
          <a:bodyPr>
            <a:normAutofit/>
          </a:bodyPr>
          <a:lstStyle/>
          <a:p>
            <a:pPr marL="0" indent="0" fontAlgn="base">
              <a:buNone/>
            </a:pPr>
            <a:r>
              <a:rPr lang="en-US" sz="2600" b="1" dirty="0">
                <a:latin typeface="Times New Roman" panose="02020603050405020304" pitchFamily="18" charset="0"/>
                <a:cs typeface="Times New Roman" panose="02020603050405020304" pitchFamily="18" charset="0"/>
              </a:rPr>
              <a:t>7. React Hooks</a:t>
            </a:r>
          </a:p>
          <a:p>
            <a:pPr marL="0" indent="0" fontAlgn="base">
              <a:buNone/>
            </a:pPr>
            <a:r>
              <a:rPr lang="en-US" sz="2600" dirty="0">
                <a:latin typeface="Times New Roman" panose="02020603050405020304" pitchFamily="18" charset="0"/>
                <a:cs typeface="Times New Roman" panose="02020603050405020304" pitchFamily="18" charset="0"/>
              </a:rPr>
              <a:t>Hooks are built-in functions that allow functional components to use features such as state and lifecycle management. Commonly used hooks include useState, useEffect, and </a:t>
            </a:r>
            <a:r>
              <a:rPr lang="en-US" sz="2600" dirty="0" err="1">
                <a:latin typeface="Times New Roman" panose="02020603050405020304" pitchFamily="18" charset="0"/>
                <a:cs typeface="Times New Roman" panose="02020603050405020304" pitchFamily="18" charset="0"/>
              </a:rPr>
              <a:t>useContext</a:t>
            </a:r>
            <a:r>
              <a:rPr lang="en-US" sz="2600" dirty="0">
                <a:latin typeface="Times New Roman" panose="02020603050405020304" pitchFamily="18" charset="0"/>
                <a:cs typeface="Times New Roman" panose="02020603050405020304" pitchFamily="18" charset="0"/>
              </a:rPr>
              <a:t>.</a:t>
            </a:r>
          </a:p>
          <a:p>
            <a:pPr marL="0" indent="0">
              <a:buNone/>
            </a:pPr>
            <a:r>
              <a:rPr lang="en-US" sz="2600" dirty="0">
                <a:latin typeface="Times New Roman" panose="02020603050405020304" pitchFamily="18" charset="0"/>
                <a:cs typeface="Times New Roman" panose="02020603050405020304" pitchFamily="18" charset="0"/>
              </a:rPr>
              <a:t>import { useEffect } from "react";</a:t>
            </a:r>
          </a:p>
          <a:p>
            <a:pPr marL="0" indent="0">
              <a:buNone/>
            </a:pPr>
            <a:r>
              <a:rPr lang="en-US" sz="2600" dirty="0">
                <a:latin typeface="Times New Roman" panose="02020603050405020304" pitchFamily="18" charset="0"/>
                <a:cs typeface="Times New Roman" panose="02020603050405020304" pitchFamily="18" charset="0"/>
              </a:rPr>
              <a:t>function Example() {</a:t>
            </a:r>
          </a:p>
          <a:p>
            <a:pPr marL="0" indent="0">
              <a:buNone/>
            </a:pPr>
            <a:r>
              <a:rPr lang="en-US" sz="2600" dirty="0">
                <a:latin typeface="Times New Roman" panose="02020603050405020304" pitchFamily="18" charset="0"/>
                <a:cs typeface="Times New Roman" panose="02020603050405020304" pitchFamily="18" charset="0"/>
              </a:rPr>
              <a:t>  useEffect(() =&gt; {</a:t>
            </a:r>
          </a:p>
          <a:p>
            <a:pPr marL="0" indent="0">
              <a:buNone/>
            </a:pPr>
            <a:r>
              <a:rPr lang="en-US" sz="2600" dirty="0">
                <a:latin typeface="Times New Roman" panose="02020603050405020304" pitchFamily="18" charset="0"/>
                <a:cs typeface="Times New Roman" panose="02020603050405020304" pitchFamily="18" charset="0"/>
              </a:rPr>
              <a:t>    console.log("Component Mounted");</a:t>
            </a:r>
          </a:p>
          <a:p>
            <a:pPr marL="0" indent="0">
              <a:buNone/>
            </a:pPr>
            <a:r>
              <a:rPr lang="en-US" sz="2600" dirty="0">
                <a:latin typeface="Times New Roman" panose="02020603050405020304" pitchFamily="18" charset="0"/>
                <a:cs typeface="Times New Roman" panose="02020603050405020304" pitchFamily="18" charset="0"/>
              </a:rPr>
              <a:t>  }, []);</a:t>
            </a:r>
          </a:p>
          <a:p>
            <a:pPr marL="0" indent="0">
              <a:buNone/>
            </a:pPr>
            <a:r>
              <a:rPr lang="en-US" sz="2600" dirty="0">
                <a:latin typeface="Times New Roman" panose="02020603050405020304" pitchFamily="18" charset="0"/>
                <a:cs typeface="Times New Roman" panose="02020603050405020304" pitchFamily="18" charset="0"/>
              </a:rPr>
              <a:t>  return &lt;h2&gt;Hello React&lt;/h2&gt;;</a:t>
            </a:r>
          </a:p>
          <a:p>
            <a:pPr marL="0" indent="0">
              <a:buNone/>
            </a:pPr>
            <a:r>
              <a:rPr lang="en-US" sz="2600" dirty="0">
                <a:latin typeface="Times New Roman" panose="02020603050405020304" pitchFamily="18" charset="0"/>
                <a:cs typeface="Times New Roman" panose="02020603050405020304" pitchFamily="18" charset="0"/>
              </a:rPr>
              <a:t>}</a:t>
            </a:r>
          </a:p>
          <a:p>
            <a:pPr marL="0" indent="0" fontAlgn="base">
              <a:buNone/>
            </a:pPr>
            <a:r>
              <a:rPr lang="en-US" sz="2600" b="1" dirty="0">
                <a:latin typeface="Times New Roman" panose="02020603050405020304" pitchFamily="18" charset="0"/>
                <a:cs typeface="Times New Roman" panose="02020603050405020304" pitchFamily="18" charset="0"/>
              </a:rPr>
              <a:t>8. Extensibility</a:t>
            </a:r>
          </a:p>
          <a:p>
            <a:pPr marL="0" indent="0" fontAlgn="base">
              <a:buNone/>
            </a:pPr>
            <a:r>
              <a:rPr lang="en-US" sz="2600" dirty="0">
                <a:latin typeface="Times New Roman" panose="02020603050405020304" pitchFamily="18" charset="0"/>
                <a:cs typeface="Times New Roman" panose="02020603050405020304" pitchFamily="18" charset="0"/>
              </a:rPr>
              <a:t>React has many extensions that we can use to create full-fledged UI applications. It supports mobile app development and provides server-side rendering. React is extended with Flux, Redux, React Native, etc., which helps us to create a good-looking UI.</a:t>
            </a:r>
          </a:p>
          <a:p>
            <a:pPr marL="0" indent="0">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9003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BB79AC-6863-4FFE-933E-D9DCB8005048}"/>
              </a:ext>
            </a:extLst>
          </p:cNvPr>
          <p:cNvSpPr>
            <a:spLocks noGrp="1"/>
          </p:cNvSpPr>
          <p:nvPr>
            <p:ph idx="1"/>
          </p:nvPr>
        </p:nvSpPr>
        <p:spPr>
          <a:xfrm>
            <a:off x="0" y="0"/>
            <a:ext cx="12192000" cy="6858000"/>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Workflow of React JS:</a:t>
            </a:r>
          </a:p>
          <a:p>
            <a:pPr marL="0" indent="0">
              <a:buNone/>
            </a:pPr>
            <a:r>
              <a:rPr lang="en-US" sz="2500" dirty="0">
                <a:latin typeface="Times New Roman" panose="02020603050405020304" pitchFamily="18" charset="0"/>
                <a:cs typeface="Times New Roman" panose="02020603050405020304" pitchFamily="18" charset="0"/>
              </a:rPr>
              <a:t>The workflow of React.js revolves around a component-based architecture and a unidirectional data flow. Here is a breakdown of the typical workflow:</a:t>
            </a:r>
          </a:p>
          <a:p>
            <a:pPr marL="457200" indent="-457200">
              <a:buAutoNum type="arabicPeriod"/>
            </a:pPr>
            <a:r>
              <a:rPr lang="en-US" sz="2500" b="1" dirty="0">
                <a:latin typeface="Times New Roman" panose="02020603050405020304" pitchFamily="18" charset="0"/>
                <a:cs typeface="Times New Roman" panose="02020603050405020304" pitchFamily="18" charset="0"/>
              </a:rPr>
              <a:t>Project Initialization: </a:t>
            </a:r>
            <a:r>
              <a:rPr lang="en-US" sz="2500" dirty="0">
                <a:latin typeface="Times New Roman" panose="02020603050405020304" pitchFamily="18" charset="0"/>
                <a:cs typeface="Times New Roman" panose="02020603050405020304" pitchFamily="18" charset="0"/>
              </a:rPr>
              <a:t>The React project is initialized using tools like </a:t>
            </a:r>
            <a:r>
              <a:rPr lang="en-US" sz="2500" b="1" dirty="0">
                <a:latin typeface="Times New Roman" panose="02020603050405020304" pitchFamily="18" charset="0"/>
                <a:cs typeface="Times New Roman" panose="02020603050405020304" pitchFamily="18" charset="0"/>
              </a:rPr>
              <a:t>Create React App</a:t>
            </a:r>
            <a:r>
              <a:rPr lang="en-US" sz="2500" dirty="0">
                <a:latin typeface="Times New Roman" panose="02020603050405020304" pitchFamily="18" charset="0"/>
                <a:cs typeface="Times New Roman" panose="02020603050405020304" pitchFamily="18" charset="0"/>
              </a:rPr>
              <a:t>.</a:t>
            </a:r>
          </a:p>
          <a:p>
            <a:pPr marL="0" indent="0">
              <a:buNone/>
            </a:pP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npx</a:t>
            </a:r>
            <a:r>
              <a:rPr lang="en-US" sz="2500" dirty="0">
                <a:latin typeface="Times New Roman" panose="02020603050405020304" pitchFamily="18" charset="0"/>
                <a:cs typeface="Times New Roman" panose="02020603050405020304" pitchFamily="18" charset="0"/>
              </a:rPr>
              <a:t>: Node package editor                        </a:t>
            </a:r>
            <a:r>
              <a:rPr lang="en-US" sz="2500" b="1" dirty="0" err="1">
                <a:latin typeface="Times New Roman" panose="02020603050405020304" pitchFamily="18" charset="0"/>
                <a:cs typeface="Times New Roman" panose="02020603050405020304" pitchFamily="18" charset="0"/>
              </a:rPr>
              <a:t>npm</a:t>
            </a:r>
            <a:r>
              <a:rPr lang="en-US" sz="2500" dirty="0">
                <a:latin typeface="Times New Roman" panose="02020603050405020304" pitchFamily="18" charset="0"/>
                <a:cs typeface="Times New Roman" panose="02020603050405020304" pitchFamily="18" charset="0"/>
              </a:rPr>
              <a:t>: Node Package Manager</a:t>
            </a:r>
          </a:p>
          <a:p>
            <a:pPr marL="0" indent="0">
              <a:buNone/>
            </a:pPr>
            <a:r>
              <a:rPr lang="en-US" sz="2500" dirty="0" err="1">
                <a:latin typeface="Times New Roman" panose="02020603050405020304" pitchFamily="18" charset="0"/>
                <a:cs typeface="Times New Roman" panose="02020603050405020304" pitchFamily="18" charset="0"/>
              </a:rPr>
              <a:t>npx</a:t>
            </a:r>
            <a:r>
              <a:rPr lang="en-US" sz="2500" dirty="0">
                <a:latin typeface="Times New Roman" panose="02020603050405020304" pitchFamily="18" charset="0"/>
                <a:cs typeface="Times New Roman" panose="02020603050405020304" pitchFamily="18" charset="0"/>
              </a:rPr>
              <a:t> create-react-app </a:t>
            </a:r>
            <a:r>
              <a:rPr lang="en-US" sz="2500" b="1" dirty="0">
                <a:latin typeface="Times New Roman" panose="02020603050405020304" pitchFamily="18" charset="0"/>
                <a:cs typeface="Times New Roman" panose="02020603050405020304" pitchFamily="18" charset="0"/>
              </a:rPr>
              <a:t>my-app</a:t>
            </a:r>
            <a:r>
              <a:rPr lang="en-US" sz="2500" dirty="0">
                <a:latin typeface="Times New Roman" panose="02020603050405020304" pitchFamily="18" charset="0"/>
                <a:cs typeface="Times New Roman" panose="02020603050405020304" pitchFamily="18" charset="0"/>
              </a:rPr>
              <a:t> (file name)     cd my-app          </a:t>
            </a:r>
            <a:r>
              <a:rPr lang="en-US" sz="2500" dirty="0" err="1">
                <a:latin typeface="Times New Roman" panose="02020603050405020304" pitchFamily="18" charset="0"/>
                <a:cs typeface="Times New Roman" panose="02020603050405020304" pitchFamily="18" charset="0"/>
              </a:rPr>
              <a:t>npm</a:t>
            </a:r>
            <a:r>
              <a:rPr lang="en-US" sz="2500" dirty="0">
                <a:latin typeface="Times New Roman" panose="02020603050405020304" pitchFamily="18" charset="0"/>
                <a:cs typeface="Times New Roman" panose="02020603050405020304" pitchFamily="18" charset="0"/>
              </a:rPr>
              <a:t> start</a:t>
            </a:r>
          </a:p>
          <a:p>
            <a:pPr marL="0" indent="0">
              <a:buNone/>
            </a:pPr>
            <a:r>
              <a:rPr lang="en-US" sz="2500" dirty="0">
                <a:latin typeface="Times New Roman" panose="02020603050405020304" pitchFamily="18" charset="0"/>
                <a:cs typeface="Times New Roman" panose="02020603050405020304" pitchFamily="18" charset="0"/>
              </a:rPr>
              <a:t>2. </a:t>
            </a:r>
            <a:r>
              <a:rPr lang="en-US" sz="2500" b="1" dirty="0">
                <a:latin typeface="Times New Roman" panose="02020603050405020304" pitchFamily="18" charset="0"/>
                <a:cs typeface="Times New Roman" panose="02020603050405020304" pitchFamily="18" charset="0"/>
              </a:rPr>
              <a:t>Component Structure: </a:t>
            </a:r>
          </a:p>
          <a:p>
            <a:pPr marL="0" indent="0">
              <a:buNone/>
            </a:pPr>
            <a:r>
              <a:rPr lang="en-US" sz="2500" dirty="0">
                <a:latin typeface="Times New Roman" panose="02020603050405020304" pitchFamily="18" charset="0"/>
                <a:cs typeface="Times New Roman" panose="02020603050405020304" pitchFamily="18" charset="0"/>
              </a:rPr>
              <a:t>The UI is broken down into reusable components. Each component represents a part of the interface and is usually written using </a:t>
            </a:r>
            <a:r>
              <a:rPr lang="en-US" sz="2500" b="1" dirty="0">
                <a:latin typeface="Times New Roman" panose="02020603050405020304" pitchFamily="18" charset="0"/>
                <a:cs typeface="Times New Roman" panose="02020603050405020304" pitchFamily="18" charset="0"/>
              </a:rPr>
              <a:t>JSX (JavaScript XML)</a:t>
            </a:r>
            <a:r>
              <a:rPr lang="en-US" sz="2500" dirty="0">
                <a:latin typeface="Times New Roman" panose="02020603050405020304" pitchFamily="18" charset="0"/>
                <a:cs typeface="Times New Roman" panose="02020603050405020304" pitchFamily="18" charset="0"/>
              </a:rPr>
              <a:t>.</a:t>
            </a:r>
          </a:p>
          <a:p>
            <a:pPr marL="0" indent="0">
              <a:buNone/>
            </a:pPr>
            <a:r>
              <a:rPr lang="en-US" sz="2500" dirty="0">
                <a:latin typeface="Times New Roman" panose="02020603050405020304" pitchFamily="18" charset="0"/>
                <a:cs typeface="Times New Roman" panose="02020603050405020304" pitchFamily="18" charset="0"/>
              </a:rPr>
              <a:t>3. </a:t>
            </a:r>
            <a:r>
              <a:rPr lang="en-US" sz="2500" b="1" dirty="0">
                <a:latin typeface="Times New Roman" panose="02020603050405020304" pitchFamily="18" charset="0"/>
                <a:cs typeface="Times New Roman" panose="02020603050405020304" pitchFamily="18" charset="0"/>
              </a:rPr>
              <a:t>JSX and Rendering</a:t>
            </a:r>
            <a:r>
              <a:rPr lang="en-US" sz="2500" dirty="0">
                <a:latin typeface="Times New Roman" panose="02020603050405020304" pitchFamily="18" charset="0"/>
                <a:cs typeface="Times New Roman" panose="02020603050405020304" pitchFamily="18" charset="0"/>
              </a:rPr>
              <a:t>: </a:t>
            </a:r>
          </a:p>
          <a:p>
            <a:pPr marL="0" indent="0">
              <a:buNone/>
            </a:pPr>
            <a:r>
              <a:rPr lang="en-US" sz="2500" dirty="0">
                <a:latin typeface="Times New Roman" panose="02020603050405020304" pitchFamily="18" charset="0"/>
                <a:cs typeface="Times New Roman" panose="02020603050405020304" pitchFamily="18" charset="0"/>
              </a:rPr>
              <a:t>React components use JSX to define what the UI should look like. These components are rendered to the DOM using the ReactDOM.render() method.</a:t>
            </a:r>
          </a:p>
          <a:p>
            <a:pPr marL="0" indent="0">
              <a:buNone/>
            </a:pPr>
            <a:r>
              <a:rPr lang="en-US" sz="2500" dirty="0">
                <a:latin typeface="Times New Roman" panose="02020603050405020304" pitchFamily="18" charset="0"/>
                <a:cs typeface="Times New Roman" panose="02020603050405020304" pitchFamily="18" charset="0"/>
              </a:rPr>
              <a:t>4. </a:t>
            </a:r>
            <a:r>
              <a:rPr lang="en-US" sz="2500" b="1" dirty="0">
                <a:latin typeface="Times New Roman" panose="02020603050405020304" pitchFamily="18" charset="0"/>
                <a:cs typeface="Times New Roman" panose="02020603050405020304" pitchFamily="18" charset="0"/>
              </a:rPr>
              <a:t>State and Props Management: </a:t>
            </a:r>
          </a:p>
          <a:p>
            <a:pPr marL="0" indent="0">
              <a:buNone/>
            </a:pPr>
            <a:r>
              <a:rPr lang="en-US" sz="2500" dirty="0">
                <a:latin typeface="Times New Roman" panose="02020603050405020304" pitchFamily="18" charset="0"/>
                <a:cs typeface="Times New Roman" panose="02020603050405020304" pitchFamily="18" charset="0"/>
              </a:rPr>
              <a:t>Props are used to pass data from parent to child components. State is used to manage dynamic data within a component, often handled using React Hooks like useState and useEffect.</a:t>
            </a:r>
            <a:endParaRPr lang="en-US" sz="2500" b="1" dirty="0">
              <a:latin typeface="Times New Roman" panose="02020603050405020304" pitchFamily="18" charset="0"/>
              <a:cs typeface="Times New Roman" panose="02020603050405020304" pitchFamily="18" charset="0"/>
            </a:endParaRP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0663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2D40EF-92E2-416D-9170-C5AD434C4121}"/>
              </a:ext>
            </a:extLst>
          </p:cNvPr>
          <p:cNvSpPr>
            <a:spLocks noGrp="1"/>
          </p:cNvSpPr>
          <p:nvPr>
            <p:ph idx="1"/>
          </p:nvPr>
        </p:nvSpPr>
        <p:spPr>
          <a:xfrm>
            <a:off x="0" y="9812"/>
            <a:ext cx="12192000" cy="6848188"/>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5. Event Handling</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React allows handling user interactions through events such as clicks, form submissions, etc., using inline or callback functions.</a:t>
            </a:r>
          </a:p>
          <a:p>
            <a:pPr marL="0" indent="0">
              <a:buNone/>
            </a:pPr>
            <a:r>
              <a:rPr lang="en-US" sz="2400" b="1" dirty="0">
                <a:latin typeface="Times New Roman" panose="02020603050405020304" pitchFamily="18" charset="0"/>
                <a:cs typeface="Times New Roman" panose="02020603050405020304" pitchFamily="18" charset="0"/>
              </a:rPr>
              <a:t>6. Routing</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For multi-page applications, React uses libraries like </a:t>
            </a:r>
            <a:r>
              <a:rPr lang="en-US" sz="2400" b="1" dirty="0">
                <a:latin typeface="Times New Roman" panose="02020603050405020304" pitchFamily="18" charset="0"/>
                <a:cs typeface="Times New Roman" panose="02020603050405020304" pitchFamily="18" charset="0"/>
              </a:rPr>
              <a:t>React Router</a:t>
            </a:r>
            <a:r>
              <a:rPr lang="en-US" sz="2400" dirty="0">
                <a:latin typeface="Times New Roman" panose="02020603050405020304" pitchFamily="18" charset="0"/>
                <a:cs typeface="Times New Roman" panose="02020603050405020304" pitchFamily="18" charset="0"/>
              </a:rPr>
              <a:t> to navigate between components (pages) without reloading the page.</a:t>
            </a:r>
          </a:p>
          <a:p>
            <a:pPr marL="0" indent="0">
              <a:buNone/>
            </a:pPr>
            <a:r>
              <a:rPr lang="en-US" sz="2400" b="1" dirty="0">
                <a:latin typeface="Times New Roman" panose="02020603050405020304" pitchFamily="18" charset="0"/>
                <a:cs typeface="Times New Roman" panose="02020603050405020304" pitchFamily="18" charset="0"/>
              </a:rPr>
              <a:t>7. Side Effects and Data Fetching: </a:t>
            </a:r>
          </a:p>
          <a:p>
            <a:pPr marL="0" indent="0">
              <a:buNone/>
            </a:pPr>
            <a:r>
              <a:rPr lang="en-US" sz="2400" dirty="0">
                <a:latin typeface="Times New Roman" panose="02020603050405020304" pitchFamily="18" charset="0"/>
                <a:cs typeface="Times New Roman" panose="02020603050405020304" pitchFamily="18" charset="0"/>
              </a:rPr>
              <a:t>The useEffect hook is commonly used for performing side effects such as fetching data from an API or interacting with the browser DOM.</a:t>
            </a:r>
          </a:p>
          <a:p>
            <a:pPr marL="0" indent="0">
              <a:buNone/>
            </a:pPr>
            <a:r>
              <a:rPr lang="en-US" sz="2400" b="1" dirty="0">
                <a:latin typeface="Times New Roman" panose="02020603050405020304" pitchFamily="18" charset="0"/>
                <a:cs typeface="Times New Roman" panose="02020603050405020304" pitchFamily="18" charset="0"/>
              </a:rPr>
              <a:t>8. Styling</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Components can be styled using CSS, CSS Modules, styled-components, or utility-first frameworks like Tailwind CSS.</a:t>
            </a:r>
          </a:p>
          <a:p>
            <a:pPr marL="0" indent="0">
              <a:buNone/>
            </a:pPr>
            <a:r>
              <a:rPr lang="en-US" sz="2400" b="1" dirty="0">
                <a:latin typeface="Times New Roman" panose="02020603050405020304" pitchFamily="18" charset="0"/>
                <a:cs typeface="Times New Roman" panose="02020603050405020304" pitchFamily="18" charset="0"/>
              </a:rPr>
              <a:t>9. Build and Deployment: </a:t>
            </a:r>
          </a:p>
          <a:p>
            <a:pPr marL="0" indent="0">
              <a:buNone/>
            </a:pPr>
            <a:r>
              <a:rPr lang="en-US" sz="2400" dirty="0">
                <a:latin typeface="Times New Roman" panose="02020603050405020304" pitchFamily="18" charset="0"/>
                <a:cs typeface="Times New Roman" panose="02020603050405020304" pitchFamily="18" charset="0"/>
              </a:rPr>
              <a:t>After development, the app is built using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run build, creating optimized static files ready for deployment to platforms like </a:t>
            </a:r>
            <a:r>
              <a:rPr lang="en-US" sz="2400" dirty="0" err="1">
                <a:latin typeface="Times New Roman" panose="02020603050405020304" pitchFamily="18" charset="0"/>
                <a:cs typeface="Times New Roman" panose="02020603050405020304" pitchFamily="18" charset="0"/>
              </a:rPr>
              <a:t>Vercel</a:t>
            </a:r>
            <a:r>
              <a:rPr lang="en-US" sz="2400" dirty="0">
                <a:latin typeface="Times New Roman" panose="02020603050405020304" pitchFamily="18" charset="0"/>
                <a:cs typeface="Times New Roman" panose="02020603050405020304" pitchFamily="18" charset="0"/>
              </a:rPr>
              <a:t>, Netlify, or GitHub Pages.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600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F0F887-1CAF-4443-8DBA-15904CD04FB1}"/>
              </a:ext>
            </a:extLst>
          </p:cNvPr>
          <p:cNvSpPr>
            <a:spLocks noGrp="1"/>
          </p:cNvSpPr>
          <p:nvPr>
            <p:ph idx="1"/>
          </p:nvPr>
        </p:nvSpPr>
        <p:spPr>
          <a:xfrm>
            <a:off x="0" y="0"/>
            <a:ext cx="12192000" cy="6858000"/>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Scope of React JS:</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Single-Page Applications (SPAs):</a:t>
            </a:r>
            <a:r>
              <a:rPr lang="en-US" sz="2500" dirty="0">
                <a:latin typeface="Times New Roman" panose="02020603050405020304" pitchFamily="18" charset="0"/>
                <a:cs typeface="Times New Roman" panose="02020603050405020304" pitchFamily="18" charset="0"/>
              </a:rPr>
              <a:t> React is widely used to develop fast and responsive single-page applications.</a:t>
            </a:r>
            <a:endParaRPr lang="en-US" sz="25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Web Applications</a:t>
            </a:r>
            <a:r>
              <a:rPr lang="en-US" sz="2500" dirty="0">
                <a:latin typeface="Times New Roman" panose="02020603050405020304" pitchFamily="18" charset="0"/>
                <a:cs typeface="Times New Roman" panose="02020603050405020304" pitchFamily="18" charset="0"/>
              </a:rPr>
              <a:t>: Used to build dynamic and responsive Single Page Applications.</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Mobile Applications</a:t>
            </a:r>
            <a:r>
              <a:rPr lang="en-US" sz="2500" dirty="0">
                <a:latin typeface="Times New Roman" panose="02020603050405020304" pitchFamily="18" charset="0"/>
                <a:cs typeface="Times New Roman" panose="02020603050405020304" pitchFamily="18" charset="0"/>
              </a:rPr>
              <a:t>: Through </a:t>
            </a:r>
            <a:r>
              <a:rPr lang="en-US" sz="2500" b="1" dirty="0">
                <a:latin typeface="Times New Roman" panose="02020603050405020304" pitchFamily="18" charset="0"/>
                <a:cs typeface="Times New Roman" panose="02020603050405020304" pitchFamily="18" charset="0"/>
              </a:rPr>
              <a:t>React Native</a:t>
            </a:r>
            <a:r>
              <a:rPr lang="en-US" sz="2500" dirty="0">
                <a:latin typeface="Times New Roman" panose="02020603050405020304" pitchFamily="18" charset="0"/>
                <a:cs typeface="Times New Roman" panose="02020603050405020304" pitchFamily="18" charset="0"/>
              </a:rPr>
              <a:t>, React can be used to develop cross-platform mobile apps for iOS and Android.</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Static Site Generation &amp; SSR</a:t>
            </a:r>
            <a:r>
              <a:rPr lang="en-US" sz="2500" dirty="0">
                <a:latin typeface="Times New Roman" panose="02020603050405020304" pitchFamily="18" charset="0"/>
                <a:cs typeface="Times New Roman" panose="02020603050405020304" pitchFamily="18" charset="0"/>
              </a:rPr>
              <a:t>: With frameworks like </a:t>
            </a:r>
            <a:r>
              <a:rPr lang="en-US" sz="2500" b="1" dirty="0">
                <a:latin typeface="Times New Roman" panose="02020603050405020304" pitchFamily="18" charset="0"/>
                <a:cs typeface="Times New Roman" panose="02020603050405020304" pitchFamily="18" charset="0"/>
              </a:rPr>
              <a:t>Next.js</a:t>
            </a:r>
            <a:r>
              <a:rPr lang="en-US" sz="2500" dirty="0">
                <a:latin typeface="Times New Roman" panose="02020603050405020304" pitchFamily="18" charset="0"/>
                <a:cs typeface="Times New Roman" panose="02020603050405020304" pitchFamily="18" charset="0"/>
              </a:rPr>
              <a:t> and </a:t>
            </a:r>
            <a:r>
              <a:rPr lang="en-US" sz="2500" b="1" dirty="0">
                <a:latin typeface="Times New Roman" panose="02020603050405020304" pitchFamily="18" charset="0"/>
                <a:cs typeface="Times New Roman" panose="02020603050405020304" pitchFamily="18" charset="0"/>
              </a:rPr>
              <a:t>Gatsby</a:t>
            </a:r>
            <a:r>
              <a:rPr lang="en-US" sz="2500" dirty="0">
                <a:latin typeface="Times New Roman" panose="02020603050405020304" pitchFamily="18" charset="0"/>
                <a:cs typeface="Times New Roman" panose="02020603050405020304" pitchFamily="18" charset="0"/>
              </a:rPr>
              <a:t>, React supports server-side rendering and static site generation.</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Enterprise Solutions</a:t>
            </a:r>
            <a:r>
              <a:rPr lang="en-US" sz="2500" dirty="0">
                <a:latin typeface="Times New Roman" panose="02020603050405020304" pitchFamily="18" charset="0"/>
                <a:cs typeface="Times New Roman" panose="02020603050405020304" pitchFamily="18" charset="0"/>
              </a:rPr>
              <a:t>: Many large-scale applications and dashboards are built using React due to its scalability and performance.</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Career Opportunities</a:t>
            </a:r>
            <a:r>
              <a:rPr lang="en-US" sz="2500" dirty="0">
                <a:latin typeface="Times New Roman" panose="02020603050405020304" pitchFamily="18" charset="0"/>
                <a:cs typeface="Times New Roman" panose="02020603050405020304" pitchFamily="18" charset="0"/>
              </a:rPr>
              <a:t>: React developers are in high demand globally, with React often listed as a top skill in job postings.</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E-commerce Websites:</a:t>
            </a:r>
            <a:r>
              <a:rPr lang="en-US" sz="2500" dirty="0">
                <a:latin typeface="Times New Roman" panose="02020603050405020304" pitchFamily="18" charset="0"/>
                <a:cs typeface="Times New Roman" panose="02020603050405020304" pitchFamily="18" charset="0"/>
              </a:rPr>
              <a:t> React is extensively used to build e-commerce platforms that require real-time updates, smooth user experiences, and efficient state management.</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High Career Demand:</a:t>
            </a:r>
            <a:r>
              <a:rPr lang="en-US" sz="2500" dirty="0">
                <a:latin typeface="Times New Roman" panose="02020603050405020304" pitchFamily="18" charset="0"/>
                <a:cs typeface="Times New Roman" panose="02020603050405020304" pitchFamily="18" charset="0"/>
              </a:rPr>
              <a:t> React developers are in strong demand across industries, providing excellent career opportunities in front-end and full-stack web development.</a:t>
            </a:r>
          </a:p>
          <a:p>
            <a:pPr marL="0" indent="0">
              <a:buNone/>
            </a:pP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1714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Difference between React 15 vs React 16: </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518723491"/>
              </p:ext>
            </p:extLst>
          </p:nvPr>
        </p:nvGraphicFramePr>
        <p:xfrm>
          <a:off x="887104" y="615611"/>
          <a:ext cx="10413241" cy="6242393"/>
        </p:xfrm>
        <a:graphic>
          <a:graphicData uri="http://schemas.openxmlformats.org/drawingml/2006/table">
            <a:tbl>
              <a:tblPr firstRow="1" bandRow="1">
                <a:tableStyleId>{5940675A-B579-460E-94D1-54222C63F5DA}</a:tableStyleId>
              </a:tblPr>
              <a:tblGrid>
                <a:gridCol w="5052606">
                  <a:extLst>
                    <a:ext uri="{9D8B030D-6E8A-4147-A177-3AD203B41FA5}">
                      <a16:colId xmlns:a16="http://schemas.microsoft.com/office/drawing/2014/main" val="20000"/>
                    </a:ext>
                  </a:extLst>
                </a:gridCol>
                <a:gridCol w="5360635">
                  <a:extLst>
                    <a:ext uri="{9D8B030D-6E8A-4147-A177-3AD203B41FA5}">
                      <a16:colId xmlns:a16="http://schemas.microsoft.com/office/drawing/2014/main" val="20001"/>
                    </a:ext>
                  </a:extLst>
                </a:gridCol>
              </a:tblGrid>
              <a:tr h="872640">
                <a:tc>
                  <a:txBody>
                    <a:bodyPr/>
                    <a:lstStyle/>
                    <a:p>
                      <a:pPr algn="ctr"/>
                      <a:r>
                        <a:rPr lang="en-US" sz="2500" b="1" dirty="0">
                          <a:latin typeface="Times New Roman" panose="02020603050405020304" pitchFamily="18" charset="0"/>
                          <a:cs typeface="Times New Roman" panose="02020603050405020304" pitchFamily="18" charset="0"/>
                        </a:rPr>
                        <a:t>React 15 </a:t>
                      </a:r>
                      <a:endParaRPr lang="en-IN" sz="2500" b="1"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500" b="1" dirty="0">
                          <a:latin typeface="Times New Roman" panose="02020603050405020304" pitchFamily="18" charset="0"/>
                          <a:cs typeface="Times New Roman" panose="02020603050405020304" pitchFamily="18" charset="0"/>
                        </a:rPr>
                        <a:t>React 16</a:t>
                      </a:r>
                    </a:p>
                    <a:p>
                      <a:pPr algn="ctr"/>
                      <a:endParaRPr lang="en-IN" sz="25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872640">
                <a:tc>
                  <a:txBody>
                    <a:bodyPr/>
                    <a:lstStyle/>
                    <a:p>
                      <a:r>
                        <a:rPr lang="en-US" sz="2500" dirty="0">
                          <a:latin typeface="Times New Roman" panose="02020603050405020304" pitchFamily="18" charset="0"/>
                          <a:cs typeface="Times New Roman" panose="02020603050405020304" pitchFamily="18" charset="0"/>
                        </a:rPr>
                        <a:t>Based on the older </a:t>
                      </a:r>
                      <a:r>
                        <a:rPr lang="en-US" sz="2500" b="0" dirty="0">
                          <a:latin typeface="Times New Roman" panose="02020603050405020304" pitchFamily="18" charset="0"/>
                          <a:cs typeface="Times New Roman" panose="02020603050405020304" pitchFamily="18" charset="0"/>
                        </a:rPr>
                        <a:t>stack algorithm</a:t>
                      </a:r>
                      <a:endParaRPr lang="en-IN" sz="2500" b="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Introduced a new </a:t>
                      </a:r>
                      <a:r>
                        <a:rPr lang="en-US" sz="2500" b="0" dirty="0">
                          <a:latin typeface="Times New Roman" panose="02020603050405020304" pitchFamily="18" charset="0"/>
                          <a:cs typeface="Times New Roman" panose="02020603050405020304" pitchFamily="18" charset="0"/>
                        </a:rPr>
                        <a:t>Fiber architecture</a:t>
                      </a:r>
                      <a:r>
                        <a:rPr lang="en-US" sz="2500" dirty="0">
                          <a:latin typeface="Times New Roman" panose="02020603050405020304" pitchFamily="18" charset="0"/>
                          <a:cs typeface="Times New Roman" panose="02020603050405020304" pitchFamily="18" charset="0"/>
                        </a:rPr>
                        <a:t> more efficient and flexible</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872640">
                <a:tc>
                  <a:txBody>
                    <a:bodyPr/>
                    <a:lstStyle/>
                    <a:p>
                      <a:r>
                        <a:rPr lang="en-US" sz="2500" dirty="0">
                          <a:latin typeface="Times New Roman" panose="02020603050405020304" pitchFamily="18" charset="0"/>
                          <a:cs typeface="Times New Roman" panose="02020603050405020304" pitchFamily="18" charset="0"/>
                        </a:rPr>
                        <a:t>Errors in components could crash the entire app</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Introduced </a:t>
                      </a:r>
                      <a:r>
                        <a:rPr lang="en-US" sz="2500" b="0" dirty="0">
                          <a:latin typeface="Times New Roman" panose="02020603050405020304" pitchFamily="18" charset="0"/>
                          <a:cs typeface="Times New Roman" panose="02020603050405020304" pitchFamily="18" charset="0"/>
                        </a:rPr>
                        <a:t>Error Boundaries </a:t>
                      </a:r>
                      <a:r>
                        <a:rPr lang="en-US" sz="2500" dirty="0">
                          <a:latin typeface="Times New Roman" panose="02020603050405020304" pitchFamily="18" charset="0"/>
                          <a:cs typeface="Times New Roman" panose="02020603050405020304" pitchFamily="18" charset="0"/>
                        </a:rPr>
                        <a:t>to catch rendering errors locally</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872640">
                <a:tc>
                  <a:txBody>
                    <a:bodyPr/>
                    <a:lstStyle/>
                    <a:p>
                      <a:r>
                        <a:rPr lang="en-US" sz="2500" dirty="0">
                          <a:latin typeface="Times New Roman" panose="02020603050405020304" pitchFamily="18" charset="0"/>
                          <a:cs typeface="Times New Roman" panose="02020603050405020304" pitchFamily="18" charset="0"/>
                        </a:rPr>
                        <a:t>render() had to return a single DOM node</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render() can return arrays and fragments (&lt;&gt; &lt;/&gt;)</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1006553">
                <a:tc>
                  <a:txBody>
                    <a:bodyPr/>
                    <a:lstStyle/>
                    <a:p>
                      <a:r>
                        <a:rPr lang="en-US" sz="2500" dirty="0">
                          <a:latin typeface="Times New Roman" panose="02020603050405020304" pitchFamily="18" charset="0"/>
                          <a:cs typeface="Times New Roman" panose="02020603050405020304" pitchFamily="18" charset="0"/>
                        </a:rPr>
                        <a:t>Portals are not available</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Introduced </a:t>
                      </a:r>
                      <a:r>
                        <a:rPr lang="en-US" sz="2500" b="0" dirty="0">
                          <a:latin typeface="Times New Roman" panose="02020603050405020304" pitchFamily="18" charset="0"/>
                          <a:cs typeface="Times New Roman" panose="02020603050405020304" pitchFamily="18" charset="0"/>
                        </a:rPr>
                        <a:t>React Portals </a:t>
                      </a:r>
                      <a:r>
                        <a:rPr lang="en-US" sz="2500" dirty="0">
                          <a:latin typeface="Times New Roman" panose="02020603050405020304" pitchFamily="18" charset="0"/>
                          <a:cs typeface="Times New Roman" panose="02020603050405020304" pitchFamily="18" charset="0"/>
                        </a:rPr>
                        <a:t>for rendering components outside the main DOM tree</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872640">
                <a:tc>
                  <a:txBody>
                    <a:bodyPr/>
                    <a:lstStyle/>
                    <a:p>
                      <a:r>
                        <a:rPr lang="en-US" sz="2500" dirty="0">
                          <a:latin typeface="Times New Roman" panose="02020603050405020304" pitchFamily="18" charset="0"/>
                          <a:cs typeface="Times New Roman" panose="02020603050405020304" pitchFamily="18" charset="0"/>
                        </a:rPr>
                        <a:t>Less efficient rendering and updates</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Faster, more interruptible rendering using Fiber</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872640">
                <a:tc>
                  <a:txBody>
                    <a:bodyPr/>
                    <a:lstStyle/>
                    <a:p>
                      <a:r>
                        <a:rPr lang="en-US" sz="2500" dirty="0">
                          <a:latin typeface="Times New Roman" panose="02020603050405020304" pitchFamily="18" charset="0"/>
                          <a:cs typeface="Times New Roman" panose="02020603050405020304" pitchFamily="18" charset="0"/>
                        </a:rPr>
                        <a:t>Concurrent</a:t>
                      </a:r>
                      <a:r>
                        <a:rPr lang="en-US" sz="2500" baseline="0" dirty="0">
                          <a:latin typeface="Times New Roman" panose="02020603050405020304" pitchFamily="18" charset="0"/>
                          <a:cs typeface="Times New Roman" panose="02020603050405020304" pitchFamily="18" charset="0"/>
                        </a:rPr>
                        <a:t> mode </a:t>
                      </a:r>
                      <a:r>
                        <a:rPr lang="en-US" sz="2500" dirty="0">
                          <a:latin typeface="Times New Roman" panose="02020603050405020304" pitchFamily="18" charset="0"/>
                          <a:cs typeface="Times New Roman" panose="02020603050405020304" pitchFamily="18" charset="0"/>
                        </a:rPr>
                        <a:t>Not available</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Fiber enabled foundation for </a:t>
                      </a:r>
                      <a:r>
                        <a:rPr lang="en-US" sz="2500" b="0" dirty="0">
                          <a:latin typeface="Times New Roman" panose="02020603050405020304" pitchFamily="18" charset="0"/>
                          <a:cs typeface="Times New Roman" panose="02020603050405020304" pitchFamily="18" charset="0"/>
                        </a:rPr>
                        <a:t>Concurrent Mode </a:t>
                      </a:r>
                      <a:endParaRPr lang="en-IN" sz="25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24297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2F16A4-9902-9DBE-7531-95D98C28E566}"/>
              </a:ext>
            </a:extLst>
          </p:cNvPr>
          <p:cNvSpPr>
            <a:spLocks noGrp="1"/>
          </p:cNvSpPr>
          <p:nvPr>
            <p:ph idx="1"/>
          </p:nvPr>
        </p:nvSpPr>
        <p:spPr>
          <a:xfrm>
            <a:off x="0" y="0"/>
            <a:ext cx="12192000" cy="685800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Virtual DOM and real DOM</a:t>
            </a:r>
          </a:p>
          <a:p>
            <a:pPr marL="0" indent="0" algn="ctr">
              <a:buNone/>
            </a:pPr>
            <a:r>
              <a:rPr lang="en-US" b="1" dirty="0">
                <a:latin typeface="Times New Roman" panose="02020603050405020304" pitchFamily="18" charset="0"/>
                <a:cs typeface="Times New Roman" panose="02020603050405020304" pitchFamily="18" charset="0"/>
              </a:rPr>
              <a:t>Real DOM</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Document Object Model (DOM) is a programming interface for web documents.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It represents the HTML structure of a web page, which can be accessed and manipulated by JavaScript.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When a web page is loaded, the browser creates a DOM tree that consists of all the HTML elements on the page.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Through the use of JavaScript, the DOM tree can be modified to update the web page.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For instance, if you wish to change the text content of a button on a web page, you can select the button element using JavaScript and update its text content through the DOM.</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6837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7CCAD4-6B45-B286-CAE1-424F6F6B9208}"/>
              </a:ext>
            </a:extLst>
          </p:cNvPr>
          <p:cNvSpPr>
            <a:spLocks noGrp="1"/>
          </p:cNvSpPr>
          <p:nvPr>
            <p:ph idx="1"/>
          </p:nvPr>
        </p:nvSpPr>
        <p:spPr>
          <a:xfrm>
            <a:off x="0" y="0"/>
            <a:ext cx="12192000" cy="6858000"/>
          </a:xfrm>
        </p:spPr>
        <p:txBody>
          <a:bodyPr/>
          <a:lstStyle/>
          <a:p>
            <a:pPr marL="0" indent="0" algn="ctr">
              <a:buNone/>
            </a:pPr>
            <a:r>
              <a:rPr lang="en-US" b="1" dirty="0">
                <a:latin typeface="Times New Roman" panose="02020603050405020304" pitchFamily="18" charset="0"/>
                <a:cs typeface="Times New Roman" panose="02020603050405020304" pitchFamily="18" charset="0"/>
              </a:rPr>
              <a:t>Virtual DOM</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Virtual DOM is a crucial concept utilized in modern frameworks such as React, which significantly improves the performance of updating the real DOM.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When a state change occurs in a React component, instead of updating the actual DOM directly, React creates a lightweight replica of the DOM known as the Virtual DOM.</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React then compares the updated Virtual DOM with the previous one to identify the changes that need to be applied to the real DOM.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Once the changes are determined, React updates the real DOM in an optimized and efficient manner, thereby reducing unnecessary re-renders and improving overall performance.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1808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01FD0-EFB6-5F98-3FC0-4C24A4E0E095}"/>
              </a:ext>
            </a:extLst>
          </p:cNvPr>
          <p:cNvSpPr>
            <a:spLocks noGrp="1"/>
          </p:cNvSpPr>
          <p:nvPr>
            <p:ph idx="1"/>
          </p:nvPr>
        </p:nvSpPr>
        <p:spPr>
          <a:xfrm>
            <a:off x="0" y="0"/>
            <a:ext cx="12192000" cy="6858000"/>
          </a:xfrm>
        </p:spPr>
        <p:txBody>
          <a:bodyPr/>
          <a:lstStyle/>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Difference between Virtual and Real DOM</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5F73D36B-841A-3B7D-11C5-F7BAEBCC065F}"/>
              </a:ext>
            </a:extLst>
          </p:cNvPr>
          <p:cNvGraphicFramePr>
            <a:graphicFrameLocks noGrp="1"/>
          </p:cNvGraphicFramePr>
          <p:nvPr>
            <p:extLst>
              <p:ext uri="{D42A27DB-BD31-4B8C-83A1-F6EECF244321}">
                <p14:modId xmlns:p14="http://schemas.microsoft.com/office/powerpoint/2010/main" val="3462092884"/>
              </p:ext>
            </p:extLst>
          </p:nvPr>
        </p:nvGraphicFramePr>
        <p:xfrm>
          <a:off x="957618" y="1402054"/>
          <a:ext cx="10276764" cy="4595758"/>
        </p:xfrm>
        <a:graphic>
          <a:graphicData uri="http://schemas.openxmlformats.org/drawingml/2006/table">
            <a:tbl>
              <a:tblPr firstRow="1" bandRow="1">
                <a:tableStyleId>{5940675A-B579-460E-94D1-54222C63F5DA}</a:tableStyleId>
              </a:tblPr>
              <a:tblGrid>
                <a:gridCol w="5138382">
                  <a:extLst>
                    <a:ext uri="{9D8B030D-6E8A-4147-A177-3AD203B41FA5}">
                      <a16:colId xmlns:a16="http://schemas.microsoft.com/office/drawing/2014/main" val="2369346074"/>
                    </a:ext>
                  </a:extLst>
                </a:gridCol>
                <a:gridCol w="5138382">
                  <a:extLst>
                    <a:ext uri="{9D8B030D-6E8A-4147-A177-3AD203B41FA5}">
                      <a16:colId xmlns:a16="http://schemas.microsoft.com/office/drawing/2014/main" val="1359494795"/>
                    </a:ext>
                  </a:extLst>
                </a:gridCol>
              </a:tblGrid>
              <a:tr h="572398">
                <a:tc>
                  <a:txBody>
                    <a:bodyPr/>
                    <a:lstStyle/>
                    <a:p>
                      <a:pPr algn="ctr" fontAlgn="b" latinLnBrk="0">
                        <a:buNone/>
                      </a:pPr>
                      <a:r>
                        <a:rPr lang="en-US" sz="2400" b="1" i="0" dirty="0">
                          <a:solidFill>
                            <a:schemeClr val="tx1"/>
                          </a:solidFill>
                          <a:effectLst/>
                          <a:latin typeface="Times New Roman" panose="02020603050405020304" pitchFamily="18" charset="0"/>
                          <a:cs typeface="Times New Roman" panose="02020603050405020304" pitchFamily="18" charset="0"/>
                        </a:rPr>
                        <a:t>Real DOM</a:t>
                      </a:r>
                    </a:p>
                  </a:txBody>
                  <a:tcPr anchor="b"/>
                </a:tc>
                <a:tc>
                  <a:txBody>
                    <a:bodyPr/>
                    <a:lstStyle/>
                    <a:p>
                      <a:pPr algn="ctr" fontAlgn="b" latinLnBrk="0">
                        <a:buNone/>
                      </a:pPr>
                      <a:r>
                        <a:rPr lang="en-US" sz="2400" b="1" i="0" dirty="0">
                          <a:solidFill>
                            <a:schemeClr val="tx1"/>
                          </a:solidFill>
                          <a:effectLst/>
                          <a:latin typeface="Times New Roman" panose="02020603050405020304" pitchFamily="18" charset="0"/>
                          <a:cs typeface="Times New Roman" panose="02020603050405020304" pitchFamily="18" charset="0"/>
                        </a:rPr>
                        <a:t>Virtual DOM</a:t>
                      </a:r>
                    </a:p>
                  </a:txBody>
                  <a:tcPr anchor="b"/>
                </a:tc>
                <a:extLst>
                  <a:ext uri="{0D108BD9-81ED-4DB2-BD59-A6C34878D82A}">
                    <a16:rowId xmlns:a16="http://schemas.microsoft.com/office/drawing/2014/main" val="552529573"/>
                  </a:ext>
                </a:extLst>
              </a:tr>
              <a:tr h="370840">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It represents a simplified version of a webpage’s underlying HTML code.</a:t>
                      </a:r>
                    </a:p>
                  </a:txBody>
                  <a:tcPr/>
                </a:tc>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It serves as a simplified representation of the HTML Document Object Model (DOM).</a:t>
                      </a:r>
                    </a:p>
                  </a:txBody>
                  <a:tcPr/>
                </a:tc>
                <a:extLst>
                  <a:ext uri="{0D108BD9-81ED-4DB2-BD59-A6C34878D82A}">
                    <a16:rowId xmlns:a16="http://schemas.microsoft.com/office/drawing/2014/main" val="2571494985"/>
                  </a:ext>
                </a:extLst>
              </a:tr>
              <a:tr h="370840">
                <a:tc>
                  <a:txBody>
                    <a:bodyPr/>
                    <a:lstStyle/>
                    <a:p>
                      <a:pPr algn="l" fontAlgn="t" latinLnBrk="0">
                        <a:buNone/>
                      </a:pPr>
                      <a:r>
                        <a:rPr lang="en-US" sz="2400" b="0" i="0" dirty="0">
                          <a:solidFill>
                            <a:schemeClr val="tx1"/>
                          </a:solidFill>
                          <a:effectLst/>
                          <a:latin typeface="Times New Roman" panose="02020603050405020304" pitchFamily="18" charset="0"/>
                          <a:cs typeface="Times New Roman" panose="02020603050405020304" pitchFamily="18" charset="0"/>
                        </a:rPr>
                        <a:t>It has the ability to manipulate elements displayed on the screen.</a:t>
                      </a:r>
                    </a:p>
                  </a:txBody>
                  <a:tcPr/>
                </a:tc>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It lacks the ability to manipulate elements displayed on the screen.</a:t>
                      </a:r>
                    </a:p>
                  </a:txBody>
                  <a:tcPr/>
                </a:tc>
                <a:extLst>
                  <a:ext uri="{0D108BD9-81ED-4DB2-BD59-A6C34878D82A}">
                    <a16:rowId xmlns:a16="http://schemas.microsoft.com/office/drawing/2014/main" val="1177002477"/>
                  </a:ext>
                </a:extLst>
              </a:tr>
              <a:tr h="370840">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Any modification results in the entire DOM tree being updated.</a:t>
                      </a:r>
                    </a:p>
                  </a:txBody>
                  <a:tcPr/>
                </a:tc>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Any modification only updates the relevant node in the tree.</a:t>
                      </a:r>
                    </a:p>
                  </a:txBody>
                  <a:tcPr/>
                </a:tc>
                <a:extLst>
                  <a:ext uri="{0D108BD9-81ED-4DB2-BD59-A6C34878D82A}">
                    <a16:rowId xmlns:a16="http://schemas.microsoft.com/office/drawing/2014/main" val="3891893188"/>
                  </a:ext>
                </a:extLst>
              </a:tr>
              <a:tr h="370840">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Updating proves to be a slow and inefficient process.Updating is slow and inefficient.</a:t>
                      </a:r>
                    </a:p>
                  </a:txBody>
                  <a:tcPr/>
                </a:tc>
                <a:tc>
                  <a:txBody>
                    <a:bodyPr/>
                    <a:lstStyle/>
                    <a:p>
                      <a:pPr algn="l" fontAlgn="t" latinLnBrk="0">
                        <a:buNone/>
                      </a:pPr>
                      <a:r>
                        <a:rPr lang="en-US" sz="2400" b="0" i="0" dirty="0">
                          <a:solidFill>
                            <a:schemeClr val="tx1"/>
                          </a:solidFill>
                          <a:effectLst/>
                          <a:latin typeface="Times New Roman" panose="02020603050405020304" pitchFamily="18" charset="0"/>
                          <a:cs typeface="Times New Roman" panose="02020603050405020304" pitchFamily="18" charset="0"/>
                        </a:rPr>
                        <a:t>The process of updating is speedy and efficient.</a:t>
                      </a:r>
                    </a:p>
                  </a:txBody>
                  <a:tcPr/>
                </a:tc>
                <a:extLst>
                  <a:ext uri="{0D108BD9-81ED-4DB2-BD59-A6C34878D82A}">
                    <a16:rowId xmlns:a16="http://schemas.microsoft.com/office/drawing/2014/main" val="190044992"/>
                  </a:ext>
                </a:extLst>
              </a:tr>
            </a:tbl>
          </a:graphicData>
        </a:graphic>
      </p:graphicFrame>
    </p:spTree>
    <p:extLst>
      <p:ext uri="{BB962C8B-B14F-4D97-AF65-F5344CB8AC3E}">
        <p14:creationId xmlns:p14="http://schemas.microsoft.com/office/powerpoint/2010/main" val="549333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B6E0D5-2B62-391B-CA25-EBB1067ECC84}"/>
              </a:ext>
            </a:extLst>
          </p:cNvPr>
          <p:cNvSpPr>
            <a:spLocks noGrp="1"/>
          </p:cNvSpPr>
          <p:nvPr>
            <p:ph idx="1"/>
          </p:nvPr>
        </p:nvSpPr>
        <p:spPr>
          <a:xfrm>
            <a:off x="0" y="0"/>
            <a:ext cx="12192000" cy="6858000"/>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Setting up a development environment: Create-react-app</a:t>
            </a:r>
          </a:p>
          <a:p>
            <a:pPr marL="0" indent="0">
              <a:buNone/>
            </a:pPr>
            <a:r>
              <a:rPr lang="en-US" sz="2400" dirty="0">
                <a:latin typeface="Times New Roman" panose="02020603050405020304" pitchFamily="18" charset="0"/>
                <a:cs typeface="Times New Roman" panose="02020603050405020304" pitchFamily="18" charset="0"/>
              </a:rPr>
              <a:t>A new React app can be created using the </a:t>
            </a: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create-react-app command, which provides a fast and simple way to set up a React project.</a:t>
            </a:r>
            <a:endParaRPr lang="en-US" sz="24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Step 1: Install Node.js and NPM</a:t>
            </a:r>
          </a:p>
          <a:p>
            <a:pPr marL="0" indent="0">
              <a:buNone/>
            </a:pPr>
            <a:r>
              <a:rPr lang="en-US" sz="2400" dirty="0">
                <a:latin typeface="Times New Roman" panose="02020603050405020304" pitchFamily="18" charset="0"/>
                <a:cs typeface="Times New Roman" panose="02020603050405020304" pitchFamily="18" charset="0"/>
              </a:rPr>
              <a:t>The first step is to install Node.js and NPM in your system to create a React application.</a:t>
            </a:r>
          </a:p>
          <a:p>
            <a:pPr marL="0" indent="0" fontAlgn="base">
              <a:buNone/>
            </a:pPr>
            <a:r>
              <a:rPr lang="en-US" sz="2400" b="1" dirty="0">
                <a:latin typeface="Times New Roman" panose="02020603050405020304" pitchFamily="18" charset="0"/>
                <a:cs typeface="Times New Roman" panose="02020603050405020304" pitchFamily="18" charset="0"/>
              </a:rPr>
              <a:t>Step 2: Initialize the React App Using create-react-app</a:t>
            </a:r>
          </a:p>
          <a:p>
            <a:pPr marL="0" indent="0" fontAlgn="base">
              <a:buNone/>
            </a:pPr>
            <a:r>
              <a:rPr lang="en-US" sz="2400" dirty="0">
                <a:latin typeface="Times New Roman" panose="02020603050405020304" pitchFamily="18" charset="0"/>
                <a:cs typeface="Times New Roman" panose="02020603050405020304" pitchFamily="18" charset="0"/>
              </a:rPr>
              <a:t>If you have installed an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version greater than or equal to 5.6, you can use the following </a:t>
            </a: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command to create a new React app:</a:t>
            </a:r>
          </a:p>
          <a:p>
            <a:pPr marL="0" indent="0" algn="ctr">
              <a:buNone/>
            </a:pP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create-react-app </a:t>
            </a:r>
            <a:r>
              <a:rPr lang="en-US" sz="2400" dirty="0" err="1">
                <a:latin typeface="Times New Roman" panose="02020603050405020304" pitchFamily="18" charset="0"/>
                <a:cs typeface="Times New Roman" panose="02020603050405020304" pitchFamily="18" charset="0"/>
              </a:rPr>
              <a:t>app_name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If you are using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version 5.1 or less, you cannot use the </a:t>
            </a: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command; you need to install create-react-app globally by using the command</a:t>
            </a:r>
          </a:p>
          <a:p>
            <a:pPr marL="0" indent="0" algn="ctr" fontAlgn="base">
              <a:buNone/>
            </a:pP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install -g create-react-app</a:t>
            </a:r>
          </a:p>
          <a:p>
            <a:pPr marL="0" indent="0" algn="ctr" fontAlgn="base">
              <a:buNone/>
            </a:pPr>
            <a:r>
              <a:rPr lang="en-US" sz="2400" dirty="0">
                <a:latin typeface="Times New Roman" panose="02020603050405020304" pitchFamily="18" charset="0"/>
                <a:cs typeface="Times New Roman" panose="02020603050405020304" pitchFamily="18" charset="0"/>
              </a:rPr>
              <a:t>create-react-app </a:t>
            </a:r>
            <a:r>
              <a:rPr lang="en-US" sz="2400" dirty="0" err="1">
                <a:latin typeface="Times New Roman" panose="02020603050405020304" pitchFamily="18" charset="0"/>
                <a:cs typeface="Times New Roman" panose="02020603050405020304" pitchFamily="18" charset="0"/>
              </a:rPr>
              <a:t>app_name</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Step 3: Switch to the project directory</a:t>
            </a:r>
          </a:p>
          <a:p>
            <a:pPr marL="0" indent="0" fontAlgn="base">
              <a:buNone/>
            </a:pPr>
            <a:r>
              <a:rPr lang="en-US" sz="2400" dirty="0">
                <a:latin typeface="Times New Roman" panose="02020603050405020304" pitchFamily="18" charset="0"/>
                <a:cs typeface="Times New Roman" panose="02020603050405020304" pitchFamily="18" charset="0"/>
              </a:rPr>
              <a:t>Once the project is created, switch to the project directory using the following command:</a:t>
            </a:r>
          </a:p>
          <a:p>
            <a:pPr marL="0" indent="0" fontAlgn="base">
              <a:buNone/>
            </a:pPr>
            <a:r>
              <a:rPr lang="en-US" sz="2400" dirty="0">
                <a:latin typeface="Times New Roman" panose="02020603050405020304" pitchFamily="18" charset="0"/>
                <a:cs typeface="Times New Roman" panose="02020603050405020304" pitchFamily="18" charset="0"/>
              </a:rPr>
              <a:t>cd </a:t>
            </a:r>
            <a:r>
              <a:rPr lang="en-US" sz="2400" dirty="0" err="1">
                <a:latin typeface="Times New Roman" panose="02020603050405020304" pitchFamily="18" charset="0"/>
                <a:cs typeface="Times New Roman" panose="02020603050405020304" pitchFamily="18" charset="0"/>
              </a:rPr>
              <a:t>app_name</a:t>
            </a:r>
            <a:endParaRPr lang="en-US" sz="2400"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5491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1D348-B77C-3EE8-0B8D-426541E87771}"/>
              </a:ext>
            </a:extLst>
          </p:cNvPr>
          <p:cNvSpPr>
            <a:spLocks noGrp="1"/>
          </p:cNvSpPr>
          <p:nvPr>
            <p:ph idx="1"/>
          </p:nvPr>
        </p:nvSpPr>
        <p:spPr>
          <a:xfrm>
            <a:off x="0" y="0"/>
            <a:ext cx="12192000" cy="6858000"/>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Step 4: Start the development server</a:t>
            </a:r>
          </a:p>
          <a:p>
            <a:pPr marL="0" indent="0" fontAlgn="base">
              <a:buNone/>
            </a:pPr>
            <a:r>
              <a:rPr lang="en-US" sz="2400" dirty="0">
                <a:latin typeface="Times New Roman" panose="02020603050405020304" pitchFamily="18" charset="0"/>
                <a:cs typeface="Times New Roman" panose="02020603050405020304" pitchFamily="18" charset="0"/>
              </a:rPr>
              <a:t>To run the app, use the following command. This command will locally run your app.</a:t>
            </a:r>
          </a:p>
          <a:p>
            <a:pPr marL="0" indent="0" fontAlgn="base">
              <a:buNone/>
            </a:pP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start</a:t>
            </a:r>
          </a:p>
          <a:p>
            <a:pPr marL="0" indent="0" fontAlgn="base">
              <a:buNone/>
            </a:pPr>
            <a:r>
              <a:rPr lang="en-US" sz="2400" b="1" dirty="0">
                <a:latin typeface="Times New Roman" panose="02020603050405020304" pitchFamily="18" charset="0"/>
                <a:cs typeface="Times New Roman" panose="02020603050405020304" pitchFamily="18" charset="0"/>
              </a:rPr>
              <a:t>Modify the React application by making a few changes in the App.js file.</a:t>
            </a:r>
          </a:p>
          <a:p>
            <a:pPr marL="0" indent="0" fontAlgn="base">
              <a:buNone/>
            </a:pPr>
            <a:r>
              <a:rPr lang="en-US" sz="2400" dirty="0">
                <a:latin typeface="Times New Roman" panose="02020603050405020304" pitchFamily="18" charset="0"/>
                <a:cs typeface="Times New Roman" panose="02020603050405020304" pitchFamily="18" charset="0"/>
              </a:rPr>
              <a:t>// Filename - App.js</a:t>
            </a:r>
          </a:p>
          <a:p>
            <a:pPr marL="0" indent="0" fontAlgn="base">
              <a:buNone/>
            </a:pPr>
            <a:r>
              <a:rPr lang="en-US" sz="2400" dirty="0">
                <a:latin typeface="Times New Roman" panose="02020603050405020304" pitchFamily="18" charset="0"/>
                <a:cs typeface="Times New Roman" panose="02020603050405020304" pitchFamily="18" charset="0"/>
              </a:rPr>
              <a:t>import React from 'react';</a:t>
            </a:r>
          </a:p>
          <a:p>
            <a:pPr marL="0" indent="0" fontAlgn="base">
              <a:buNone/>
            </a:pPr>
            <a:r>
              <a:rPr lang="en-US" sz="2400" dirty="0">
                <a:latin typeface="Times New Roman" panose="02020603050405020304" pitchFamily="18" charset="0"/>
                <a:cs typeface="Times New Roman" panose="02020603050405020304" pitchFamily="18" charset="0"/>
              </a:rPr>
              <a:t>function App() {</a:t>
            </a:r>
          </a:p>
          <a:p>
            <a:pPr marL="0" indent="0" fontAlgn="base">
              <a:buNone/>
            </a:pPr>
            <a:r>
              <a:rPr lang="en-US" sz="2400" dirty="0">
                <a:latin typeface="Times New Roman" panose="02020603050405020304" pitchFamily="18" charset="0"/>
                <a:cs typeface="Times New Roman" panose="02020603050405020304" pitchFamily="18" charset="0"/>
              </a:rPr>
              <a:t>    const </a:t>
            </a:r>
            <a:r>
              <a:rPr lang="en-US" sz="2400" dirty="0" err="1">
                <a:latin typeface="Times New Roman" panose="02020603050405020304" pitchFamily="18" charset="0"/>
                <a:cs typeface="Times New Roman" panose="02020603050405020304" pitchFamily="18" charset="0"/>
              </a:rPr>
              <a:t>headingStyle</a:t>
            </a:r>
            <a:r>
              <a:rPr lang="en-US" sz="2400" dirty="0">
                <a:latin typeface="Times New Roman" panose="02020603050405020304" pitchFamily="18" charset="0"/>
                <a:cs typeface="Times New Roman" panose="02020603050405020304" pitchFamily="18" charset="0"/>
              </a:rPr>
              <a:t> = {</a:t>
            </a:r>
          </a:p>
          <a:p>
            <a:pPr marL="0" indent="0" fontAlgn="base">
              <a:buNone/>
            </a:pPr>
            <a:r>
              <a:rPr lang="en-US" sz="2400" dirty="0">
                <a:latin typeface="Times New Roman" panose="02020603050405020304" pitchFamily="18" charset="0"/>
                <a:cs typeface="Times New Roman" panose="02020603050405020304" pitchFamily="18" charset="0"/>
              </a:rPr>
              <a:t>        color: 'green',</a:t>
            </a:r>
          </a:p>
          <a:p>
            <a:pPr marL="0" indent="0" fontAlgn="base">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textAlign</a:t>
            </a:r>
            <a:r>
              <a:rPr lang="en-US" sz="2400" dirty="0">
                <a:latin typeface="Times New Roman" panose="02020603050405020304" pitchFamily="18" charset="0"/>
                <a:cs typeface="Times New Roman" panose="02020603050405020304" pitchFamily="18" charset="0"/>
              </a:rPr>
              <a:t>: 'center'</a:t>
            </a:r>
          </a:p>
          <a:p>
            <a:pPr marL="0" indent="0" fontAlgn="base">
              <a:buNone/>
            </a:pPr>
            <a:r>
              <a:rPr lang="en-US" sz="2400" dirty="0">
                <a:latin typeface="Times New Roman" panose="02020603050405020304" pitchFamily="18" charset="0"/>
                <a:cs typeface="Times New Roman" panose="02020603050405020304" pitchFamily="18" charset="0"/>
              </a:rPr>
              <a:t>    };</a:t>
            </a:r>
          </a:p>
          <a:p>
            <a:pPr marL="0" indent="0" fontAlgn="base">
              <a:buNone/>
            </a:pPr>
            <a:r>
              <a:rPr lang="en-US" sz="2400" dirty="0">
                <a:latin typeface="Times New Roman" panose="02020603050405020304" pitchFamily="18" charset="0"/>
                <a:cs typeface="Times New Roman" panose="02020603050405020304" pitchFamily="18" charset="0"/>
              </a:rPr>
              <a:t>    return &lt;h1 style={</a:t>
            </a:r>
            <a:r>
              <a:rPr lang="en-US" sz="2400" dirty="0" err="1">
                <a:latin typeface="Times New Roman" panose="02020603050405020304" pitchFamily="18" charset="0"/>
                <a:cs typeface="Times New Roman" panose="02020603050405020304" pitchFamily="18" charset="0"/>
              </a:rPr>
              <a:t>headingStyle</a:t>
            </a:r>
            <a:r>
              <a:rPr lang="en-US" sz="2400" dirty="0">
                <a:latin typeface="Times New Roman" panose="02020603050405020304" pitchFamily="18" charset="0"/>
                <a:cs typeface="Times New Roman" panose="02020603050405020304" pitchFamily="18" charset="0"/>
              </a:rPr>
              <a:t>}&gt;Welcome to MCS-I&lt;/h1&gt;;</a:t>
            </a:r>
          </a:p>
          <a:p>
            <a:pPr marL="0" indent="0" fontAlgn="base">
              <a:buNone/>
            </a:pPr>
            <a:r>
              <a:rPr lang="en-US" sz="2400" dirty="0">
                <a:latin typeface="Times New Roman" panose="02020603050405020304" pitchFamily="18" charset="0"/>
                <a:cs typeface="Times New Roman" panose="02020603050405020304" pitchFamily="18" charset="0"/>
              </a:rPr>
              <a:t>}</a:t>
            </a:r>
          </a:p>
          <a:p>
            <a:pPr marL="0" indent="0" fontAlgn="base">
              <a:buNone/>
            </a:pPr>
            <a:r>
              <a:rPr lang="en-US" sz="2400" dirty="0">
                <a:latin typeface="Times New Roman" panose="02020603050405020304" pitchFamily="18" charset="0"/>
                <a:cs typeface="Times New Roman" panose="02020603050405020304" pitchFamily="18" charset="0"/>
              </a:rPr>
              <a:t>export default App;</a:t>
            </a:r>
          </a:p>
          <a:p>
            <a:pPr marL="0" indent="0" fontAlgn="base">
              <a:buNone/>
            </a:pP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Welcome to MCS-I</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1043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6FB857-9E9D-1945-43AB-EC6B15EE84B2}"/>
              </a:ext>
            </a:extLst>
          </p:cNvPr>
          <p:cNvSpPr>
            <a:spLocks noGrp="1"/>
          </p:cNvSpPr>
          <p:nvPr>
            <p:ph idx="1"/>
          </p:nvPr>
        </p:nvSpPr>
        <p:spPr>
          <a:xfrm>
            <a:off x="0" y="24120"/>
            <a:ext cx="12192000" cy="6833879"/>
          </a:xfrm>
        </p:spPr>
        <p:txBody>
          <a:bodyPr/>
          <a:lstStyle/>
          <a:p>
            <a:pPr marL="0" indent="0" algn="ctr">
              <a:buNone/>
            </a:pPr>
            <a:r>
              <a:rPr lang="en-US" b="1" dirty="0">
                <a:latin typeface="Times New Roman" panose="02020603050405020304" pitchFamily="18" charset="0"/>
                <a:cs typeface="Times New Roman" panose="02020603050405020304" pitchFamily="18" charset="0"/>
              </a:rPr>
              <a:t>Vite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Vite is a fast and modern build tool for creating web applications. It increases the development process by providing faster build times and better performance.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Some of the benefits of using React with Vite are as follows:</a:t>
            </a:r>
          </a:p>
          <a:p>
            <a:pPr fontAlgn="base"/>
            <a:r>
              <a:rPr lang="en-US" dirty="0">
                <a:latin typeface="Times New Roman" panose="02020603050405020304" pitchFamily="18" charset="0"/>
                <a:cs typeface="Times New Roman" panose="02020603050405020304" pitchFamily="18" charset="0"/>
              </a:rPr>
              <a:t>Fast updates without page reloads.</a:t>
            </a:r>
          </a:p>
          <a:p>
            <a:pPr fontAlgn="base"/>
            <a:r>
              <a:rPr lang="en-US" dirty="0">
                <a:latin typeface="Times New Roman" panose="02020603050405020304" pitchFamily="18" charset="0"/>
                <a:cs typeface="Times New Roman" panose="02020603050405020304" pitchFamily="18" charset="0"/>
              </a:rPr>
              <a:t>Faster and smaller production builds.</a:t>
            </a:r>
          </a:p>
          <a:p>
            <a:pPr fontAlgn="base"/>
            <a:r>
              <a:rPr lang="en-US" dirty="0">
                <a:latin typeface="Times New Roman" panose="02020603050405020304" pitchFamily="18" charset="0"/>
                <a:cs typeface="Times New Roman" panose="02020603050405020304" pitchFamily="18" charset="0"/>
              </a:rPr>
              <a:t>Automatic JSX handling.</a:t>
            </a:r>
          </a:p>
          <a:p>
            <a:pPr fontAlgn="base"/>
            <a:r>
              <a:rPr lang="en-US" dirty="0">
                <a:latin typeface="Times New Roman" panose="02020603050405020304" pitchFamily="18" charset="0"/>
                <a:cs typeface="Times New Roman" panose="02020603050405020304" pitchFamily="18" charset="0"/>
              </a:rPr>
              <a:t>Faster Build</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u="sng" dirty="0">
                <a:latin typeface="Times New Roman" panose="02020603050405020304" pitchFamily="18" charset="0"/>
                <a:cs typeface="Times New Roman" panose="02020603050405020304" pitchFamily="18" charset="0"/>
              </a:rPr>
              <a:t>Steps to set up ReactJS with Vite</a:t>
            </a:r>
          </a:p>
          <a:p>
            <a:pPr marL="0" indent="0" fontAlgn="base">
              <a:buNone/>
            </a:pPr>
            <a:r>
              <a:rPr lang="en-US" b="1" dirty="0">
                <a:latin typeface="Times New Roman" panose="02020603050405020304" pitchFamily="18" charset="0"/>
                <a:cs typeface="Times New Roman" panose="02020603050405020304" pitchFamily="18" charset="0"/>
              </a:rPr>
              <a:t>Step 1: Install Node.js</a:t>
            </a:r>
          </a:p>
          <a:p>
            <a:pPr marL="0" indent="0" fontAlgn="base">
              <a:buNone/>
            </a:pPr>
            <a:r>
              <a:rPr lang="en-US" dirty="0">
                <a:latin typeface="Times New Roman" panose="02020603050405020304" pitchFamily="18" charset="0"/>
                <a:cs typeface="Times New Roman" panose="02020603050405020304" pitchFamily="18" charset="0"/>
              </a:rPr>
              <a:t>To install Node.js and </a:t>
            </a: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visit the Node.js official website and download the latest stable version.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789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33FD7C-4DB8-453E-5DD6-C6B47FBE41E0}"/>
              </a:ext>
            </a:extLst>
          </p:cNvPr>
          <p:cNvSpPr>
            <a:spLocks noGrp="1"/>
          </p:cNvSpPr>
          <p:nvPr>
            <p:ph idx="1"/>
          </p:nvPr>
        </p:nvSpPr>
        <p:spPr>
          <a:xfrm>
            <a:off x="0" y="10472"/>
            <a:ext cx="12192000" cy="6847527"/>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Step 2: Create a New Project with Vite</a:t>
            </a:r>
          </a:p>
          <a:p>
            <a:pPr marL="0" indent="0" fontAlgn="base">
              <a:buNone/>
            </a:pPr>
            <a:r>
              <a:rPr lang="en-US" dirty="0">
                <a:latin typeface="Times New Roman" panose="02020603050405020304" pitchFamily="18" charset="0"/>
                <a:cs typeface="Times New Roman" panose="02020603050405020304" pitchFamily="18" charset="0"/>
              </a:rPr>
              <a:t>Vite provides a simple way to create new projects. You can use the following command to create a new React project with Vite.</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create </a:t>
            </a:r>
            <a:r>
              <a:rPr lang="en-US" dirty="0" err="1">
                <a:latin typeface="Times New Roman" panose="02020603050405020304" pitchFamily="18" charset="0"/>
                <a:cs typeface="Times New Roman" panose="02020603050405020304" pitchFamily="18" charset="0"/>
              </a:rPr>
              <a:t>vite@latest</a:t>
            </a:r>
            <a:r>
              <a:rPr lang="en-US" dirty="0">
                <a:latin typeface="Times New Roman" panose="02020603050405020304" pitchFamily="18" charset="0"/>
                <a:cs typeface="Times New Roman" panose="02020603050405020304" pitchFamily="18" charset="0"/>
              </a:rPr>
              <a:t> my-react-app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cd my-react-app</a:t>
            </a:r>
          </a:p>
          <a:p>
            <a:pPr marL="0" indent="0" fontAlgn="base">
              <a:buNone/>
            </a:pPr>
            <a:r>
              <a:rPr lang="en-US" b="1" dirty="0">
                <a:latin typeface="Times New Roman" panose="02020603050405020304" pitchFamily="18" charset="0"/>
                <a:cs typeface="Times New Roman" panose="02020603050405020304" pitchFamily="18" charset="0"/>
              </a:rPr>
              <a:t>Step 3: Select a Framework</a:t>
            </a:r>
          </a:p>
          <a:p>
            <a:pPr marL="0" indent="0" fontAlgn="base">
              <a:buNone/>
            </a:pPr>
            <a:r>
              <a:rPr lang="en-US" dirty="0">
                <a:latin typeface="Times New Roman" panose="02020603050405020304" pitchFamily="18" charset="0"/>
                <a:cs typeface="Times New Roman" panose="02020603050405020304" pitchFamily="18" charset="0"/>
              </a:rPr>
              <a:t>Select the React framework.</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E9D5622-FBC7-7ACE-644F-34CD99CF06BA}"/>
              </a:ext>
            </a:extLst>
          </p:cNvPr>
          <p:cNvPicPr>
            <a:picLocks noChangeAspect="1"/>
          </p:cNvPicPr>
          <p:nvPr/>
        </p:nvPicPr>
        <p:blipFill>
          <a:blip r:embed="rId2"/>
          <a:stretch>
            <a:fillRect/>
          </a:stretch>
        </p:blipFill>
        <p:spPr>
          <a:xfrm>
            <a:off x="2614612" y="3429000"/>
            <a:ext cx="6962775" cy="3429000"/>
          </a:xfrm>
          <a:prstGeom prst="rect">
            <a:avLst/>
          </a:prstGeom>
        </p:spPr>
      </p:pic>
    </p:spTree>
    <p:extLst>
      <p:ext uri="{BB962C8B-B14F-4D97-AF65-F5344CB8AC3E}">
        <p14:creationId xmlns:p14="http://schemas.microsoft.com/office/powerpoint/2010/main" val="1571798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A73885-BF5C-72AB-F3E5-6ADEF3B1B6DB}"/>
              </a:ext>
            </a:extLst>
          </p:cNvPr>
          <p:cNvSpPr>
            <a:spLocks noGrp="1"/>
          </p:cNvSpPr>
          <p:nvPr>
            <p:ph idx="1"/>
          </p:nvPr>
        </p:nvSpPr>
        <p:spPr>
          <a:xfrm>
            <a:off x="0" y="0"/>
            <a:ext cx="12192000" cy="6858000"/>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Step 4: Select Variant</a:t>
            </a:r>
          </a:p>
          <a:p>
            <a:pPr marL="0" indent="0" fontAlgn="base">
              <a:buNone/>
            </a:pPr>
            <a:r>
              <a:rPr lang="en-US" sz="2400" dirty="0">
                <a:latin typeface="Times New Roman" panose="02020603050405020304" pitchFamily="18" charset="0"/>
                <a:cs typeface="Times New Roman" panose="02020603050405020304" pitchFamily="18" charset="0"/>
              </a:rPr>
              <a:t>Choose any variant according to your project requirements.</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Step 5: Install Dependencies</a:t>
            </a:r>
          </a:p>
          <a:p>
            <a:pPr marL="0" indent="0" fontAlgn="base">
              <a:buNone/>
            </a:pPr>
            <a:r>
              <a:rPr lang="en-US" sz="2400" dirty="0">
                <a:latin typeface="Times New Roman" panose="02020603050405020304" pitchFamily="18" charset="0"/>
                <a:cs typeface="Times New Roman" panose="02020603050405020304" pitchFamily="18" charset="0"/>
              </a:rPr>
              <a:t>After initializing the project, you need to install the necessary dependencies. This command will install all the required dependencies listed in the package.json file.</a:t>
            </a:r>
          </a:p>
          <a:p>
            <a:pPr marL="0" indent="0" fontAlgn="base">
              <a:buNone/>
            </a:pP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install</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B8A87C9-D1AB-6241-E56A-0598FE220FEA}"/>
              </a:ext>
            </a:extLst>
          </p:cNvPr>
          <p:cNvPicPr>
            <a:picLocks noChangeAspect="1"/>
          </p:cNvPicPr>
          <p:nvPr/>
        </p:nvPicPr>
        <p:blipFill>
          <a:blip r:embed="rId2"/>
          <a:stretch>
            <a:fillRect/>
          </a:stretch>
        </p:blipFill>
        <p:spPr>
          <a:xfrm>
            <a:off x="2334266" y="976526"/>
            <a:ext cx="5966916" cy="2588952"/>
          </a:xfrm>
          <a:prstGeom prst="rect">
            <a:avLst/>
          </a:prstGeom>
        </p:spPr>
      </p:pic>
      <p:pic>
        <p:nvPicPr>
          <p:cNvPr id="7" name="Picture 6">
            <a:extLst>
              <a:ext uri="{FF2B5EF4-FFF2-40B4-BE49-F238E27FC236}">
                <a16:creationId xmlns:a16="http://schemas.microsoft.com/office/drawing/2014/main" id="{CD28A519-598C-ADC9-345E-A185F2A1D308}"/>
              </a:ext>
            </a:extLst>
          </p:cNvPr>
          <p:cNvPicPr>
            <a:picLocks noChangeAspect="1"/>
          </p:cNvPicPr>
          <p:nvPr/>
        </p:nvPicPr>
        <p:blipFill>
          <a:blip r:embed="rId3"/>
          <a:stretch>
            <a:fillRect/>
          </a:stretch>
        </p:blipFill>
        <p:spPr>
          <a:xfrm>
            <a:off x="2334265" y="4872251"/>
            <a:ext cx="5966916" cy="1985749"/>
          </a:xfrm>
          <a:prstGeom prst="rect">
            <a:avLst/>
          </a:prstGeom>
        </p:spPr>
      </p:pic>
    </p:spTree>
    <p:extLst>
      <p:ext uri="{BB962C8B-B14F-4D97-AF65-F5344CB8AC3E}">
        <p14:creationId xmlns:p14="http://schemas.microsoft.com/office/powerpoint/2010/main" val="1872308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395760-F0B7-BE18-C2CC-537FF3CB6117}"/>
              </a:ext>
            </a:extLst>
          </p:cNvPr>
          <p:cNvSpPr>
            <a:spLocks noGrp="1"/>
          </p:cNvSpPr>
          <p:nvPr>
            <p:ph idx="1"/>
          </p:nvPr>
        </p:nvSpPr>
        <p:spPr>
          <a:xfrm>
            <a:off x="0" y="0"/>
            <a:ext cx="12192000" cy="6858000"/>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Step 6: Start the Server</a:t>
            </a:r>
          </a:p>
          <a:p>
            <a:pPr marL="0" indent="0" fontAlgn="base">
              <a:buNone/>
            </a:pPr>
            <a:r>
              <a:rPr lang="en-US" dirty="0">
                <a:latin typeface="Times New Roman" panose="02020603050405020304" pitchFamily="18" charset="0"/>
                <a:cs typeface="Times New Roman" panose="02020603050405020304" pitchFamily="18" charset="0"/>
              </a:rPr>
              <a:t>To start the server, run the following command:</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run dev</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26A1069-4AA7-CDA3-99E7-A63928C40F34}"/>
              </a:ext>
            </a:extLst>
          </p:cNvPr>
          <p:cNvPicPr>
            <a:picLocks noChangeAspect="1"/>
          </p:cNvPicPr>
          <p:nvPr/>
        </p:nvPicPr>
        <p:blipFill>
          <a:blip r:embed="rId2"/>
          <a:srcRect b="41923"/>
          <a:stretch>
            <a:fillRect/>
          </a:stretch>
        </p:blipFill>
        <p:spPr>
          <a:xfrm>
            <a:off x="2588383" y="2064224"/>
            <a:ext cx="6305550" cy="2729552"/>
          </a:xfrm>
          <a:prstGeom prst="rect">
            <a:avLst/>
          </a:prstGeom>
        </p:spPr>
      </p:pic>
    </p:spTree>
    <p:extLst>
      <p:ext uri="{BB962C8B-B14F-4D97-AF65-F5344CB8AC3E}">
        <p14:creationId xmlns:p14="http://schemas.microsoft.com/office/powerpoint/2010/main" val="3622575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Running the React app:</a:t>
            </a:r>
          </a:p>
          <a:p>
            <a:pPr marL="0" indent="0">
              <a:buNone/>
            </a:pPr>
            <a:r>
              <a:rPr lang="en-US" dirty="0">
                <a:latin typeface="Times New Roman" panose="02020603050405020304" pitchFamily="18" charset="0"/>
                <a:cs typeface="Times New Roman" panose="02020603050405020304" pitchFamily="18" charset="0"/>
              </a:rPr>
              <a:t>If you already have a React folder, follow the steps below:</a:t>
            </a:r>
          </a:p>
          <a:p>
            <a:pPr marL="0" indent="0">
              <a:buNone/>
            </a:pPr>
            <a:r>
              <a:rPr lang="en-US" sz="3200" b="1" dirty="0">
                <a:latin typeface="Times New Roman" panose="02020603050405020304" pitchFamily="18" charset="0"/>
                <a:cs typeface="Times New Roman" panose="02020603050405020304" pitchFamily="18" charset="0"/>
              </a:rPr>
              <a:t>1. </a:t>
            </a:r>
            <a:r>
              <a:rPr lang="en-US" sz="3200" dirty="0">
                <a:latin typeface="Times New Roman" panose="02020603050405020304" pitchFamily="18" charset="0"/>
                <a:cs typeface="Times New Roman" panose="02020603050405020304" pitchFamily="18" charset="0"/>
              </a:rPr>
              <a:t>Open your terminal</a:t>
            </a:r>
            <a:r>
              <a:rPr lang="en-US" dirty="0">
                <a:latin typeface="Times New Roman" panose="02020603050405020304" pitchFamily="18" charset="0"/>
                <a:cs typeface="Times New Roman" panose="02020603050405020304" pitchFamily="18" charset="0"/>
              </a:rPr>
              <a:t> or command prompt</a:t>
            </a:r>
          </a:p>
          <a:p>
            <a:pPr marL="0" indent="0">
              <a:buNone/>
            </a:pPr>
            <a:r>
              <a:rPr lang="en-US" sz="3200" b="1" dirty="0">
                <a:latin typeface="Times New Roman" panose="02020603050405020304" pitchFamily="18" charset="0"/>
                <a:cs typeface="Times New Roman" panose="02020603050405020304" pitchFamily="18" charset="0"/>
              </a:rPr>
              <a:t>2. </a:t>
            </a:r>
            <a:r>
              <a:rPr lang="en-US" sz="3200" dirty="0">
                <a:latin typeface="Times New Roman" panose="02020603050405020304" pitchFamily="18" charset="0"/>
                <a:cs typeface="Times New Roman" panose="02020603050405020304" pitchFamily="18" charset="0"/>
              </a:rPr>
              <a:t>Navigate</a:t>
            </a:r>
            <a:r>
              <a:rPr lang="en-US" dirty="0">
                <a:latin typeface="Times New Roman" panose="02020603050405020304" pitchFamily="18" charset="0"/>
                <a:cs typeface="Times New Roman" panose="02020603050405020304" pitchFamily="18" charset="0"/>
              </a:rPr>
              <a:t> into the project's root folder using the </a:t>
            </a:r>
            <a:r>
              <a:rPr lang="en-US" sz="3200" dirty="0">
                <a:latin typeface="Times New Roman" panose="02020603050405020304" pitchFamily="18" charset="0"/>
                <a:cs typeface="Times New Roman" panose="02020603050405020304" pitchFamily="18" charset="0"/>
              </a:rPr>
              <a:t>cd</a:t>
            </a:r>
            <a:r>
              <a:rPr lang="en-US" dirty="0">
                <a:latin typeface="Times New Roman" panose="02020603050405020304" pitchFamily="18" charset="0"/>
                <a:cs typeface="Times New Roman" panose="02020603050405020304" pitchFamily="18" charset="0"/>
              </a:rPr>
              <a:t> command</a:t>
            </a:r>
          </a:p>
          <a:p>
            <a:pPr marL="0" indent="0">
              <a:buNone/>
            </a:pPr>
            <a:r>
              <a:rPr lang="en-US" dirty="0">
                <a:latin typeface="Times New Roman" panose="02020603050405020304" pitchFamily="18" charset="0"/>
                <a:cs typeface="Times New Roman" panose="02020603050405020304" pitchFamily="18" charset="0"/>
              </a:rPr>
              <a:t>cd name-of-your-project-folder</a:t>
            </a:r>
          </a:p>
          <a:p>
            <a:pPr marL="0" indent="0">
              <a:buNone/>
            </a:pPr>
            <a:r>
              <a:rPr lang="en-US" dirty="0">
                <a:latin typeface="Times New Roman" panose="02020603050405020304" pitchFamily="18" charset="0"/>
                <a:cs typeface="Times New Roman" panose="02020603050405020304" pitchFamily="18" charset="0"/>
              </a:rPr>
              <a:t>3. Install dependencies</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install</a:t>
            </a:r>
          </a:p>
          <a:p>
            <a:pPr marL="0" indent="0">
              <a:buNone/>
            </a:pPr>
            <a:r>
              <a:rPr lang="en-US" sz="3200" b="1" dirty="0">
                <a:latin typeface="Times New Roman" panose="02020603050405020304" pitchFamily="18" charset="0"/>
                <a:cs typeface="Times New Roman" panose="02020603050405020304" pitchFamily="18" charset="0"/>
              </a:rPr>
              <a:t>4. </a:t>
            </a:r>
            <a:r>
              <a:rPr lang="en-US" sz="3200" dirty="0">
                <a:latin typeface="Times New Roman" panose="02020603050405020304" pitchFamily="18" charset="0"/>
                <a:cs typeface="Times New Roman" panose="02020603050405020304" pitchFamily="18" charset="0"/>
              </a:rPr>
              <a:t>Start the local server</a:t>
            </a:r>
            <a:r>
              <a:rPr lang="en-US" dirty="0">
                <a:latin typeface="Times New Roman" panose="02020603050405020304" pitchFamily="18" charset="0"/>
                <a:cs typeface="Times New Roman" panose="02020603050405020304" pitchFamily="18" charset="0"/>
              </a:rPr>
              <a:t> by running the appropriate command for your build system</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start</a:t>
            </a:r>
          </a:p>
          <a:p>
            <a:pPr marL="0" indent="0">
              <a:buNone/>
            </a:pPr>
            <a:r>
              <a:rPr lang="en-US" sz="3200" b="1" dirty="0">
                <a:latin typeface="Times New Roman" panose="02020603050405020304" pitchFamily="18" charset="0"/>
                <a:cs typeface="Times New Roman" panose="02020603050405020304" pitchFamily="18" charset="0"/>
              </a:rPr>
              <a:t>5. </a:t>
            </a:r>
            <a:r>
              <a:rPr lang="en-US" sz="3200" dirty="0">
                <a:latin typeface="Times New Roman" panose="02020603050405020304" pitchFamily="18" charset="0"/>
                <a:cs typeface="Times New Roman" panose="02020603050405020304" pitchFamily="18" charset="0"/>
              </a:rPr>
              <a:t>Open your browser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749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388FF4-DBE2-6E29-2BBC-2A59D5D90D42}"/>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Difference between Vite and create-react-app:</a:t>
            </a:r>
          </a:p>
          <a:p>
            <a:pPr marL="0" indent="0">
              <a:buNone/>
            </a:pPr>
            <a:endParaRPr lang="en-US"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6B387D2-D943-4F16-9468-9B45FEA4CDD7}"/>
              </a:ext>
            </a:extLst>
          </p:cNvPr>
          <p:cNvGraphicFramePr>
            <a:graphicFrameLocks noGrp="1"/>
          </p:cNvGraphicFramePr>
          <p:nvPr>
            <p:extLst>
              <p:ext uri="{D42A27DB-BD31-4B8C-83A1-F6EECF244321}">
                <p14:modId xmlns:p14="http://schemas.microsoft.com/office/powerpoint/2010/main" val="1308721228"/>
              </p:ext>
            </p:extLst>
          </p:nvPr>
        </p:nvGraphicFramePr>
        <p:xfrm>
          <a:off x="1201003" y="853250"/>
          <a:ext cx="10085696" cy="6004753"/>
        </p:xfrm>
        <a:graphic>
          <a:graphicData uri="http://schemas.openxmlformats.org/drawingml/2006/table">
            <a:tbl>
              <a:tblPr firstRow="1" bandRow="1">
                <a:tableStyleId>{5940675A-B579-460E-94D1-54222C63F5DA}</a:tableStyleId>
              </a:tblPr>
              <a:tblGrid>
                <a:gridCol w="5042848">
                  <a:extLst>
                    <a:ext uri="{9D8B030D-6E8A-4147-A177-3AD203B41FA5}">
                      <a16:colId xmlns:a16="http://schemas.microsoft.com/office/drawing/2014/main" val="1772952160"/>
                    </a:ext>
                  </a:extLst>
                </a:gridCol>
                <a:gridCol w="5042848">
                  <a:extLst>
                    <a:ext uri="{9D8B030D-6E8A-4147-A177-3AD203B41FA5}">
                      <a16:colId xmlns:a16="http://schemas.microsoft.com/office/drawing/2014/main" val="1919591354"/>
                    </a:ext>
                  </a:extLst>
                </a:gridCol>
              </a:tblGrid>
              <a:tr h="492193">
                <a:tc>
                  <a:txBody>
                    <a:bodyPr/>
                    <a:lstStyle/>
                    <a:p>
                      <a:pPr algn="ctr"/>
                      <a:r>
                        <a:rPr lang="en-US" sz="2400" b="1" dirty="0">
                          <a:latin typeface="Times New Roman" panose="02020603050405020304" pitchFamily="18" charset="0"/>
                          <a:cs typeface="Times New Roman" panose="02020603050405020304" pitchFamily="18" charset="0"/>
                        </a:rPr>
                        <a:t>Vite </a:t>
                      </a:r>
                    </a:p>
                  </a:txBody>
                  <a:tcPr/>
                </a:tc>
                <a:tc>
                  <a:txBody>
                    <a:bodyPr/>
                    <a:lstStyle/>
                    <a:p>
                      <a:pPr algn="ctr"/>
                      <a:r>
                        <a:rPr lang="en-US" sz="2400" b="1" dirty="0">
                          <a:latin typeface="Times New Roman" panose="02020603050405020304" pitchFamily="18" charset="0"/>
                          <a:cs typeface="Times New Roman" panose="02020603050405020304" pitchFamily="18" charset="0"/>
                        </a:rPr>
                        <a:t>Create-react-app</a:t>
                      </a:r>
                    </a:p>
                  </a:txBody>
                  <a:tcPr/>
                </a:tc>
                <a:extLst>
                  <a:ext uri="{0D108BD9-81ED-4DB2-BD59-A6C34878D82A}">
                    <a16:rowId xmlns:a16="http://schemas.microsoft.com/office/drawing/2014/main" val="3535432338"/>
                  </a:ext>
                </a:extLst>
              </a:tr>
              <a:tr h="885947">
                <a:tc>
                  <a:txBody>
                    <a:bodyPr/>
                    <a:lstStyle/>
                    <a:p>
                      <a:r>
                        <a:rPr lang="en-US" sz="2400" dirty="0">
                          <a:latin typeface="Times New Roman" panose="02020603050405020304" pitchFamily="18" charset="0"/>
                          <a:cs typeface="Times New Roman" panose="02020603050405020304" pitchFamily="18" charset="0"/>
                        </a:rPr>
                        <a:t>The release year of Vite is 2020</a:t>
                      </a:r>
                    </a:p>
                  </a:txBody>
                  <a:tcPr/>
                </a:tc>
                <a:tc>
                  <a:txBody>
                    <a:bodyPr/>
                    <a:lstStyle/>
                    <a:p>
                      <a:r>
                        <a:rPr lang="en-US" sz="2400" dirty="0">
                          <a:latin typeface="Times New Roman" panose="02020603050405020304" pitchFamily="18" charset="0"/>
                          <a:cs typeface="Times New Roman" panose="02020603050405020304" pitchFamily="18" charset="0"/>
                        </a:rPr>
                        <a:t>The release year of create-react-app is 2016</a:t>
                      </a:r>
                    </a:p>
                  </a:txBody>
                  <a:tcPr/>
                </a:tc>
                <a:extLst>
                  <a:ext uri="{0D108BD9-81ED-4DB2-BD59-A6C34878D82A}">
                    <a16:rowId xmlns:a16="http://schemas.microsoft.com/office/drawing/2014/main" val="2253886496"/>
                  </a:ext>
                </a:extLst>
              </a:tr>
              <a:tr h="885947">
                <a:tc>
                  <a:txBody>
                    <a:bodyPr/>
                    <a:lstStyle/>
                    <a:p>
                      <a:r>
                        <a:rPr lang="en-US" sz="2400" dirty="0">
                          <a:latin typeface="Times New Roman" panose="02020603050405020304" pitchFamily="18" charset="0"/>
                          <a:cs typeface="Times New Roman" panose="02020603050405020304" pitchFamily="18" charset="0"/>
                        </a:rPr>
                        <a:t>The development server of Vite is very faster</a:t>
                      </a:r>
                    </a:p>
                  </a:txBody>
                  <a:tcPr/>
                </a:tc>
                <a:tc>
                  <a:txBody>
                    <a:bodyPr/>
                    <a:lstStyle/>
                    <a:p>
                      <a:r>
                        <a:rPr lang="en-US" sz="2400" dirty="0">
                          <a:latin typeface="Times New Roman" panose="02020603050405020304" pitchFamily="18" charset="0"/>
                          <a:cs typeface="Times New Roman" panose="02020603050405020304" pitchFamily="18" charset="0"/>
                        </a:rPr>
                        <a:t>The development server of create-react-app is slower</a:t>
                      </a:r>
                    </a:p>
                  </a:txBody>
                  <a:tcPr/>
                </a:tc>
                <a:extLst>
                  <a:ext uri="{0D108BD9-81ED-4DB2-BD59-A6C34878D82A}">
                    <a16:rowId xmlns:a16="http://schemas.microsoft.com/office/drawing/2014/main" val="2979494418"/>
                  </a:ext>
                </a:extLst>
              </a:tr>
              <a:tr h="885947">
                <a:tc>
                  <a:txBody>
                    <a:bodyPr/>
                    <a:lstStyle/>
                    <a:p>
                      <a:r>
                        <a:rPr lang="en-US" sz="2400" dirty="0">
                          <a:latin typeface="Times New Roman" panose="02020603050405020304" pitchFamily="18" charset="0"/>
                          <a:cs typeface="Times New Roman" panose="02020603050405020304" pitchFamily="18" charset="0"/>
                        </a:rPr>
                        <a:t>It uses ES Modules and Rollup as building tool</a:t>
                      </a:r>
                    </a:p>
                  </a:txBody>
                  <a:tcPr/>
                </a:tc>
                <a:tc>
                  <a:txBody>
                    <a:bodyPr/>
                    <a:lstStyle/>
                    <a:p>
                      <a:r>
                        <a:rPr lang="en-US" sz="2400" dirty="0">
                          <a:latin typeface="Times New Roman" panose="02020603050405020304" pitchFamily="18" charset="0"/>
                          <a:cs typeface="Times New Roman" panose="02020603050405020304" pitchFamily="18" charset="0"/>
                        </a:rPr>
                        <a:t>It uses Webpack as building tool</a:t>
                      </a:r>
                    </a:p>
                  </a:txBody>
                  <a:tcPr/>
                </a:tc>
                <a:extLst>
                  <a:ext uri="{0D108BD9-81ED-4DB2-BD59-A6C34878D82A}">
                    <a16:rowId xmlns:a16="http://schemas.microsoft.com/office/drawing/2014/main" val="2884906278"/>
                  </a:ext>
                </a:extLst>
              </a:tr>
              <a:tr h="885947">
                <a:tc>
                  <a:txBody>
                    <a:bodyPr/>
                    <a:lstStyle/>
                    <a:p>
                      <a:r>
                        <a:rPr lang="en-US" sz="2400" dirty="0">
                          <a:latin typeface="Times New Roman" panose="02020603050405020304" pitchFamily="18" charset="0"/>
                          <a:cs typeface="Times New Roman" panose="02020603050405020304" pitchFamily="18" charset="0"/>
                        </a:rPr>
                        <a:t>The command is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create </a:t>
                      </a:r>
                      <a:r>
                        <a:rPr lang="en-US" sz="2400" dirty="0" err="1">
                          <a:latin typeface="Times New Roman" panose="02020603050405020304" pitchFamily="18" charset="0"/>
                          <a:cs typeface="Times New Roman" panose="02020603050405020304" pitchFamily="18" charset="0"/>
                        </a:rPr>
                        <a:t>vite@latest</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The command is </a:t>
                      </a: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create-react-app my-app</a:t>
                      </a:r>
                    </a:p>
                  </a:txBody>
                  <a:tcPr/>
                </a:tc>
                <a:extLst>
                  <a:ext uri="{0D108BD9-81ED-4DB2-BD59-A6C34878D82A}">
                    <a16:rowId xmlns:a16="http://schemas.microsoft.com/office/drawing/2014/main" val="111025550"/>
                  </a:ext>
                </a:extLst>
              </a:tr>
              <a:tr h="492193">
                <a:tc>
                  <a:txBody>
                    <a:bodyPr/>
                    <a:lstStyle/>
                    <a:p>
                      <a:r>
                        <a:rPr lang="en-US" sz="2400" dirty="0">
                          <a:latin typeface="Times New Roman" panose="02020603050405020304" pitchFamily="18" charset="0"/>
                          <a:cs typeface="Times New Roman" panose="02020603050405020304" pitchFamily="18" charset="0"/>
                        </a:rPr>
                        <a:t>It starts almost instantly</a:t>
                      </a:r>
                    </a:p>
                  </a:txBody>
                  <a:tcPr/>
                </a:tc>
                <a:tc>
                  <a:txBody>
                    <a:bodyPr/>
                    <a:lstStyle/>
                    <a:p>
                      <a:r>
                        <a:rPr lang="en-US" sz="2400" dirty="0">
                          <a:latin typeface="Times New Roman" panose="02020603050405020304" pitchFamily="18" charset="0"/>
                          <a:cs typeface="Times New Roman" panose="02020603050405020304" pitchFamily="18" charset="0"/>
                        </a:rPr>
                        <a:t>It takes more time to start</a:t>
                      </a:r>
                    </a:p>
                  </a:txBody>
                  <a:tcPr/>
                </a:tc>
                <a:extLst>
                  <a:ext uri="{0D108BD9-81ED-4DB2-BD59-A6C34878D82A}">
                    <a16:rowId xmlns:a16="http://schemas.microsoft.com/office/drawing/2014/main" val="240508535"/>
                  </a:ext>
                </a:extLst>
              </a:tr>
              <a:tr h="4921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The speed is faster</a:t>
                      </a:r>
                    </a:p>
                  </a:txBody>
                  <a:tcPr/>
                </a:tc>
                <a:tc>
                  <a:txBody>
                    <a:bodyPr/>
                    <a:lstStyle/>
                    <a:p>
                      <a:r>
                        <a:rPr lang="en-US" sz="2400" dirty="0">
                          <a:latin typeface="Times New Roman" panose="02020603050405020304" pitchFamily="18" charset="0"/>
                          <a:cs typeface="Times New Roman" panose="02020603050405020304" pitchFamily="18" charset="0"/>
                        </a:rPr>
                        <a:t>The speed is slower</a:t>
                      </a:r>
                    </a:p>
                  </a:txBody>
                  <a:tcPr/>
                </a:tc>
                <a:extLst>
                  <a:ext uri="{0D108BD9-81ED-4DB2-BD59-A6C34878D82A}">
                    <a16:rowId xmlns:a16="http://schemas.microsoft.com/office/drawing/2014/main" val="3531914862"/>
                  </a:ext>
                </a:extLst>
              </a:tr>
              <a:tr h="492193">
                <a:tc>
                  <a:txBody>
                    <a:bodyPr/>
                    <a:lstStyle/>
                    <a:p>
                      <a:r>
                        <a:rPr lang="en-US" sz="2400" dirty="0">
                          <a:latin typeface="Times New Roman" panose="02020603050405020304" pitchFamily="18" charset="0"/>
                          <a:cs typeface="Times New Roman" panose="02020603050405020304" pitchFamily="18" charset="0"/>
                        </a:rPr>
                        <a:t>Built-in Tool</a:t>
                      </a:r>
                    </a:p>
                  </a:txBody>
                  <a:tcPr/>
                </a:tc>
                <a:tc>
                  <a:txBody>
                    <a:bodyPr/>
                    <a:lstStyle/>
                    <a:p>
                      <a:r>
                        <a:rPr lang="en-US" sz="2400" dirty="0">
                          <a:latin typeface="Times New Roman" panose="02020603050405020304" pitchFamily="18" charset="0"/>
                          <a:cs typeface="Times New Roman" panose="02020603050405020304" pitchFamily="18" charset="0"/>
                        </a:rPr>
                        <a:t>Requires additional setup</a:t>
                      </a:r>
                    </a:p>
                  </a:txBody>
                  <a:tcPr/>
                </a:tc>
                <a:extLst>
                  <a:ext uri="{0D108BD9-81ED-4DB2-BD59-A6C34878D82A}">
                    <a16:rowId xmlns:a16="http://schemas.microsoft.com/office/drawing/2014/main" val="787104462"/>
                  </a:ext>
                </a:extLst>
              </a:tr>
              <a:tr h="492193">
                <a:tc>
                  <a:txBody>
                    <a:bodyPr/>
                    <a:lstStyle/>
                    <a:p>
                      <a:r>
                        <a:rPr lang="en-US" sz="2400" dirty="0">
                          <a:latin typeface="Times New Roman" panose="02020603050405020304" pitchFamily="18" charset="0"/>
                          <a:cs typeface="Times New Roman" panose="02020603050405020304" pitchFamily="18" charset="0"/>
                        </a:rPr>
                        <a:t>Modern React projects</a:t>
                      </a:r>
                    </a:p>
                  </a:txBody>
                  <a:tcPr/>
                </a:tc>
                <a:tc>
                  <a:txBody>
                    <a:bodyPr/>
                    <a:lstStyle/>
                    <a:p>
                      <a:r>
                        <a:rPr lang="en-US" sz="2400" dirty="0">
                          <a:latin typeface="Times New Roman" panose="02020603050405020304" pitchFamily="18" charset="0"/>
                          <a:cs typeface="Times New Roman" panose="02020603050405020304" pitchFamily="18" charset="0"/>
                        </a:rPr>
                        <a:t>Older or legacy React projects</a:t>
                      </a:r>
                    </a:p>
                  </a:txBody>
                  <a:tcPr/>
                </a:tc>
                <a:extLst>
                  <a:ext uri="{0D108BD9-81ED-4DB2-BD59-A6C34878D82A}">
                    <a16:rowId xmlns:a16="http://schemas.microsoft.com/office/drawing/2014/main" val="4092995871"/>
                  </a:ext>
                </a:extLst>
              </a:tr>
            </a:tbl>
          </a:graphicData>
        </a:graphic>
      </p:graphicFrame>
    </p:spTree>
    <p:extLst>
      <p:ext uri="{BB962C8B-B14F-4D97-AF65-F5344CB8AC3E}">
        <p14:creationId xmlns:p14="http://schemas.microsoft.com/office/powerpoint/2010/main" val="1870831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Debugging the first React app:</a:t>
            </a:r>
          </a:p>
          <a:p>
            <a:pPr marL="457200" indent="-457200">
              <a:buAutoNum type="arabicPeriod"/>
            </a:pPr>
            <a:r>
              <a:rPr lang="en-US" b="1" dirty="0">
                <a:latin typeface="Times New Roman" panose="02020603050405020304" pitchFamily="18" charset="0"/>
                <a:cs typeface="Times New Roman" panose="02020603050405020304" pitchFamily="18" charset="0"/>
              </a:rPr>
              <a:t>Use the Browser Console: </a:t>
            </a:r>
            <a:r>
              <a:rPr lang="en-US" dirty="0">
                <a:latin typeface="Times New Roman" panose="02020603050405020304" pitchFamily="18" charset="0"/>
                <a:cs typeface="Times New Roman" panose="02020603050405020304" pitchFamily="18" charset="0"/>
              </a:rPr>
              <a:t>Open Developer Tools in your browser (usually with F12 or Ctrl+Shift+I). Check the Console tab for any error messages or warnings. These messages often include file names and line numbers to help you locate the issue.</a:t>
            </a:r>
          </a:p>
          <a:p>
            <a:pPr marL="457200" indent="-457200">
              <a:buAutoNum type="arabicPeriod"/>
            </a:pPr>
            <a:r>
              <a:rPr lang="en-US" b="1" dirty="0">
                <a:latin typeface="Times New Roman" panose="02020603050405020304" pitchFamily="18" charset="0"/>
                <a:cs typeface="Times New Roman" panose="02020603050405020304" pitchFamily="18" charset="0"/>
              </a:rPr>
              <a:t>Enable Source Maps: </a:t>
            </a:r>
            <a:r>
              <a:rPr lang="en-US" dirty="0">
                <a:latin typeface="Times New Roman" panose="02020603050405020304" pitchFamily="18" charset="0"/>
                <a:cs typeface="Times New Roman" panose="02020603050405020304" pitchFamily="18" charset="0"/>
              </a:rPr>
              <a:t>React apps (especially those created with Create React App) include source maps by default, which help you trace errors to the source files.</a:t>
            </a:r>
          </a:p>
          <a:p>
            <a:pPr marL="457200" indent="-457200">
              <a:buAutoNum type="arabicPeriod"/>
            </a:pPr>
            <a:r>
              <a:rPr lang="en-US" b="1" dirty="0">
                <a:latin typeface="Times New Roman" panose="02020603050405020304" pitchFamily="18" charset="0"/>
                <a:cs typeface="Times New Roman" panose="02020603050405020304" pitchFamily="18" charset="0"/>
              </a:rPr>
              <a:t>Use console.log(): </a:t>
            </a:r>
            <a:r>
              <a:rPr lang="en-US" dirty="0">
                <a:latin typeface="Times New Roman" panose="02020603050405020304" pitchFamily="18" charset="0"/>
                <a:cs typeface="Times New Roman" panose="02020603050405020304" pitchFamily="18" charset="0"/>
              </a:rPr>
              <a:t>Add console.log() statements to print variable values or check if a function is being called:</a:t>
            </a:r>
          </a:p>
          <a:p>
            <a:pPr marL="0" indent="0">
              <a:buNone/>
            </a:pPr>
            <a:r>
              <a:rPr lang="en-US" b="1" dirty="0">
                <a:latin typeface="Times New Roman" panose="02020603050405020304" pitchFamily="18" charset="0"/>
                <a:cs typeface="Times New Roman" panose="02020603050405020304" pitchFamily="18" charset="0"/>
              </a:rPr>
              <a:t>console.log("Component loaded");</a:t>
            </a:r>
          </a:p>
          <a:p>
            <a:pPr marL="0" indent="0">
              <a:buNone/>
            </a:pPr>
            <a:r>
              <a:rPr lang="en-US" b="1" dirty="0">
                <a:latin typeface="Times New Roman" panose="02020603050405020304" pitchFamily="18" charset="0"/>
                <a:cs typeface="Times New Roman" panose="02020603050405020304" pitchFamily="18" charset="0"/>
              </a:rPr>
              <a:t>console.log("User data:", user);</a:t>
            </a:r>
          </a:p>
          <a:p>
            <a:pPr marL="0" indent="0">
              <a:buNone/>
            </a:pPr>
            <a:r>
              <a:rPr lang="en-US" b="1" dirty="0">
                <a:latin typeface="Times New Roman" panose="02020603050405020304" pitchFamily="18" charset="0"/>
                <a:cs typeface="Times New Roman" panose="02020603050405020304" pitchFamily="18" charset="0"/>
              </a:rPr>
              <a:t>4. React Developer Tools: </a:t>
            </a:r>
            <a:r>
              <a:rPr lang="en-US" dirty="0">
                <a:latin typeface="Times New Roman" panose="02020603050405020304" pitchFamily="18" charset="0"/>
                <a:cs typeface="Times New Roman" panose="02020603050405020304" pitchFamily="18" charset="0"/>
              </a:rPr>
              <a:t>Install the React Developer Tools browser extension for Chrome or Firefox.It allows you to inspect the component tree, check props and state, and debug performance issues.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6629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6C91BE-1CBA-3943-B61F-451035539D68}"/>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How to create package.json and purpose of it? </a:t>
            </a:r>
            <a:r>
              <a:rPr lang="en-US"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Method 1: Automatically (Preferred)</a:t>
            </a:r>
          </a:p>
          <a:p>
            <a:pPr marL="0" indent="0">
              <a:buNone/>
            </a:pPr>
            <a:r>
              <a:rPr lang="en-US" dirty="0">
                <a:latin typeface="Times New Roman" panose="02020603050405020304" pitchFamily="18" charset="0"/>
                <a:cs typeface="Times New Roman" panose="02020603050405020304" pitchFamily="18" charset="0"/>
              </a:rPr>
              <a:t>1. Open your terminal/command prompt.</a:t>
            </a:r>
          </a:p>
          <a:p>
            <a:pPr marL="0" indent="0">
              <a:buNone/>
            </a:pPr>
            <a:r>
              <a:rPr lang="en-US" dirty="0">
                <a:latin typeface="Times New Roman" panose="02020603050405020304" pitchFamily="18" charset="0"/>
                <a:cs typeface="Times New Roman" panose="02020603050405020304" pitchFamily="18" charset="0"/>
              </a:rPr>
              <a:t>2. Navigate to your project folder:</a:t>
            </a:r>
          </a:p>
          <a:p>
            <a:pPr marL="0" indent="0">
              <a:buNone/>
            </a:pPr>
            <a:r>
              <a:rPr lang="en-US" dirty="0">
                <a:latin typeface="Times New Roman" panose="02020603050405020304" pitchFamily="18" charset="0"/>
                <a:cs typeface="Times New Roman" panose="02020603050405020304" pitchFamily="18" charset="0"/>
              </a:rPr>
              <a:t>cd my-project</a:t>
            </a:r>
          </a:p>
          <a:p>
            <a:pPr marL="0" indent="0">
              <a:buNone/>
            </a:pPr>
            <a:r>
              <a:rPr lang="en-US" dirty="0">
                <a:latin typeface="Times New Roman" panose="02020603050405020304" pitchFamily="18" charset="0"/>
                <a:cs typeface="Times New Roman" panose="02020603050405020304" pitchFamily="18" charset="0"/>
              </a:rPr>
              <a:t>3. Run:</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init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4. To skip the questions and create with defaults:</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init</a:t>
            </a:r>
            <a:r>
              <a:rPr lang="en-US" dirty="0">
                <a:latin typeface="Times New Roman" panose="02020603050405020304" pitchFamily="18" charset="0"/>
                <a:cs typeface="Times New Roman" panose="02020603050405020304" pitchFamily="18" charset="0"/>
              </a:rPr>
              <a:t> -y</a:t>
            </a:r>
          </a:p>
          <a:p>
            <a:pPr marL="0" indent="0">
              <a:buNone/>
            </a:pPr>
            <a:r>
              <a:rPr lang="en-US" b="1" dirty="0">
                <a:latin typeface="Times New Roman" panose="02020603050405020304" pitchFamily="18" charset="0"/>
                <a:cs typeface="Times New Roman" panose="02020603050405020304" pitchFamily="18" charset="0"/>
              </a:rPr>
              <a:t>Method 2: Manually</a:t>
            </a:r>
          </a:p>
          <a:p>
            <a:pPr marL="0" indent="0">
              <a:buNone/>
            </a:pPr>
            <a:r>
              <a:rPr lang="en-US" dirty="0">
                <a:latin typeface="Times New Roman" panose="02020603050405020304" pitchFamily="18" charset="0"/>
                <a:cs typeface="Times New Roman" panose="02020603050405020304" pitchFamily="18" charset="0"/>
              </a:rPr>
              <a:t>1. Create a file called package.json</a:t>
            </a:r>
          </a:p>
          <a:p>
            <a:pPr marL="0" indent="0">
              <a:buNone/>
            </a:pPr>
            <a:r>
              <a:rPr lang="en-US" dirty="0">
                <a:latin typeface="Times New Roman" panose="02020603050405020304" pitchFamily="18" charset="0"/>
                <a:cs typeface="Times New Roman" panose="02020603050405020304" pitchFamily="18" charset="0"/>
              </a:rPr>
              <a:t>2. Add basic structure: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TextBox 4">
            <a:extLst>
              <a:ext uri="{FF2B5EF4-FFF2-40B4-BE49-F238E27FC236}">
                <a16:creationId xmlns:a16="http://schemas.microsoft.com/office/drawing/2014/main" id="{D1C5FBF9-C017-B91E-D519-2183D5138A10}"/>
              </a:ext>
            </a:extLst>
          </p:cNvPr>
          <p:cNvSpPr txBox="1"/>
          <p:nvPr/>
        </p:nvSpPr>
        <p:spPr>
          <a:xfrm>
            <a:off x="7375301" y="2087192"/>
            <a:ext cx="4816699" cy="406265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"name": "my-app",</a:t>
            </a:r>
          </a:p>
          <a:p>
            <a:r>
              <a:rPr lang="en-US" sz="2000" dirty="0">
                <a:latin typeface="Times New Roman" panose="02020603050405020304" pitchFamily="18" charset="0"/>
                <a:cs typeface="Times New Roman" panose="02020603050405020304" pitchFamily="18" charset="0"/>
              </a:rPr>
              <a:t>  "version": "1.0.0",</a:t>
            </a:r>
          </a:p>
          <a:p>
            <a:r>
              <a:rPr lang="en-US" sz="2000" dirty="0">
                <a:latin typeface="Times New Roman" panose="02020603050405020304" pitchFamily="18" charset="0"/>
                <a:cs typeface="Times New Roman" panose="02020603050405020304" pitchFamily="18" charset="0"/>
              </a:rPr>
              <a:t>  "description": "My first project",</a:t>
            </a:r>
          </a:p>
          <a:p>
            <a:r>
              <a:rPr lang="en-US" sz="2000" dirty="0">
                <a:latin typeface="Times New Roman" panose="02020603050405020304" pitchFamily="18" charset="0"/>
                <a:cs typeface="Times New Roman" panose="02020603050405020304" pitchFamily="18" charset="0"/>
              </a:rPr>
              <a:t>  "main": "index.js",</a:t>
            </a:r>
          </a:p>
          <a:p>
            <a:r>
              <a:rPr lang="en-US" sz="2000" dirty="0">
                <a:latin typeface="Times New Roman" panose="02020603050405020304" pitchFamily="18" charset="0"/>
                <a:cs typeface="Times New Roman" panose="02020603050405020304" pitchFamily="18" charset="0"/>
              </a:rPr>
              <a:t>  "scripts": {</a:t>
            </a:r>
          </a:p>
          <a:p>
            <a:r>
              <a:rPr lang="en-US" sz="2000" dirty="0">
                <a:latin typeface="Times New Roman" panose="02020603050405020304" pitchFamily="18" charset="0"/>
                <a:cs typeface="Times New Roman" panose="02020603050405020304" pitchFamily="18" charset="0"/>
              </a:rPr>
              <a:t>    "start": "node index.js"</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"dependencies": {},</a:t>
            </a:r>
          </a:p>
          <a:p>
            <a:r>
              <a:rPr lang="en-US" sz="2000" dirty="0">
                <a:latin typeface="Times New Roman" panose="02020603050405020304" pitchFamily="18" charset="0"/>
                <a:cs typeface="Times New Roman" panose="02020603050405020304" pitchFamily="18" charset="0"/>
              </a:rPr>
              <a:t>  "author": "Your Name",</a:t>
            </a:r>
          </a:p>
          <a:p>
            <a:r>
              <a:rPr lang="en-US" sz="2000" dirty="0">
                <a:latin typeface="Times New Roman" panose="02020603050405020304" pitchFamily="18" charset="0"/>
                <a:cs typeface="Times New Roman" panose="02020603050405020304" pitchFamily="18" charset="0"/>
              </a:rPr>
              <a:t>  "license": "ISC"</a:t>
            </a:r>
          </a:p>
          <a:p>
            <a:r>
              <a:rPr lang="en-US" sz="20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1831226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8C3CDD-A8B7-08C1-7B84-67E6122CC7F7}"/>
              </a:ext>
            </a:extLst>
          </p:cNvPr>
          <p:cNvSpPr>
            <a:spLocks noGrp="1"/>
          </p:cNvSpPr>
          <p:nvPr>
            <p:ph idx="1"/>
          </p:nvPr>
        </p:nvSpPr>
        <p:spPr>
          <a:xfrm>
            <a:off x="0" y="24120"/>
            <a:ext cx="12192000" cy="6833879"/>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Purpose of package.json:</a:t>
            </a:r>
          </a:p>
          <a:p>
            <a:pPr marL="0" indent="0">
              <a:buNone/>
            </a:pPr>
            <a:r>
              <a:rPr lang="en-US" b="1" dirty="0">
                <a:latin typeface="Times New Roman" panose="02020603050405020304" pitchFamily="18" charset="0"/>
                <a:cs typeface="Times New Roman" panose="02020603050405020304" pitchFamily="18" charset="0"/>
              </a:rPr>
              <a:t>1. Dependency Management:</a:t>
            </a:r>
          </a:p>
          <a:p>
            <a:pPr marL="0" indent="0">
              <a:buNone/>
            </a:pPr>
            <a:r>
              <a:rPr lang="en-US" dirty="0">
                <a:latin typeface="Times New Roman" panose="02020603050405020304" pitchFamily="18" charset="0"/>
                <a:cs typeface="Times New Roman" panose="02020603050405020304" pitchFamily="18" charset="0"/>
              </a:rPr>
              <a:t>It lists all the project's dependencies (external libraries and packages) and their versions. </a:t>
            </a: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and yarn use this information to install the correct versions when a project is set up or updated.</a:t>
            </a:r>
          </a:p>
          <a:p>
            <a:pPr marL="0" indent="0">
              <a:buNone/>
            </a:pPr>
            <a:r>
              <a:rPr lang="en-US" b="1" dirty="0">
                <a:latin typeface="Times New Roman" panose="02020603050405020304" pitchFamily="18" charset="0"/>
                <a:cs typeface="Times New Roman" panose="02020603050405020304" pitchFamily="18" charset="0"/>
              </a:rPr>
              <a:t>2. Project Metadata:</a:t>
            </a:r>
          </a:p>
          <a:p>
            <a:pPr marL="0" indent="0">
              <a:buNone/>
            </a:pPr>
            <a:r>
              <a:rPr lang="en-US" dirty="0">
                <a:latin typeface="Times New Roman" panose="02020603050405020304" pitchFamily="18" charset="0"/>
                <a:cs typeface="Times New Roman" panose="02020603050405020304" pitchFamily="18" charset="0"/>
              </a:rPr>
              <a:t>It stores information like the project's name, version, description, author, license, and repository location, providing essential details about the project.</a:t>
            </a:r>
          </a:p>
          <a:p>
            <a:pPr marL="0" indent="0">
              <a:buNone/>
            </a:pPr>
            <a:r>
              <a:rPr lang="en-US" b="1" dirty="0">
                <a:latin typeface="Times New Roman" panose="02020603050405020304" pitchFamily="18" charset="0"/>
                <a:cs typeface="Times New Roman" panose="02020603050405020304" pitchFamily="18" charset="0"/>
              </a:rPr>
              <a:t>3. Script Automation:</a:t>
            </a:r>
          </a:p>
          <a:p>
            <a:pPr marL="0" indent="0">
              <a:buNone/>
            </a:pPr>
            <a:r>
              <a:rPr lang="en-US" dirty="0">
                <a:latin typeface="Times New Roman" panose="02020603050405020304" pitchFamily="18" charset="0"/>
                <a:cs typeface="Times New Roman" panose="02020603050405020304" pitchFamily="18" charset="0"/>
              </a:rPr>
              <a:t>It allows you to define custom scripts for common tasks like testing, building, or deployment, enabling automation and standardization.</a:t>
            </a:r>
          </a:p>
          <a:p>
            <a:pPr marL="0" indent="0">
              <a:buNone/>
            </a:pPr>
            <a:r>
              <a:rPr lang="en-US" b="1" dirty="0">
                <a:latin typeface="Times New Roman" panose="02020603050405020304" pitchFamily="18" charset="0"/>
                <a:cs typeface="Times New Roman" panose="02020603050405020304" pitchFamily="18" charset="0"/>
              </a:rPr>
              <a:t>4. Version Control:</a:t>
            </a:r>
          </a:p>
          <a:p>
            <a:pPr marL="0" indent="0">
              <a:buNone/>
            </a:pPr>
            <a:r>
              <a:rPr lang="en-US" dirty="0">
                <a:latin typeface="Times New Roman" panose="02020603050405020304" pitchFamily="18" charset="0"/>
                <a:cs typeface="Times New Roman" panose="02020603050405020304" pitchFamily="18" charset="0"/>
              </a:rPr>
              <a:t>Specifying version ranges for dependencies, it helps maintain consistency across different environments and prevents issues caused by using different versions of packages.</a:t>
            </a:r>
          </a:p>
          <a:p>
            <a:pPr marL="0" indent="0">
              <a:buNone/>
            </a:pPr>
            <a:r>
              <a:rPr lang="en-US" b="1" dirty="0">
                <a:latin typeface="Times New Roman" panose="02020603050405020304" pitchFamily="18" charset="0"/>
                <a:cs typeface="Times New Roman" panose="02020603050405020304" pitchFamily="18" charset="0"/>
              </a:rPr>
              <a:t>5. Ecosystem Integration:</a:t>
            </a:r>
          </a:p>
          <a:p>
            <a:pPr marL="0" indent="0">
              <a:buNone/>
            </a:pPr>
            <a:r>
              <a:rPr lang="en-US" dirty="0">
                <a:latin typeface="Times New Roman" panose="02020603050405020304" pitchFamily="18" charset="0"/>
                <a:cs typeface="Times New Roman" panose="02020603050405020304" pitchFamily="18" charset="0"/>
              </a:rPr>
              <a:t>It's used by various tools and platforms (like CI/CD services, cloud platforms, etc.) to understand and interact with the project. </a:t>
            </a:r>
          </a:p>
          <a:p>
            <a:pPr marL="0" indent="0">
              <a:buNone/>
            </a:pPr>
            <a:endParaRPr lang="en-US" dirty="0"/>
          </a:p>
        </p:txBody>
      </p:sp>
    </p:spTree>
    <p:extLst>
      <p:ext uri="{BB962C8B-B14F-4D97-AF65-F5344CB8AC3E}">
        <p14:creationId xmlns:p14="http://schemas.microsoft.com/office/powerpoint/2010/main" val="1602634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5. Check Component Props and State: </a:t>
            </a:r>
            <a:r>
              <a:rPr lang="en-US" dirty="0">
                <a:latin typeface="Times New Roman" panose="02020603050405020304" pitchFamily="18" charset="0"/>
                <a:cs typeface="Times New Roman" panose="02020603050405020304" pitchFamily="18" charset="0"/>
              </a:rPr>
              <a:t>Incorrect or missing props and unexpected state changes often cause bugs.Use console.log() or React Developer Tools to verify their values.	</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6. Use Error Boundaries (Optional)</a:t>
            </a:r>
          </a:p>
          <a:p>
            <a:pPr marL="0" indent="0">
              <a:buNone/>
            </a:pPr>
            <a:r>
              <a:rPr lang="en-US" dirty="0">
                <a:latin typeface="Times New Roman" panose="02020603050405020304" pitchFamily="18" charset="0"/>
                <a:cs typeface="Times New Roman" panose="02020603050405020304" pitchFamily="18" charset="0"/>
              </a:rPr>
              <a:t>For more advanced apps, consider using Error Boundaries to gracefully handle runtime errors in components.</a:t>
            </a:r>
          </a:p>
          <a:p>
            <a:pPr marL="0" indent="0">
              <a:buNone/>
            </a:pPr>
            <a:r>
              <a:rPr lang="en-US" b="1" dirty="0">
                <a:latin typeface="Times New Roman" panose="02020603050405020304" pitchFamily="18" charset="0"/>
                <a:cs typeface="Times New Roman" panose="02020603050405020304" pitchFamily="18" charset="0"/>
              </a:rPr>
              <a:t>7. Watch for Common Issues</a:t>
            </a:r>
          </a:p>
          <a:p>
            <a:pPr marL="0" indent="0">
              <a:buNone/>
            </a:pPr>
            <a:r>
              <a:rPr lang="en-US" dirty="0">
                <a:latin typeface="Times New Roman" panose="02020603050405020304" pitchFamily="18" charset="0"/>
                <a:cs typeface="Times New Roman" panose="02020603050405020304" pitchFamily="18" charset="0"/>
              </a:rPr>
              <a:t>Unclosed tags in JSX.</a:t>
            </a:r>
          </a:p>
          <a:p>
            <a:pPr marL="0" indent="0">
              <a:buNone/>
            </a:pPr>
            <a:r>
              <a:rPr lang="en-US" dirty="0">
                <a:latin typeface="Times New Roman" panose="02020603050405020304" pitchFamily="18" charset="0"/>
                <a:cs typeface="Times New Roman" panose="02020603050405020304" pitchFamily="18" charset="0"/>
              </a:rPr>
              <a:t>Forgetting to import a component or hook.</a:t>
            </a:r>
          </a:p>
          <a:p>
            <a:pPr marL="0" indent="0">
              <a:buNone/>
            </a:pPr>
            <a:r>
              <a:rPr lang="en-US" dirty="0">
                <a:latin typeface="Times New Roman" panose="02020603050405020304" pitchFamily="18" charset="0"/>
                <a:cs typeface="Times New Roman" panose="02020603050405020304" pitchFamily="18" charset="0"/>
              </a:rPr>
              <a:t>Incorrect use of hooks (e.g., calling a hook inside a loop or condition).</a:t>
            </a:r>
          </a:p>
          <a:p>
            <a:pPr marL="0" indent="0">
              <a:buNone/>
            </a:pPr>
            <a:r>
              <a:rPr lang="en-US" dirty="0">
                <a:latin typeface="Times New Roman" panose="02020603050405020304" pitchFamily="18" charset="0"/>
                <a:cs typeface="Times New Roman" panose="02020603050405020304" pitchFamily="18" charset="0"/>
              </a:rPr>
              <a:t>State not updating immediately due to React's </a:t>
            </a:r>
            <a:r>
              <a:rPr lang="en-US" dirty="0" err="1">
                <a:latin typeface="Times New Roman" panose="02020603050405020304" pitchFamily="18" charset="0"/>
                <a:cs typeface="Times New Roman" panose="02020603050405020304" pitchFamily="18" charset="0"/>
              </a:rPr>
              <a:t>async</a:t>
            </a:r>
            <a:r>
              <a:rPr lang="en-US" dirty="0">
                <a:latin typeface="Times New Roman" panose="02020603050405020304" pitchFamily="18" charset="0"/>
                <a:cs typeface="Times New Roman" panose="02020603050405020304" pitchFamily="18" charset="0"/>
              </a:rPr>
              <a:t> rendering.</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03775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Anatomy of React Project:</a:t>
            </a:r>
          </a:p>
          <a:p>
            <a:pPr marL="514350" indent="-514350">
              <a:buAutoNum type="arabicPeriod"/>
            </a:pPr>
            <a:r>
              <a:rPr lang="en-US" sz="2400" b="1" dirty="0">
                <a:latin typeface="Times New Roman" panose="02020603050405020304" pitchFamily="18" charset="0"/>
                <a:cs typeface="Times New Roman" panose="02020603050405020304" pitchFamily="18" charset="0"/>
              </a:rPr>
              <a:t>public/ Folder</a:t>
            </a:r>
          </a:p>
          <a:p>
            <a:pPr marL="0" indent="0">
              <a:buNone/>
            </a:pPr>
            <a:r>
              <a:rPr lang="en-US" sz="2400" dirty="0">
                <a:latin typeface="Times New Roman" panose="02020603050405020304" pitchFamily="18" charset="0"/>
                <a:cs typeface="Times New Roman" panose="02020603050405020304" pitchFamily="18" charset="0"/>
              </a:rPr>
              <a:t>Contains static assets and the main HTML file. </a:t>
            </a:r>
          </a:p>
          <a:p>
            <a:pPr marL="0" indent="0">
              <a:buNone/>
            </a:pPr>
            <a:r>
              <a:rPr lang="en-US" sz="2400" dirty="0">
                <a:latin typeface="Times New Roman" panose="02020603050405020304" pitchFamily="18" charset="0"/>
                <a:cs typeface="Times New Roman" panose="02020603050405020304" pitchFamily="18" charset="0"/>
              </a:rPr>
              <a:t>Key file: index.html</a:t>
            </a:r>
          </a:p>
          <a:p>
            <a:pPr marL="0" indent="0">
              <a:buNone/>
            </a:pPr>
            <a:r>
              <a:rPr lang="en-US" sz="2400" dirty="0">
                <a:latin typeface="Times New Roman" panose="02020603050405020304" pitchFamily="18" charset="0"/>
                <a:cs typeface="Times New Roman" panose="02020603050405020304" pitchFamily="18" charset="0"/>
              </a:rPr>
              <a:t>Contains a &lt;div id="root"&gt;&lt;/div&gt; where the entire React app is injected.</a:t>
            </a:r>
          </a:p>
          <a:p>
            <a:pPr marL="0" indent="0">
              <a:buNone/>
            </a:pPr>
            <a:r>
              <a:rPr lang="en-US" sz="2400" dirty="0">
                <a:latin typeface="Times New Roman" panose="02020603050405020304" pitchFamily="18" charset="0"/>
                <a:cs typeface="Times New Roman" panose="02020603050405020304" pitchFamily="18" charset="0"/>
              </a:rPr>
              <a:t>Can include images, favicon, manifest, etc.</a:t>
            </a:r>
          </a:p>
          <a:p>
            <a:pPr marL="0" indent="0">
              <a:buNone/>
            </a:pPr>
            <a:r>
              <a:rPr lang="en-US" sz="2400" dirty="0">
                <a:latin typeface="Times New Roman" panose="02020603050405020304" pitchFamily="18" charset="0"/>
                <a:cs typeface="Times New Roman" panose="02020603050405020304" pitchFamily="18" charset="0"/>
              </a:rPr>
              <a:t>2. </a:t>
            </a:r>
            <a:r>
              <a:rPr lang="en-US" sz="2400" b="1" dirty="0">
                <a:latin typeface="Times New Roman" panose="02020603050405020304" pitchFamily="18" charset="0"/>
                <a:cs typeface="Times New Roman" panose="02020603050405020304" pitchFamily="18" charset="0"/>
              </a:rPr>
              <a:t>src/ Folder</a:t>
            </a:r>
          </a:p>
          <a:p>
            <a:pPr marL="0" indent="0">
              <a:buNone/>
            </a:pPr>
            <a:r>
              <a:rPr lang="en-US" sz="2400" dirty="0">
                <a:latin typeface="Times New Roman" panose="02020603050405020304" pitchFamily="18" charset="0"/>
                <a:cs typeface="Times New Roman" panose="02020603050405020304" pitchFamily="18" charset="0"/>
              </a:rPr>
              <a:t>Main source code of the application.</a:t>
            </a:r>
          </a:p>
          <a:p>
            <a:pPr marL="0" indent="0">
              <a:buNone/>
            </a:pPr>
            <a:r>
              <a:rPr lang="en-US" sz="2400" dirty="0">
                <a:latin typeface="Times New Roman" panose="02020603050405020304" pitchFamily="18" charset="0"/>
                <a:cs typeface="Times New Roman" panose="02020603050405020304" pitchFamily="18" charset="0"/>
              </a:rPr>
              <a:t>Common subfolders:</a:t>
            </a:r>
          </a:p>
          <a:p>
            <a:pPr marL="0" indent="0">
              <a:buNone/>
            </a:pPr>
            <a:r>
              <a:rPr lang="en-US" sz="2400" dirty="0">
                <a:latin typeface="Times New Roman" panose="02020603050405020304" pitchFamily="18" charset="0"/>
                <a:cs typeface="Times New Roman" panose="02020603050405020304" pitchFamily="18" charset="0"/>
              </a:rPr>
              <a:t>components/ – Reusable UI components.</a:t>
            </a:r>
          </a:p>
          <a:p>
            <a:pPr marL="0" indent="0">
              <a:buNone/>
            </a:pPr>
            <a:r>
              <a:rPr lang="en-US" sz="2400" dirty="0">
                <a:latin typeface="Times New Roman" panose="02020603050405020304" pitchFamily="18" charset="0"/>
                <a:cs typeface="Times New Roman" panose="02020603050405020304" pitchFamily="18" charset="0"/>
              </a:rPr>
              <a:t>pages/ – Different route-based views/screens.</a:t>
            </a:r>
          </a:p>
          <a:p>
            <a:pPr marL="0" indent="0">
              <a:buNone/>
            </a:pPr>
            <a:r>
              <a:rPr lang="en-US" sz="2400" dirty="0">
                <a:latin typeface="Times New Roman" panose="02020603050405020304" pitchFamily="18" charset="0"/>
                <a:cs typeface="Times New Roman" panose="02020603050405020304" pitchFamily="18" charset="0"/>
              </a:rPr>
              <a:t>assets/ – Images, fonts, and style sheets.</a:t>
            </a:r>
          </a:p>
          <a:p>
            <a:pPr marL="0" indent="0">
              <a:buNone/>
            </a:pPr>
            <a:r>
              <a:rPr lang="en-US" sz="2400" dirty="0">
                <a:latin typeface="Times New Roman" panose="02020603050405020304" pitchFamily="18" charset="0"/>
                <a:cs typeface="Times New Roman" panose="02020603050405020304" pitchFamily="18" charset="0"/>
              </a:rPr>
              <a:t>App.js or App.tsx – Root component of the app.</a:t>
            </a:r>
          </a:p>
          <a:p>
            <a:pPr marL="0" indent="0">
              <a:buNone/>
            </a:pPr>
            <a:r>
              <a:rPr lang="en-US" sz="2400" dirty="0">
                <a:latin typeface="Times New Roman" panose="02020603050405020304" pitchFamily="18" charset="0"/>
                <a:cs typeface="Times New Roman" panose="02020603050405020304" pitchFamily="18" charset="0"/>
              </a:rPr>
              <a:t>index.js or main.jsx – Entry point that renders the app into the DOM.</a:t>
            </a:r>
          </a:p>
        </p:txBody>
      </p:sp>
    </p:spTree>
    <p:extLst>
      <p:ext uri="{BB962C8B-B14F-4D97-AF65-F5344CB8AC3E}">
        <p14:creationId xmlns:p14="http://schemas.microsoft.com/office/powerpoint/2010/main" val="2770580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noChangeArrowheads="1"/>
          </p:cNvSpPr>
          <p:nvPr>
            <p:ph idx="1"/>
          </p:nvPr>
        </p:nvSpPr>
        <p:spPr bwMode="auto">
          <a:xfrm>
            <a:off x="0" y="0"/>
            <a:ext cx="121920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r>
              <a:rPr kumimoji="0" 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package.json</a:t>
            </a: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Lists dependencies, scripts, and project metadata.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React, React DOM, scripts like start, build, and test.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a:t>
            </a:r>
            <a:r>
              <a:rPr kumimoji="0" 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node_modules</a:t>
            </a: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Contains all installed </a:t>
            </a:r>
            <a:r>
              <a:rPr kumimoji="0" 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npm</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packages.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Note:</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Auto-generated; do not edit manually.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a:t>
            </a:r>
            <a:r>
              <a:rPr kumimoji="0" 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gitignore</a:t>
            </a: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Specifies files/folders </a:t>
            </a:r>
            <a:r>
              <a:rPr kumimoji="0" 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Git</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should ignore (e.g., </a:t>
            </a:r>
            <a:r>
              <a:rPr kumimoji="0" 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node_modules</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README.md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Overview of the project: installation, usage, and instructions.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8352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1876</TotalTime>
  <Words>4509</Words>
  <Application>Microsoft Office PowerPoint</Application>
  <PresentationFormat>Widescreen</PresentationFormat>
  <Paragraphs>381</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Times New Roman</vt:lpstr>
      <vt:lpstr>Office Theme</vt:lpstr>
      <vt:lpstr>Introduction To React</vt:lpstr>
      <vt:lpstr>Evolution of Front-end Frameworks: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REACT</dc:title>
  <dc:creator>Ettisham Khan</dc:creator>
  <cp:lastModifiedBy>solehasayyed2411@gmail.com</cp:lastModifiedBy>
  <cp:revision>105</cp:revision>
  <dcterms:created xsi:type="dcterms:W3CDTF">2025-05-06T07:40:10Z</dcterms:created>
  <dcterms:modified xsi:type="dcterms:W3CDTF">2026-07-13T05:54:54Z</dcterms:modified>
</cp:coreProperties>
</file>